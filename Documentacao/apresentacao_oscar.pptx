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3659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8A000"/>
                </a:solidFill>
              </a:rPr>
              <a:t>Oscar AMPAS — Winner Demographics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3659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Projeto Final de Banco de Dados  |  DCC/UFMG  |  Prof. Pedro H. Barros
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O projeto percorre o ciclo completo de um banco de dados relacional, da escolha do dataset até a análise exploratória com visualizações.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35915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Dataset e Motivação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2998" y="192024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2998" y="199339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7862" y="235915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Modelo 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7356" y="192024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7356" y="199339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2220" y="235915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Modelo Relacional e 3FN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1714" y="192024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1714" y="199339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578" y="235915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Implementação Física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1752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345643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Pipeline de Carga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12998" y="301752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12998" y="309067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7862" y="345643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Análise — 5 Perguntas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7356" y="301752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7356" y="309067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2220" y="345643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Resultados P1–P5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1714" y="3017520"/>
            <a:ext cx="2772918" cy="100584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1714" y="3090672"/>
            <a:ext cx="27729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6578" y="3456432"/>
            <a:ext cx="266319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1  Dataset — Oscar AMPAS Winner Demographics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Dados demográficos dos vencedores do Oscar entre 1927 e 2014 — 87 anos de cinema organizados em 5 tabelas relacionais.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759202" cy="841248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2759202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415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7960"/>
            <a:ext cx="2759202" cy="4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prêmios registrados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7570" y="1810512"/>
            <a:ext cx="2759202" cy="841248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7570" y="1874520"/>
            <a:ext cx="2759202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7570" y="2247960"/>
            <a:ext cx="2759202" cy="4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edições  (1927–2014)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6500" y="1810512"/>
            <a:ext cx="2759202" cy="841248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0" y="1874520"/>
            <a:ext cx="2759202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348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2247960"/>
            <a:ext cx="2759202" cy="4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vencedores únicos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55430" y="1810512"/>
            <a:ext cx="2759202" cy="841248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5430" y="1874520"/>
            <a:ext cx="2759202" cy="462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5430" y="2247960"/>
            <a:ext cx="2759202" cy="4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categorias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2955157" cy="331012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2825496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Coluna do 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3797" y="2788920"/>
            <a:ext cx="8410834" cy="331012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6949" y="2825496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Conteúdo / observação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119932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3156508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3797" y="3119932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76949" y="3156508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Nome do vencedor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50945"/>
            <a:ext cx="2955157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487521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birth_year / birth_date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3797" y="3450945"/>
            <a:ext cx="8410834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76949" y="3487521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Ano e data de nascimento — 1 caso só tem o ano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81958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3818534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birthplace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3797" y="3781958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76949" y="3818534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Texto livre — cidade, estado, país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112971"/>
            <a:ext cx="2955157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4149547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race_ethnicity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3797" y="4112971"/>
            <a:ext cx="8410834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76949" y="4149547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Etnia — 6 valores: White, Black, Hispanic, Asian, Multiracial, Middle Eastern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443984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480560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religion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3797" y="4443984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76949" y="4480560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Religião — 62% ausente (NULL estrutural, dado não coletado historicamente)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774996"/>
            <a:ext cx="2955157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" y="4811572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sexual_orientation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3797" y="4774996"/>
            <a:ext cx="8410834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76949" y="4811572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String "Na" convertida para NULL real durante a carga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106009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" y="5142585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year_edition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3797" y="5106009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76949" y="5142585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Ano da cerimônia Oscar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437022"/>
            <a:ext cx="2955157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" y="5473598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03797" y="5437022"/>
            <a:ext cx="8410834" cy="331012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76949" y="5473598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Categoria premiada — 5 valores fixos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5768035"/>
            <a:ext cx="2955157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1792" y="5804611"/>
            <a:ext cx="2808853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movie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03797" y="5768035"/>
            <a:ext cx="8410834" cy="331012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76949" y="5804611"/>
            <a:ext cx="8264530" cy="25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Título do filme premiado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2  Modelo Entidade-Relacionamento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Cada linha do CSV é um prêmio entregue. PREMIO é a entidade associativa central que conecta as quatro dimensões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5 entidades identificadas: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VENCEDOR  — quem ganhou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FILME     — pelo que ganhou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CATEGORIA — em qual premiação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EDICAO    — em qual cerimônia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PREMIO    — o evento em si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PREMIO conecta as 4 dimensões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com 4 chaves estrangeiras (FKs).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Todos os relacionamentos são N:1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de PREMIO para as dimensões.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s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Diagrama gerado via dbdiagram.io a partir de diagrama_er.dbml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3  Modelo Relacional e Normalização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O diagrama ER foi mapeado para 5 tabelas relacionais — todas verificadas em Terceira Forma Normal.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1181404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84708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Tabela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0044" y="1810512"/>
            <a:ext cx="3822192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03196" y="184708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Campos principais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2236" y="1810512"/>
            <a:ext cx="1945843" cy="44196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5388" y="184708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Restrições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5247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28904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vencedor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0044" y="225247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3196" y="228904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id · nome · ano_nasc · data_nasc · etnia · religiao · orient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52236" y="225247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25388" y="228904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etnia NOT NULL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94432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273100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filme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0044" y="2694432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03196" y="273100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id · titulo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52236" y="2694432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5388" y="273100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titulo UNIQUE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3639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317296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categoria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30044" y="313639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03196" y="317296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id · nome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2236" y="313639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5388" y="317296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nome UNIQUE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578352"/>
            <a:ext cx="1181404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361492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edicao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044" y="3578352"/>
            <a:ext cx="3822192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03196" y="361492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id · ano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2236" y="3578352"/>
            <a:ext cx="1945843" cy="44196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25388" y="361492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ano &gt;= 1927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020312"/>
            <a:ext cx="1181404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4056888"/>
            <a:ext cx="1035100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premio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0044" y="4020312"/>
            <a:ext cx="3822192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03196" y="4056888"/>
            <a:ext cx="3675888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id · id_vencedor FK · id_filme FK · id_categoria FK · id_edicao FK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52236" y="4020312"/>
            <a:ext cx="1945843" cy="44196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25388" y="4056888"/>
            <a:ext cx="1799539" cy="36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UNIQUE (v, c, e)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572000"/>
            <a:ext cx="6949440" cy="73152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4617720"/>
            <a:ext cx="67299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BBBB"/>
                </a:solidFill>
              </a:rPr>
              <a:t>Caso-limite 3FN — ano_nascimento e data_nascimento coexistem sem violação: 1 registro possui apenas o ano; eliminar a coluna destruiria informação real.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2672" y="1170432"/>
            <a:ext cx="19050" cy="420624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45552" y="1828800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0" y="1920240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1FN 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80" y="2286000"/>
            <a:ext cx="39227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</a:rPr>
              <a:t>Valores atômicos — sem listas ou grupos repetidos em nenhum campo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45552" y="3127248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80" y="3218688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2FN 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584448"/>
            <a:ext cx="39227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</a:rPr>
              <a:t>PKs simples — dependências parciais são estruturalmente impossíveis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45552" y="4425696"/>
            <a:ext cx="4142232" cy="117043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0" y="4517136"/>
            <a:ext cx="3922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C8A000"/>
                </a:solidFill>
              </a:rPr>
              <a:t>3FN 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80" y="4882896"/>
            <a:ext cx="39227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</a:rPr>
              <a:t>Sem dependências transitivas — cada coluna depende somente da PK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4  Implementação Física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PostgreSQL 16 via Docker com constraints que garantem integridade de domínio, referencial e de negócio desde o momento da inserção.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3715512" cy="77724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3715512" cy="42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PostgreSQL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4676"/>
            <a:ext cx="3715512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SGBD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3880" y="1810512"/>
            <a:ext cx="3715512" cy="77724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3880" y="1874520"/>
            <a:ext cx="3715512" cy="42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oscar-db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3880" y="2214676"/>
            <a:ext cx="3715512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container 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9120" y="1810512"/>
            <a:ext cx="3715512" cy="77724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9120" y="1874520"/>
            <a:ext cx="3715512" cy="42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000"/>
                </a:solidFill>
              </a:rPr>
              <a:t>oscar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9120" y="2214676"/>
            <a:ext cx="3715512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nome do banco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24912"/>
            <a:ext cx="2727838" cy="3581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76148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Constraint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6478" y="2724912"/>
            <a:ext cx="5228356" cy="3581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9630" y="276148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Regra implementada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4834" y="2724912"/>
            <a:ext cx="3409797" cy="35814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986" y="276148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Motivação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083052"/>
            <a:ext cx="2727838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11962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etnia NOT NULL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478" y="3083052"/>
            <a:ext cx="5228356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49630" y="311962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Campo demográfico obrigatório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4834" y="3083052"/>
            <a:ext cx="3409797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77986" y="311962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Dado central da análise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441192"/>
            <a:ext cx="2727838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7776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ano &gt;= 1927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76478" y="3441192"/>
            <a:ext cx="5228356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9630" y="347776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Oscar não existia antes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4834" y="3441192"/>
            <a:ext cx="3409797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77986" y="347776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Integridade de domínio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99332"/>
            <a:ext cx="2727838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383590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titulo UNIQUE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76478" y="3799332"/>
            <a:ext cx="5228356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9630" y="383590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Cada filme é único no catálogo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4834" y="3799332"/>
            <a:ext cx="3409797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77986" y="383590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Evitar duplicatas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157472"/>
            <a:ext cx="2727838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419404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FK ON DELETE RESTRICT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76478" y="4157472"/>
            <a:ext cx="5228356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9630" y="419404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Impede remoção de dimensão em uso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4834" y="4157472"/>
            <a:ext cx="3409797" cy="35814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77986" y="419404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Integridade referencial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515612"/>
            <a:ext cx="2727838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4552188"/>
            <a:ext cx="2581534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UNIQUE (v, c, e)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76478" y="4515612"/>
            <a:ext cx="5228356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9630" y="4552188"/>
            <a:ext cx="5082052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 pessoa não ganha a mesma categoria 2× na mesma edição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04834" y="4515612"/>
            <a:ext cx="3409797" cy="35814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77986" y="4552188"/>
            <a:ext cx="3263493" cy="28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Regra de negócio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4956048"/>
            <a:ext cx="11365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00"/>
                </a:solidFill>
              </a:rPr>
              <a:t>Índices em premio para acelerar JOINs analíticos: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321808"/>
            <a:ext cx="2772918" cy="384048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5358384"/>
            <a:ext cx="268147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BBBB"/>
                </a:solidFill>
              </a:rPr>
              <a:t>idx_premio_vencedor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12998" y="5321808"/>
            <a:ext cx="2772918" cy="384048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58718" y="5358384"/>
            <a:ext cx="268147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BBBB"/>
                </a:solidFill>
              </a:rPr>
              <a:t>idx_premio_filme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77356" y="5321808"/>
            <a:ext cx="2772918" cy="384048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23076" y="5358384"/>
            <a:ext cx="268147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BBBB"/>
                </a:solidFill>
              </a:rPr>
              <a:t>idx_premio_categoria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1714" y="5321808"/>
            <a:ext cx="2772918" cy="384048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87434" y="5358384"/>
            <a:ext cx="268147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BBBB"/>
                </a:solidFill>
              </a:rPr>
              <a:t>idx_premio_edicao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5  Pipeline de Carga e Validação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pandas lê e limpa o CSV — psycopg2 insere em batch — cada tabela é commitada antes da próxima para garantir a integridade das chaves estrangeiras.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edicao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87 registros  anos únicos de cerimônia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40126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40126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9854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94990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categoria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4990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5 registros  categorias fixas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31612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1612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41340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86476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filme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6476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335 registros  títulos únicos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3099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23099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32827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77963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vencedor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7963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348 registros  deduplicados por nome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14585" y="1874519"/>
            <a:ext cx="2200046" cy="25146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4585" y="1929383"/>
            <a:ext cx="22000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00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24313" y="2258567"/>
            <a:ext cx="1980590" cy="127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69449" y="2304287"/>
            <a:ext cx="209031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premio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9449" y="2807207"/>
            <a:ext cx="2090318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BBBBB"/>
                </a:solidFill>
              </a:rPr>
              <a:t>415 registros  4× FK resolvidas por dicionário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572000"/>
            <a:ext cx="11365992" cy="1078992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26864"/>
            <a:ext cx="110916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00"/>
                </a:solidFill>
              </a:rPr>
              <a:t>Validação pós-carga — 8 checks 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956048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Zero registros órfãos em FKs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Sem duplicatas na constraint UNIQUE(vencedor, categoria, edição)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BBBBB"/>
                </a:solidFill>
              </a:rPr>
              <a:t>✔  30 edições com menos de 5 prêmios — estrutural (primeiras décadas do Oscar)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6  Análise Exploratória — 5 Perguntas Investigativas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Cada pergunta foi escolhida para cobrir uma técnica SQL diferente e revelar um padrão histórico real nos dados.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47088"/>
            <a:ext cx="681959" cy="6781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88366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1230599" y="1847088"/>
            <a:ext cx="5455676" cy="6781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03751" y="188366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Pergunta investigativa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86275" y="1847088"/>
            <a:ext cx="5228356" cy="678180"/>
          </a:xfrm>
          <a:prstGeom prst="rect">
            <a:avLst/>
          </a:prstGeom>
          <a:solidFill>
            <a:srgbClr val="C8A00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9427" y="188366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</a:rPr>
              <a:t>Técnica SQL principal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25268"/>
            <a:ext cx="681959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6184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0599" y="2525268"/>
            <a:ext cx="545567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3751" y="256184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Filmes com múltiplas vitórias na mesma edição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86275" y="2525268"/>
            <a:ext cx="522835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9427" y="256184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JOIN + GROUP BY + HAVING + STRING_AGG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03448"/>
            <a:ext cx="681959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24002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0599" y="3203448"/>
            <a:ext cx="5455676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3751" y="324002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Evolução da diversidade étnica por década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86275" y="3203448"/>
            <a:ext cx="5228356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59427" y="324002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GROUP BY + FILTER + percentual em 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81628"/>
            <a:ext cx="681959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391820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30599" y="3881628"/>
            <a:ext cx="545567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03751" y="391820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Idade dos vencedores por categoria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86275" y="3881628"/>
            <a:ext cx="522835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9427" y="391820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AVG / MIN / MAX + UNION ALL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559808"/>
            <a:ext cx="681959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459638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0599" y="4559808"/>
            <a:ext cx="5455676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03751" y="459638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Maior intervalo entre vitórias consecutivas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6275" y="4559808"/>
            <a:ext cx="5228356" cy="678180"/>
          </a:xfrm>
          <a:prstGeom prst="rect">
            <a:avLst/>
          </a:prstGeom>
          <a:solidFill>
            <a:srgbClr val="303030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59427" y="459638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CTE + window function LAG()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37988"/>
            <a:ext cx="681959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5274564"/>
            <a:ext cx="535655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0599" y="5237988"/>
            <a:ext cx="545567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03751" y="5274564"/>
            <a:ext cx="530937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Primeiro vencedor não-branco por categoria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6275" y="5237988"/>
            <a:ext cx="5228356" cy="678180"/>
          </a:xfrm>
          <a:prstGeom prst="rect">
            <a:avLst/>
          </a:prstGeom>
          <a:solidFill>
            <a:srgbClr val="262626"/>
          </a:solidFill>
          <a:ln w="6350">
            <a:solidFill>
              <a:srgbClr val="3E3E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59427" y="5274564"/>
            <a:ext cx="5082052" cy="6050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CTE + ROW_NUMBER() OVER (PARTITION BY)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P1 — Filmes com múltiplas vitórias na mesma edição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Alguns filmes dominaram a noite inteira do Oscar, vencendo mais de uma categoria na mesma cerimônia — revelando o prestígio absoluto de certas obras.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Top 3 — 3 categorias cada: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It Happened One Night (1935)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Gone with the Wind (1940)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Going My Way (1945)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60 filmes no total venceram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2+ categorias na mesma edição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ao longo dos 87 anos.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 SQL: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GROUP BY filme + edição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HAVING COUNT(*) &gt; 1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STRING_AGG lista as categorias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vencidas na mesma noite.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rafico_p1_filmes_multivence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P2 — Diversidade étnica por década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Esta é a pergunta central do projeto. Os dados mostram com precisão quando — e em que ritmo — a Academia começou a reconhecer artistas não-brancos.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Evolução da representatividade: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1927–1969:  ~0% não-brancos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1970–1989:  primeiros sinais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2000–2014:  ~19%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Para comparar: negros e hispânicos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somam +30% da pop. americana —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o Oscar ainda estava muito abaixo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disso ao fim do período analisado.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GROUP BY com cálculo de década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+ COUNT FILTER + divisão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percentual diretamente em SQL.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rafico_p2_diversidade_dec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Achado central — o gráfico confirma com dados o que o debate #OscarsSoWhite já apontava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P3 — Idade dos vencedores por categoria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A idade no momento da premiação varia bastante entre categorias, revelando perfis de carreira distintos por função no cinema.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Casos extremos do dataset: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Mais jovem: Tatum O'Neal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11 anos — Supp. Actress (1974)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Mais velho: Christopher Plummer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83 anos — Supp. Actor (2012)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Médias por categoria: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Actress       ~37 anos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Actor         ~43 anos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Director      ~48 anos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Supp. Actor   ~51 anos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Técnica: AVG / MIN / MAX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agrupado por categoria.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rafico_p3_idade_categ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P4 — Maior intervalo entre vitórias consecutivas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Entre quem ganhou mais de um Oscar, alguns artistas esperaram décadas pelo retorno ao palco — evidência de carreiras longas e resilientes.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Maiores intervalos registrados: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Helen Hayes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1932 → 1971  (39 anos de espera)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Katharine Hepburn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1934 → 1968  (34 anos)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Esses números revelam que 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reconhecimento pode ser tardio —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mas também que certas carreiras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atravessam gerações.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Técnica: LAG() compara cada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vitória com a anterior do mesmo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artista (PARTITION BY vencedor).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rafico_p4_intervalo_vi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P5 — Primeiro vencedor não-branco por categoria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4846320" cy="5093208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25296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BBBBB"/>
                </a:solidFill>
              </a:rPr>
              <a:t>Esta consulta marca momentos históricos concretos: o ano exato em que cada categoria foi vencida pela primeira vez por um artista não-branco.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Primeiras vitórias não-brancas: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Supp. Actress — Hattie McDaniel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Black · 1940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Actor — Jose Ferrer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Hispanic · 1951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Supp. Actor — Anthony Quinn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Hispanic · 1953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Actress — Halle Berry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Multiracial · 2002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Best Director — Ang Lee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    Asian · 2006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Técnica: CTE + ROW_NUMBER()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OVER (PARTITION BY categoria)</a:t>
            </a:r>
          </a:p>
          <a:p>
            <a:pPr>
              <a:spcBef>
                <a:spcPts val="700"/>
              </a:spcBef>
            </a:pPr>
            <a:r>
              <a:rPr sz="1700">
                <a:solidFill>
                  <a:srgbClr val="FFFFFF"/>
                </a:solidFill>
              </a:rPr>
              <a:t>para isolar o primeiro de cada.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170432"/>
            <a:ext cx="19050" cy="509320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rafico_p5_primeira_vitoria_nao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272" y="1170432"/>
            <a:ext cx="6355080" cy="50932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Best Director esperou 79 anos para ter um vencedor não-branco — quase o dobro da vida humana média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A000"/>
                </a:solidFill>
              </a:rPr>
              <a:t>8  Conclusão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365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BBBB"/>
                </a:solidFill>
              </a:rPr>
              <a:t>O projeto entregou o ciclo completo de um banco de dados relacional, unindo rigor técnico com uma análise que tem algo real a dizer sobre representatividade.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614416" cy="22860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00"/>
                </a:solidFill>
              </a:rPr>
              <a:t>Ciclo técnico completo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67712"/>
            <a:ext cx="534009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ER → Relacional → 3FN → DDL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Pipeline com tratamento de NULLs e deduplicação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Validação com 8 checks SQL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5 consultas com técnicas avançadas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5 gráficos gerados diretamente do banco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1828800"/>
            <a:ext cx="5614416" cy="2286000"/>
          </a:xfrm>
          <a:prstGeom prst="rect">
            <a:avLst/>
          </a:prstGeom>
          <a:solidFill>
            <a:srgbClr val="262626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1901952"/>
            <a:ext cx="5340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00"/>
                </a:solidFill>
              </a:rPr>
              <a:t>Achados mais impactantes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267712"/>
            <a:ext cx="5340096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79 anos para o 1° diretor não-branco (Ang Lee, 2006)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Em 2014 apenas ~19% dos premiados eram não-brancos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Helen Hayes: 39 anos entre a 1ª e a 2ª vitória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FFFFFF"/>
                </a:solidFill>
              </a:rPr>
              <a:t>60 filmes dominaram 2+ categorias na mesma cerimônia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11365992" cy="1508760"/>
          </a:xfrm>
          <a:prstGeom prst="rect">
            <a:avLst/>
          </a:prstGeom>
          <a:solidFill>
            <a:srgbClr val="352A00"/>
          </a:solidFill>
          <a:ln w="9525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15968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00"/>
                </a:solidFill>
              </a:rPr>
              <a:t>Decisões de design que fizeram diferença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BBBBBB"/>
                </a:solidFill>
              </a:rPr>
              <a:t>→  PREMIO como entidade associativa captura a granularidade exata do dataset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BBBBBB"/>
                </a:solidFill>
              </a:rPr>
              <a:t>→  UNIQUE (vencedor, categoria, edição) — o banco impede dados impossíveis por construção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BBBBBB"/>
                </a:solidFill>
              </a:rPr>
              <a:t>→  "Na" tratado como NULL desde a carga  ·  ano_nascimento preservado sem violar 3FN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989320"/>
            <a:ext cx="11365992" cy="566928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007608"/>
            <a:ext cx="11183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</a:rPr>
              <a:t>415 linhas de CSV  →  5 tabelas  →  5 gráficos  →  1 história sobre representatividade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A000"/>
                </a:solidFill>
              </a:rPr>
              <a:t>Vídeo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1365992" cy="507492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00"/>
                </a:solidFill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Insira o vídeo aqui  —  Inserir → Vídeo → Este Dispositivo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A000"/>
                </a:solidFill>
              </a:rPr>
              <a:t>Vídeo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1365992" cy="507492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00"/>
                </a:solidFill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Insira o vídeo aqui  —  Inserir → Vídeo → Este Dispositivo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A000"/>
                </a:solidFill>
              </a:rPr>
              <a:t>Vídeo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1365992" cy="507492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00"/>
                </a:solidFill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Insira o vídeo aqui  —  Inserir → Vídeo → Este Dispositivo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28600"/>
            <a:ext cx="113659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C8A000"/>
                </a:solidFill>
              </a:rPr>
              <a:t>Vídeo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1365992" cy="1905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11365992" cy="5074920"/>
          </a:xfrm>
          <a:prstGeom prst="rect">
            <a:avLst/>
          </a:prstGeom>
          <a:solidFill>
            <a:srgbClr val="2A2A2A"/>
          </a:solidFill>
          <a:ln w="19050">
            <a:solidFill>
              <a:srgbClr val="C8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1365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00"/>
                </a:solidFill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365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88888"/>
                </a:solidFill>
              </a:rPr>
              <a:t>Insira o vídeo aqui  —  Inserir → Vídeo → Este Dispositivo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39128"/>
            <a:ext cx="12188952" cy="118872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13659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C8A000"/>
                </a:solidFill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136599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Dúvidas?
Oscar AMPAS  ·  DCC/UFMG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
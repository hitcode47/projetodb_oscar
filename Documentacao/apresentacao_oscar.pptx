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5"/>
  </p:notesMasterIdLst>
  <p:sldIdLst>
    <p:sldId id="256" r:id="rId2"/>
    <p:sldId id="257" r:id="rId3"/>
    <p:sldId id="258" r:id="rId4"/>
    <p:sldId id="259" r:id="rId5"/>
    <p:sldId id="275" r:id="rId6"/>
    <p:sldId id="276" r:id="rId7"/>
    <p:sldId id="260" r:id="rId8"/>
    <p:sldId id="261" r:id="rId9"/>
    <p:sldId id="262" r:id="rId10"/>
    <p:sldId id="277" r:id="rId11"/>
    <p:sldId id="263" r:id="rId12"/>
    <p:sldId id="264" r:id="rId13"/>
    <p:sldId id="265" r:id="rId14"/>
    <p:sldId id="266" r:id="rId15"/>
    <p:sldId id="267" r:id="rId16"/>
    <p:sldId id="268" r:id="rId17"/>
    <p:sldId id="278" r:id="rId18"/>
    <p:sldId id="269" r:id="rId19"/>
    <p:sldId id="270" r:id="rId20"/>
    <p:sldId id="271" r:id="rId21"/>
    <p:sldId id="272" r:id="rId22"/>
    <p:sldId id="273" r:id="rId23"/>
    <p:sldId id="274" r:id="rId24"/>
  </p:sldIdLst>
  <p:sldSz cx="12188825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93" d="100"/>
          <a:sy n="93" d="100"/>
        </p:scale>
        <p:origin x="1158" y="30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0700889-B7D6-4618-91D1-325E8D4BF8DF}" type="datetimeFigureOut">
              <a:rPr lang="pt-BR" smtClean="0"/>
              <a:t>25/06/2026</a:t>
            </a:fld>
            <a:endParaRPr lang="pt-BR"/>
          </a:p>
        </p:txBody>
      </p:sp>
      <p:sp>
        <p:nvSpPr>
          <p:cNvPr id="4" name="Espaço Reservado para Imagem de Slide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pt-BR"/>
          </a:p>
        </p:txBody>
      </p:sp>
      <p:sp>
        <p:nvSpPr>
          <p:cNvPr id="5" name="Espaço Reservado para Anotaçõ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A308695-53E6-4105-9283-1F26C6947801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95786119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A308695-53E6-4105-9283-1F26C6947801}" type="slidenum">
              <a:rPr lang="pt-BR" smtClean="0"/>
              <a:t>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47031614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A308695-53E6-4105-9283-1F26C6947801}" type="slidenum">
              <a:rPr lang="pt-BR" smtClean="0"/>
              <a:t>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09689534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6/25/2026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6/25/2026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6/25/2026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6/25/2026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47472" cy="6858000"/>
          </a:xfrm>
          <a:prstGeom prst="rect">
            <a:avLst/>
          </a:prstGeom>
          <a:solidFill>
            <a:srgbClr val="C8A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6739128"/>
            <a:ext cx="12188952" cy="118872"/>
          </a:xfrm>
          <a:prstGeom prst="rect">
            <a:avLst/>
          </a:prstGeom>
          <a:solidFill>
            <a:srgbClr val="C8A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48640" y="1920240"/>
            <a:ext cx="11365992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C8A000"/>
                </a:solidFill>
              </a:rPr>
              <a:t>Oscar AMPAS — Winner Demographics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114800"/>
            <a:ext cx="11365992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FFFFFF"/>
                </a:solidFill>
              </a:rPr>
              <a:t>Projeto Final de Banco de Dados  |  DCC/UFMG  |  Prof. Pedro H. Barros
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47472" cy="6858000"/>
          </a:xfrm>
          <a:prstGeom prst="rect">
            <a:avLst/>
          </a:prstGeom>
          <a:solidFill>
            <a:srgbClr val="C8A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6739128"/>
            <a:ext cx="12188952" cy="118872"/>
          </a:xfrm>
          <a:prstGeom prst="rect">
            <a:avLst/>
          </a:prstGeom>
          <a:solidFill>
            <a:srgbClr val="C8A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548640" y="1115568"/>
            <a:ext cx="11365992" cy="19050"/>
          </a:xfrm>
          <a:prstGeom prst="rect">
            <a:avLst/>
          </a:prstGeom>
          <a:solidFill>
            <a:srgbClr val="C8A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48640" y="228600"/>
            <a:ext cx="11365992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C8A000"/>
                </a:solidFill>
              </a:rPr>
              <a:t>Agenda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207008"/>
            <a:ext cx="1136599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1">
                <a:solidFill>
                  <a:srgbClr val="BBBBBB"/>
                </a:solidFill>
              </a:rPr>
              <a:t>O projeto percorre o ciclo completo de um banco de dados relacional, da escolha do dataset até a análise exploratória com visualizações.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1920240"/>
            <a:ext cx="2772918" cy="1005840"/>
          </a:xfrm>
          <a:prstGeom prst="rect">
            <a:avLst/>
          </a:prstGeom>
          <a:solidFill>
            <a:srgbClr val="262626"/>
          </a:solidFill>
          <a:ln w="9525">
            <a:solidFill>
              <a:srgbClr val="C8A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48640" y="1993392"/>
            <a:ext cx="277291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C8A000"/>
                </a:solidFill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3504" y="2359152"/>
            <a:ext cx="266319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FFFFFF"/>
                </a:solidFill>
              </a:rPr>
              <a:t>Dataset e Motivação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412998" y="1920240"/>
            <a:ext cx="2772918" cy="1005840"/>
          </a:xfrm>
          <a:prstGeom prst="rect">
            <a:avLst/>
          </a:prstGeom>
          <a:solidFill>
            <a:srgbClr val="262626"/>
          </a:solidFill>
          <a:ln w="9525">
            <a:solidFill>
              <a:srgbClr val="C8A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3412998" y="1993392"/>
            <a:ext cx="277291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C8A000"/>
                </a:solidFill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67862" y="2359152"/>
            <a:ext cx="266319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FFFFFF"/>
                </a:solidFill>
              </a:rPr>
              <a:t>Modelo ER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77356" y="1920240"/>
            <a:ext cx="2772918" cy="1005840"/>
          </a:xfrm>
          <a:prstGeom prst="rect">
            <a:avLst/>
          </a:prstGeom>
          <a:solidFill>
            <a:srgbClr val="262626"/>
          </a:solidFill>
          <a:ln w="9525">
            <a:solidFill>
              <a:srgbClr val="C8A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277356" y="1993392"/>
            <a:ext cx="277291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C8A000"/>
                </a:solidFill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32220" y="2359152"/>
            <a:ext cx="266319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FFFFFF"/>
                </a:solidFill>
              </a:rPr>
              <a:t>Modelo Relacional e 3FN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141714" y="1920240"/>
            <a:ext cx="2772918" cy="1005840"/>
          </a:xfrm>
          <a:prstGeom prst="rect">
            <a:avLst/>
          </a:prstGeom>
          <a:solidFill>
            <a:srgbClr val="262626"/>
          </a:solidFill>
          <a:ln w="9525">
            <a:solidFill>
              <a:srgbClr val="C8A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9141714" y="1993392"/>
            <a:ext cx="277291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C8A000"/>
                </a:solidFill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96578" y="2359152"/>
            <a:ext cx="266319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FFFFFF"/>
                </a:solidFill>
              </a:rPr>
              <a:t>Implementação Física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48640" y="3017520"/>
            <a:ext cx="2772918" cy="1005840"/>
          </a:xfrm>
          <a:prstGeom prst="rect">
            <a:avLst/>
          </a:prstGeom>
          <a:solidFill>
            <a:srgbClr val="262626"/>
          </a:solidFill>
          <a:ln w="9525">
            <a:solidFill>
              <a:srgbClr val="C8A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548640" y="3090672"/>
            <a:ext cx="277291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C8A000"/>
                </a:solidFill>
              </a:rPr>
              <a:t>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03504" y="3456432"/>
            <a:ext cx="266319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FFFFFF"/>
                </a:solidFill>
              </a:rPr>
              <a:t>Pipeline de Carga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412998" y="3017520"/>
            <a:ext cx="2772918" cy="1005840"/>
          </a:xfrm>
          <a:prstGeom prst="rect">
            <a:avLst/>
          </a:prstGeom>
          <a:solidFill>
            <a:srgbClr val="262626"/>
          </a:solidFill>
          <a:ln w="9525">
            <a:solidFill>
              <a:srgbClr val="C8A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3412998" y="3090672"/>
            <a:ext cx="277291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C8A000"/>
                </a:solidFill>
              </a:rPr>
              <a:t>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467862" y="3456432"/>
            <a:ext cx="266319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FFFFFF"/>
                </a:solidFill>
              </a:rPr>
              <a:t>Análise — 5 Perguntas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277356" y="3017520"/>
            <a:ext cx="2772918" cy="1005840"/>
          </a:xfrm>
          <a:prstGeom prst="rect">
            <a:avLst/>
          </a:prstGeom>
          <a:solidFill>
            <a:srgbClr val="262626"/>
          </a:solidFill>
          <a:ln w="9525">
            <a:solidFill>
              <a:srgbClr val="C8A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6277356" y="3090672"/>
            <a:ext cx="277291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C8A000"/>
                </a:solidFill>
              </a:rPr>
              <a:t>7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32220" y="3456432"/>
            <a:ext cx="266319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FFFFFF"/>
                </a:solidFill>
              </a:rPr>
              <a:t>Resultados P1–P5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141714" y="3017520"/>
            <a:ext cx="2772918" cy="1005840"/>
          </a:xfrm>
          <a:prstGeom prst="rect">
            <a:avLst/>
          </a:prstGeom>
          <a:solidFill>
            <a:srgbClr val="262626"/>
          </a:solidFill>
          <a:ln w="9525">
            <a:solidFill>
              <a:srgbClr val="C8A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9141714" y="3090672"/>
            <a:ext cx="277291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C8A000"/>
                </a:solidFill>
              </a:rPr>
              <a:t>8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196578" y="3456432"/>
            <a:ext cx="266319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FFFFFF"/>
                </a:solidFill>
              </a:rPr>
              <a:t>Conclusão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47472" cy="6858000"/>
          </a:xfrm>
          <a:prstGeom prst="rect">
            <a:avLst/>
          </a:prstGeom>
          <a:solidFill>
            <a:srgbClr val="C8A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6739128"/>
            <a:ext cx="12188952" cy="118872"/>
          </a:xfrm>
          <a:prstGeom prst="rect">
            <a:avLst/>
          </a:prstGeom>
          <a:solidFill>
            <a:srgbClr val="C8A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548640" y="1115568"/>
            <a:ext cx="11365992" cy="19050"/>
          </a:xfrm>
          <a:prstGeom prst="rect">
            <a:avLst/>
          </a:prstGeom>
          <a:solidFill>
            <a:srgbClr val="C8A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48640" y="228600"/>
            <a:ext cx="11365992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C8A000"/>
                </a:solidFill>
              </a:rPr>
              <a:t>1  Dataset — Oscar AMPAS Winner Demographics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207008"/>
            <a:ext cx="1136599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1">
                <a:solidFill>
                  <a:srgbClr val="BBBBBB"/>
                </a:solidFill>
              </a:rPr>
              <a:t>Dados demográficos dos vencedores do Oscar entre 1927 e 2014 — 87 anos de cinema organizados em 5 tabelas relacionais.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1810512"/>
            <a:ext cx="2759202" cy="841248"/>
          </a:xfrm>
          <a:prstGeom prst="rect">
            <a:avLst/>
          </a:prstGeom>
          <a:solidFill>
            <a:srgbClr val="352A00"/>
          </a:solidFill>
          <a:ln w="9525">
            <a:solidFill>
              <a:srgbClr val="C8A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48640" y="1874520"/>
            <a:ext cx="2759202" cy="4626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C8A000"/>
                </a:solidFill>
              </a:rPr>
              <a:t>415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247960"/>
            <a:ext cx="2759202" cy="4037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BBBBBB"/>
                </a:solidFill>
              </a:rPr>
              <a:t>prêmios registrados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417570" y="1810512"/>
            <a:ext cx="2759202" cy="841248"/>
          </a:xfrm>
          <a:prstGeom prst="rect">
            <a:avLst/>
          </a:prstGeom>
          <a:solidFill>
            <a:srgbClr val="352A00"/>
          </a:solidFill>
          <a:ln w="9525">
            <a:solidFill>
              <a:srgbClr val="C8A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3417570" y="1874520"/>
            <a:ext cx="2759202" cy="4626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C8A000"/>
                </a:solidFill>
              </a:rPr>
              <a:t>87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17570" y="2247960"/>
            <a:ext cx="2759202" cy="4037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BBBBBB"/>
                </a:solidFill>
              </a:rPr>
              <a:t>edições  (1927–2014)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86500" y="1810512"/>
            <a:ext cx="2759202" cy="841248"/>
          </a:xfrm>
          <a:prstGeom prst="rect">
            <a:avLst/>
          </a:prstGeom>
          <a:solidFill>
            <a:srgbClr val="352A00"/>
          </a:solidFill>
          <a:ln w="9525">
            <a:solidFill>
              <a:srgbClr val="C8A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286500" y="1874520"/>
            <a:ext cx="2759202" cy="4626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C8A000"/>
                </a:solidFill>
              </a:rPr>
              <a:t>348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86500" y="2247960"/>
            <a:ext cx="2759202" cy="4037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BBBBBB"/>
                </a:solidFill>
              </a:rPr>
              <a:t>vencedores únicos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155430" y="1810512"/>
            <a:ext cx="2759202" cy="841248"/>
          </a:xfrm>
          <a:prstGeom prst="rect">
            <a:avLst/>
          </a:prstGeom>
          <a:solidFill>
            <a:srgbClr val="352A00"/>
          </a:solidFill>
          <a:ln w="9525">
            <a:solidFill>
              <a:srgbClr val="C8A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9155430" y="1874520"/>
            <a:ext cx="2759202" cy="4626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C8A000"/>
                </a:solidFill>
              </a:rPr>
              <a:t>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55430" y="2247960"/>
            <a:ext cx="2759202" cy="4037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BBBBBB"/>
                </a:solidFill>
              </a:rPr>
              <a:t>categorias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48640" y="2788920"/>
            <a:ext cx="2955157" cy="331012"/>
          </a:xfrm>
          <a:prstGeom prst="rect">
            <a:avLst/>
          </a:prstGeom>
          <a:solidFill>
            <a:srgbClr val="C8A000"/>
          </a:solidFill>
          <a:ln w="6350">
            <a:solidFill>
              <a:srgbClr val="3E3E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21792" y="2825496"/>
            <a:ext cx="2808853" cy="2578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1A1A"/>
                </a:solidFill>
              </a:rPr>
              <a:t>Coluna do CSV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503797" y="2788920"/>
            <a:ext cx="8410834" cy="331012"/>
          </a:xfrm>
          <a:prstGeom prst="rect">
            <a:avLst/>
          </a:prstGeom>
          <a:solidFill>
            <a:srgbClr val="C8A000"/>
          </a:solidFill>
          <a:ln w="6350">
            <a:solidFill>
              <a:srgbClr val="3E3E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3576949" y="2825496"/>
            <a:ext cx="8264530" cy="2578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1A1A"/>
                </a:solidFill>
              </a:rPr>
              <a:t>Conteúdo / observação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48640" y="3119932"/>
            <a:ext cx="2955157" cy="331012"/>
          </a:xfrm>
          <a:prstGeom prst="rect">
            <a:avLst/>
          </a:prstGeom>
          <a:solidFill>
            <a:srgbClr val="262626"/>
          </a:solidFill>
          <a:ln w="6350">
            <a:solidFill>
              <a:srgbClr val="3E3E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621792" y="3156508"/>
            <a:ext cx="2808853" cy="2578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name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503797" y="3119932"/>
            <a:ext cx="8410834" cy="331012"/>
          </a:xfrm>
          <a:prstGeom prst="rect">
            <a:avLst/>
          </a:prstGeom>
          <a:solidFill>
            <a:srgbClr val="262626"/>
          </a:solidFill>
          <a:ln w="6350">
            <a:solidFill>
              <a:srgbClr val="3E3E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3576949" y="3156508"/>
            <a:ext cx="8264530" cy="2578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Nome do vencedor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48640" y="3450945"/>
            <a:ext cx="2955157" cy="331012"/>
          </a:xfrm>
          <a:prstGeom prst="rect">
            <a:avLst/>
          </a:prstGeom>
          <a:solidFill>
            <a:srgbClr val="303030"/>
          </a:solidFill>
          <a:ln w="6350">
            <a:solidFill>
              <a:srgbClr val="3E3E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621792" y="3487521"/>
            <a:ext cx="2808853" cy="2578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birth_year / birth_date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503797" y="3450945"/>
            <a:ext cx="8410834" cy="331012"/>
          </a:xfrm>
          <a:prstGeom prst="rect">
            <a:avLst/>
          </a:prstGeom>
          <a:solidFill>
            <a:srgbClr val="303030"/>
          </a:solidFill>
          <a:ln w="6350">
            <a:solidFill>
              <a:srgbClr val="3E3E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3576949" y="3487521"/>
            <a:ext cx="8264530" cy="2578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Ano e data de nascimento — 1 caso só tem o ano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48640" y="3781958"/>
            <a:ext cx="2955157" cy="331012"/>
          </a:xfrm>
          <a:prstGeom prst="rect">
            <a:avLst/>
          </a:prstGeom>
          <a:solidFill>
            <a:srgbClr val="262626"/>
          </a:solidFill>
          <a:ln w="6350">
            <a:solidFill>
              <a:srgbClr val="3E3E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621792" y="3818534"/>
            <a:ext cx="2808853" cy="2578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birthplace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503797" y="3781958"/>
            <a:ext cx="8410834" cy="331012"/>
          </a:xfrm>
          <a:prstGeom prst="rect">
            <a:avLst/>
          </a:prstGeom>
          <a:solidFill>
            <a:srgbClr val="262626"/>
          </a:solidFill>
          <a:ln w="6350">
            <a:solidFill>
              <a:srgbClr val="3E3E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3576949" y="3818534"/>
            <a:ext cx="8264530" cy="2578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Texto livre — cidade, estado, país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48640" y="4112971"/>
            <a:ext cx="2955157" cy="331012"/>
          </a:xfrm>
          <a:prstGeom prst="rect">
            <a:avLst/>
          </a:prstGeom>
          <a:solidFill>
            <a:srgbClr val="303030"/>
          </a:solidFill>
          <a:ln w="6350">
            <a:solidFill>
              <a:srgbClr val="3E3E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621792" y="4149547"/>
            <a:ext cx="2808853" cy="2578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race_ethnicity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503797" y="4112971"/>
            <a:ext cx="8410834" cy="331012"/>
          </a:xfrm>
          <a:prstGeom prst="rect">
            <a:avLst/>
          </a:prstGeom>
          <a:solidFill>
            <a:srgbClr val="303030"/>
          </a:solidFill>
          <a:ln w="6350">
            <a:solidFill>
              <a:srgbClr val="3E3E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3576949" y="4149547"/>
            <a:ext cx="8264530" cy="2578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Etnia — 6 valores: White, Black, Hispanic, Asian, Multiracial, Middle Eastern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48640" y="4443984"/>
            <a:ext cx="2955157" cy="331012"/>
          </a:xfrm>
          <a:prstGeom prst="rect">
            <a:avLst/>
          </a:prstGeom>
          <a:solidFill>
            <a:srgbClr val="262626"/>
          </a:solidFill>
          <a:ln w="6350">
            <a:solidFill>
              <a:srgbClr val="3E3E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621792" y="4480560"/>
            <a:ext cx="2808853" cy="2578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religion</a:t>
            </a:r>
          </a:p>
        </p:txBody>
      </p:sp>
      <p:sp>
        <p:nvSpPr>
          <p:cNvPr id="42" name="Rectangle 41"/>
          <p:cNvSpPr/>
          <p:nvPr/>
        </p:nvSpPr>
        <p:spPr>
          <a:xfrm>
            <a:off x="3503797" y="4443984"/>
            <a:ext cx="8410834" cy="331012"/>
          </a:xfrm>
          <a:prstGeom prst="rect">
            <a:avLst/>
          </a:prstGeom>
          <a:solidFill>
            <a:srgbClr val="262626"/>
          </a:solidFill>
          <a:ln w="6350">
            <a:solidFill>
              <a:srgbClr val="3E3E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3576949" y="4480560"/>
            <a:ext cx="8264530" cy="2578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Religião — 62% ausente (NULL estrutural, dado não coletado historicamente)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48640" y="4774996"/>
            <a:ext cx="2955157" cy="331012"/>
          </a:xfrm>
          <a:prstGeom prst="rect">
            <a:avLst/>
          </a:prstGeom>
          <a:solidFill>
            <a:srgbClr val="303030"/>
          </a:solidFill>
          <a:ln w="6350">
            <a:solidFill>
              <a:srgbClr val="3E3E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621792" y="4811572"/>
            <a:ext cx="2808853" cy="2578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sexual_orientation</a:t>
            </a:r>
          </a:p>
        </p:txBody>
      </p:sp>
      <p:sp>
        <p:nvSpPr>
          <p:cNvPr id="46" name="Rectangle 45"/>
          <p:cNvSpPr/>
          <p:nvPr/>
        </p:nvSpPr>
        <p:spPr>
          <a:xfrm>
            <a:off x="3503797" y="4774996"/>
            <a:ext cx="8410834" cy="331012"/>
          </a:xfrm>
          <a:prstGeom prst="rect">
            <a:avLst/>
          </a:prstGeom>
          <a:solidFill>
            <a:srgbClr val="303030"/>
          </a:solidFill>
          <a:ln w="6350">
            <a:solidFill>
              <a:srgbClr val="3E3E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TextBox 46"/>
          <p:cNvSpPr txBox="1"/>
          <p:nvPr/>
        </p:nvSpPr>
        <p:spPr>
          <a:xfrm>
            <a:off x="3576949" y="4811572"/>
            <a:ext cx="8264530" cy="2578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String "Na" convertida para NULL real durante a carga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48640" y="5106009"/>
            <a:ext cx="2955157" cy="331012"/>
          </a:xfrm>
          <a:prstGeom prst="rect">
            <a:avLst/>
          </a:prstGeom>
          <a:solidFill>
            <a:srgbClr val="262626"/>
          </a:solidFill>
          <a:ln w="6350">
            <a:solidFill>
              <a:srgbClr val="3E3E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TextBox 48"/>
          <p:cNvSpPr txBox="1"/>
          <p:nvPr/>
        </p:nvSpPr>
        <p:spPr>
          <a:xfrm>
            <a:off x="621792" y="5142585"/>
            <a:ext cx="2808853" cy="2578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year_edition</a:t>
            </a:r>
          </a:p>
        </p:txBody>
      </p:sp>
      <p:sp>
        <p:nvSpPr>
          <p:cNvPr id="50" name="Rectangle 49"/>
          <p:cNvSpPr/>
          <p:nvPr/>
        </p:nvSpPr>
        <p:spPr>
          <a:xfrm>
            <a:off x="3503797" y="5106009"/>
            <a:ext cx="8410834" cy="331012"/>
          </a:xfrm>
          <a:prstGeom prst="rect">
            <a:avLst/>
          </a:prstGeom>
          <a:solidFill>
            <a:srgbClr val="262626"/>
          </a:solidFill>
          <a:ln w="6350">
            <a:solidFill>
              <a:srgbClr val="3E3E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TextBox 50"/>
          <p:cNvSpPr txBox="1"/>
          <p:nvPr/>
        </p:nvSpPr>
        <p:spPr>
          <a:xfrm>
            <a:off x="3576949" y="5142585"/>
            <a:ext cx="8264530" cy="2578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Ano da cerimônia Oscar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48640" y="5437022"/>
            <a:ext cx="2955157" cy="331012"/>
          </a:xfrm>
          <a:prstGeom prst="rect">
            <a:avLst/>
          </a:prstGeom>
          <a:solidFill>
            <a:srgbClr val="303030"/>
          </a:solidFill>
          <a:ln w="6350">
            <a:solidFill>
              <a:srgbClr val="3E3E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TextBox 52"/>
          <p:cNvSpPr txBox="1"/>
          <p:nvPr/>
        </p:nvSpPr>
        <p:spPr>
          <a:xfrm>
            <a:off x="621792" y="5473598"/>
            <a:ext cx="2808853" cy="2578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category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503797" y="5437022"/>
            <a:ext cx="8410834" cy="331012"/>
          </a:xfrm>
          <a:prstGeom prst="rect">
            <a:avLst/>
          </a:prstGeom>
          <a:solidFill>
            <a:srgbClr val="303030"/>
          </a:solidFill>
          <a:ln w="6350">
            <a:solidFill>
              <a:srgbClr val="3E3E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TextBox 54"/>
          <p:cNvSpPr txBox="1"/>
          <p:nvPr/>
        </p:nvSpPr>
        <p:spPr>
          <a:xfrm>
            <a:off x="3576949" y="5473598"/>
            <a:ext cx="8264530" cy="2578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Categoria premiada — 5 valores fixos</a:t>
            </a:r>
          </a:p>
        </p:txBody>
      </p:sp>
      <p:sp>
        <p:nvSpPr>
          <p:cNvPr id="56" name="Rectangle 55"/>
          <p:cNvSpPr/>
          <p:nvPr/>
        </p:nvSpPr>
        <p:spPr>
          <a:xfrm>
            <a:off x="548640" y="5768035"/>
            <a:ext cx="2955157" cy="331012"/>
          </a:xfrm>
          <a:prstGeom prst="rect">
            <a:avLst/>
          </a:prstGeom>
          <a:solidFill>
            <a:srgbClr val="262626"/>
          </a:solidFill>
          <a:ln w="6350">
            <a:solidFill>
              <a:srgbClr val="3E3E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7" name="TextBox 56"/>
          <p:cNvSpPr txBox="1"/>
          <p:nvPr/>
        </p:nvSpPr>
        <p:spPr>
          <a:xfrm>
            <a:off x="621792" y="5804611"/>
            <a:ext cx="2808853" cy="2578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movie</a:t>
            </a:r>
          </a:p>
        </p:txBody>
      </p:sp>
      <p:sp>
        <p:nvSpPr>
          <p:cNvPr id="58" name="Rectangle 57"/>
          <p:cNvSpPr/>
          <p:nvPr/>
        </p:nvSpPr>
        <p:spPr>
          <a:xfrm>
            <a:off x="3503797" y="5768035"/>
            <a:ext cx="8410834" cy="331012"/>
          </a:xfrm>
          <a:prstGeom prst="rect">
            <a:avLst/>
          </a:prstGeom>
          <a:solidFill>
            <a:srgbClr val="262626"/>
          </a:solidFill>
          <a:ln w="6350">
            <a:solidFill>
              <a:srgbClr val="3E3E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9" name="TextBox 58"/>
          <p:cNvSpPr txBox="1"/>
          <p:nvPr/>
        </p:nvSpPr>
        <p:spPr>
          <a:xfrm>
            <a:off x="3576949" y="5804611"/>
            <a:ext cx="8264530" cy="2578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Título do filme premiado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47472" cy="6858000"/>
          </a:xfrm>
          <a:prstGeom prst="rect">
            <a:avLst/>
          </a:prstGeom>
          <a:solidFill>
            <a:srgbClr val="C8A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6739128"/>
            <a:ext cx="12188952" cy="118872"/>
          </a:xfrm>
          <a:prstGeom prst="rect">
            <a:avLst/>
          </a:prstGeom>
          <a:solidFill>
            <a:srgbClr val="C8A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548640" y="1115568"/>
            <a:ext cx="11365992" cy="19050"/>
          </a:xfrm>
          <a:prstGeom prst="rect">
            <a:avLst/>
          </a:prstGeom>
          <a:solidFill>
            <a:srgbClr val="C8A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48640" y="228600"/>
            <a:ext cx="11365992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C8A000"/>
                </a:solidFill>
              </a:rPr>
              <a:t>2  Modelo Entidade-Relacionamento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170432"/>
            <a:ext cx="4846320" cy="5093208"/>
          </a:xfrm>
          <a:prstGeom prst="rect">
            <a:avLst/>
          </a:prstGeom>
          <a:solidFill>
            <a:srgbClr val="26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48640" y="1225296"/>
            <a:ext cx="47548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BBBBBB"/>
                </a:solidFill>
              </a:rPr>
              <a:t>Cada linha do CSV é um prêmio entregue. PREMIO é a entidade associativa central que conecta as quatro dimensões independentes.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801368"/>
            <a:ext cx="475488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700"/>
              </a:spcBef>
            </a:pPr>
            <a:r>
              <a:rPr sz="1700">
                <a:solidFill>
                  <a:srgbClr val="FFFFFF"/>
                </a:solidFill>
              </a:rPr>
              <a:t>5 entidades identificadas:</a:t>
            </a:r>
          </a:p>
          <a:p>
            <a:pPr>
              <a:spcBef>
                <a:spcPts val="700"/>
              </a:spcBef>
            </a:pPr>
            <a:r>
              <a:rPr sz="1700">
                <a:solidFill>
                  <a:srgbClr val="FFFFFF"/>
                </a:solidFill>
              </a:rPr>
              <a:t>  VENCEDOR  — quem ganhou</a:t>
            </a:r>
          </a:p>
          <a:p>
            <a:pPr>
              <a:spcBef>
                <a:spcPts val="700"/>
              </a:spcBef>
            </a:pPr>
            <a:r>
              <a:rPr sz="1700">
                <a:solidFill>
                  <a:srgbClr val="FFFFFF"/>
                </a:solidFill>
              </a:rPr>
              <a:t>  FILME     — pelo que ganhou</a:t>
            </a:r>
          </a:p>
          <a:p>
            <a:pPr>
              <a:spcBef>
                <a:spcPts val="700"/>
              </a:spcBef>
            </a:pPr>
            <a:r>
              <a:rPr sz="1700">
                <a:solidFill>
                  <a:srgbClr val="FFFFFF"/>
                </a:solidFill>
              </a:rPr>
              <a:t>  CATEGORIA — em qual premiação</a:t>
            </a:r>
          </a:p>
          <a:p>
            <a:pPr>
              <a:spcBef>
                <a:spcPts val="700"/>
              </a:spcBef>
            </a:pPr>
            <a:r>
              <a:rPr sz="1700">
                <a:solidFill>
                  <a:srgbClr val="FFFFFF"/>
                </a:solidFill>
              </a:rPr>
              <a:t>  EDICAO    — em qual cerimônia</a:t>
            </a:r>
          </a:p>
          <a:p>
            <a:pPr>
              <a:spcBef>
                <a:spcPts val="700"/>
              </a:spcBef>
            </a:pPr>
            <a:r>
              <a:rPr sz="1700">
                <a:solidFill>
                  <a:srgbClr val="FFFFFF"/>
                </a:solidFill>
              </a:rPr>
              <a:t>  PREMIO    — o evento em si</a:t>
            </a:r>
          </a:p>
          <a:p>
            <a:pPr>
              <a:spcBef>
                <a:spcPts val="700"/>
              </a:spcBef>
            </a:pPr>
            <a:endParaRPr sz="1700">
              <a:solidFill>
                <a:srgbClr val="FFFFFF"/>
              </a:solidFill>
            </a:endParaRPr>
          </a:p>
          <a:p>
            <a:pPr>
              <a:spcBef>
                <a:spcPts val="700"/>
              </a:spcBef>
            </a:pPr>
            <a:r>
              <a:rPr sz="1700">
                <a:solidFill>
                  <a:srgbClr val="FFFFFF"/>
                </a:solidFill>
              </a:rPr>
              <a:t>PREMIO conecta as 4 dimensões</a:t>
            </a:r>
          </a:p>
          <a:p>
            <a:pPr>
              <a:spcBef>
                <a:spcPts val="700"/>
              </a:spcBef>
            </a:pPr>
            <a:r>
              <a:rPr sz="1700">
                <a:solidFill>
                  <a:srgbClr val="FFFFFF"/>
                </a:solidFill>
              </a:rPr>
              <a:t>com 4 chaves estrangeiras (FKs).</a:t>
            </a:r>
          </a:p>
          <a:p>
            <a:pPr>
              <a:spcBef>
                <a:spcPts val="700"/>
              </a:spcBef>
            </a:pPr>
            <a:r>
              <a:rPr sz="1700">
                <a:solidFill>
                  <a:srgbClr val="FFFFFF"/>
                </a:solidFill>
              </a:rPr>
              <a:t>Todos os relacionamentos são N:1</a:t>
            </a:r>
          </a:p>
          <a:p>
            <a:pPr>
              <a:spcBef>
                <a:spcPts val="700"/>
              </a:spcBef>
            </a:pPr>
            <a:r>
              <a:rPr sz="1700">
                <a:solidFill>
                  <a:srgbClr val="FFFFFF"/>
                </a:solidFill>
              </a:rPr>
              <a:t>de PREMIO para as dimensões.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40680" y="1170432"/>
            <a:ext cx="19050" cy="5093208"/>
          </a:xfrm>
          <a:prstGeom prst="rect">
            <a:avLst/>
          </a:prstGeom>
          <a:solidFill>
            <a:srgbClr val="C8A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1" name="Picture 10" descr="osc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05272" y="1170432"/>
            <a:ext cx="6355080" cy="5093208"/>
          </a:xfrm>
          <a:prstGeom prst="rect">
            <a:avLst/>
          </a:prstGeom>
        </p:spPr>
      </p:pic>
      <p:sp>
        <p:nvSpPr>
          <p:cNvPr id="12" name="Rectangle 11"/>
          <p:cNvSpPr/>
          <p:nvPr/>
        </p:nvSpPr>
        <p:spPr>
          <a:xfrm>
            <a:off x="548640" y="5989320"/>
            <a:ext cx="11365992" cy="566928"/>
          </a:xfrm>
          <a:prstGeom prst="rect">
            <a:avLst/>
          </a:prstGeom>
          <a:solidFill>
            <a:srgbClr val="C8A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40080" y="6007608"/>
            <a:ext cx="11183112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1A1A1A"/>
                </a:solidFill>
              </a:rPr>
              <a:t>Diagrama gerado via dbdiagram.io a partir de diagrama_er.dbml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76476"/>
    </mc:Choice>
    <mc:Fallback xmlns="">
      <p:transition spd="slow" advTm="76476"/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5A7690-5E6F-D2FF-3524-C6AA93DC2E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7BAB1C90-153B-3B65-C43A-06D36D6E4408}"/>
              </a:ext>
            </a:extLst>
          </p:cNvPr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DFCA231-D8C7-6D8D-69CE-68C3822BCDC6}"/>
              </a:ext>
            </a:extLst>
          </p:cNvPr>
          <p:cNvSpPr/>
          <p:nvPr/>
        </p:nvSpPr>
        <p:spPr>
          <a:xfrm>
            <a:off x="0" y="0"/>
            <a:ext cx="347472" cy="6858000"/>
          </a:xfrm>
          <a:prstGeom prst="rect">
            <a:avLst/>
          </a:prstGeom>
          <a:solidFill>
            <a:srgbClr val="C8A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359EB363-1032-B1DC-A83D-96CC505D27B4}"/>
              </a:ext>
            </a:extLst>
          </p:cNvPr>
          <p:cNvSpPr/>
          <p:nvPr/>
        </p:nvSpPr>
        <p:spPr>
          <a:xfrm>
            <a:off x="0" y="6739128"/>
            <a:ext cx="12188952" cy="118872"/>
          </a:xfrm>
          <a:prstGeom prst="rect">
            <a:avLst/>
          </a:prstGeom>
          <a:solidFill>
            <a:srgbClr val="C8A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AA25616-1CD4-E4F0-1384-7D86B65BC0FB}"/>
              </a:ext>
            </a:extLst>
          </p:cNvPr>
          <p:cNvSpPr txBox="1"/>
          <p:nvPr/>
        </p:nvSpPr>
        <p:spPr>
          <a:xfrm>
            <a:off x="548640" y="228600"/>
            <a:ext cx="11365992" cy="4924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 dirty="0">
                <a:solidFill>
                  <a:srgbClr val="C8A000"/>
                </a:solidFill>
              </a:rPr>
              <a:t>2  Modelo </a:t>
            </a:r>
            <a:r>
              <a:rPr sz="2600" b="1" i="0" dirty="0" err="1">
                <a:solidFill>
                  <a:srgbClr val="C8A000"/>
                </a:solidFill>
              </a:rPr>
              <a:t>Entidade-Relacionamento</a:t>
            </a:r>
            <a:r>
              <a:rPr lang="pt-BR" sz="2600" b="1" i="0" dirty="0">
                <a:solidFill>
                  <a:srgbClr val="C8A000"/>
                </a:solidFill>
              </a:rPr>
              <a:t> – 3FN</a:t>
            </a:r>
            <a:endParaRPr sz="2600" b="1" i="0" dirty="0">
              <a:solidFill>
                <a:srgbClr val="C8A000"/>
              </a:solidFill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3A623A90-B15E-006B-07C4-FA26F879C10A}"/>
              </a:ext>
            </a:extLst>
          </p:cNvPr>
          <p:cNvSpPr/>
          <p:nvPr/>
        </p:nvSpPr>
        <p:spPr>
          <a:xfrm>
            <a:off x="548640" y="5989320"/>
            <a:ext cx="11365992" cy="566928"/>
          </a:xfrm>
          <a:prstGeom prst="rect">
            <a:avLst/>
          </a:prstGeom>
          <a:solidFill>
            <a:srgbClr val="C8A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83756E5-18E4-9C32-3C7C-0B71CBDF2911}"/>
              </a:ext>
            </a:extLst>
          </p:cNvPr>
          <p:cNvSpPr txBox="1"/>
          <p:nvPr/>
        </p:nvSpPr>
        <p:spPr>
          <a:xfrm>
            <a:off x="640080" y="6007608"/>
            <a:ext cx="11183112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1A1A1A"/>
                </a:solidFill>
              </a:rPr>
              <a:t>Diagrama gerado via dbdiagram.io a partir de diagrama_er.dbml</a:t>
            </a:r>
          </a:p>
        </p:txBody>
      </p:sp>
      <p:pic>
        <p:nvPicPr>
          <p:cNvPr id="15" name="Imagem 14" descr="Diagrama&#10;&#10;O conteúdo gerado por IA pode estar incorreto.">
            <a:extLst>
              <a:ext uri="{FF2B5EF4-FFF2-40B4-BE49-F238E27FC236}">
                <a16:creationId xmlns:a16="http://schemas.microsoft.com/office/drawing/2014/main" id="{D6ED734D-8E3A-C63D-B7BF-9FDCB78A875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97231" y="755412"/>
            <a:ext cx="7189644" cy="51418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5851406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31920"/>
    </mc:Choice>
    <mc:Fallback xmlns="">
      <p:transition spd="slow" advTm="31920"/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D9F821-1AF5-AF53-37CA-08385C6B67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CACBD660-2481-BFF1-85C7-9AB507F07EDE}"/>
              </a:ext>
            </a:extLst>
          </p:cNvPr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60813E40-6E97-1117-1E9B-47D85179852E}"/>
              </a:ext>
            </a:extLst>
          </p:cNvPr>
          <p:cNvSpPr/>
          <p:nvPr/>
        </p:nvSpPr>
        <p:spPr>
          <a:xfrm>
            <a:off x="0" y="0"/>
            <a:ext cx="347472" cy="6858000"/>
          </a:xfrm>
          <a:prstGeom prst="rect">
            <a:avLst/>
          </a:prstGeom>
          <a:solidFill>
            <a:srgbClr val="C8A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4E395E89-447A-D88B-D930-F8FF85F25089}"/>
              </a:ext>
            </a:extLst>
          </p:cNvPr>
          <p:cNvSpPr/>
          <p:nvPr/>
        </p:nvSpPr>
        <p:spPr>
          <a:xfrm>
            <a:off x="0" y="6739128"/>
            <a:ext cx="12188952" cy="118872"/>
          </a:xfrm>
          <a:prstGeom prst="rect">
            <a:avLst/>
          </a:prstGeom>
          <a:solidFill>
            <a:srgbClr val="C8A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D1A30D6-16E2-BDCC-6ECF-167A37B7E16E}"/>
              </a:ext>
            </a:extLst>
          </p:cNvPr>
          <p:cNvSpPr txBox="1"/>
          <p:nvPr/>
        </p:nvSpPr>
        <p:spPr>
          <a:xfrm>
            <a:off x="548640" y="228600"/>
            <a:ext cx="11365992" cy="4924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 dirty="0">
                <a:solidFill>
                  <a:srgbClr val="C8A000"/>
                </a:solidFill>
              </a:rPr>
              <a:t>2  Modelo </a:t>
            </a:r>
            <a:r>
              <a:rPr sz="2600" b="1" i="0" dirty="0" err="1">
                <a:solidFill>
                  <a:srgbClr val="C8A000"/>
                </a:solidFill>
              </a:rPr>
              <a:t>Entidade-Relacionamento</a:t>
            </a:r>
            <a:r>
              <a:rPr lang="pt-BR" sz="2600" b="1" i="0" dirty="0">
                <a:solidFill>
                  <a:srgbClr val="C8A000"/>
                </a:solidFill>
              </a:rPr>
              <a:t> – 3FN</a:t>
            </a:r>
            <a:endParaRPr sz="2600" b="1" i="0" dirty="0">
              <a:solidFill>
                <a:srgbClr val="C8A000"/>
              </a:solidFill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810A4986-3541-7354-A344-DD7F4C318DC7}"/>
              </a:ext>
            </a:extLst>
          </p:cNvPr>
          <p:cNvSpPr/>
          <p:nvPr/>
        </p:nvSpPr>
        <p:spPr>
          <a:xfrm>
            <a:off x="548640" y="5989320"/>
            <a:ext cx="11365992" cy="566928"/>
          </a:xfrm>
          <a:prstGeom prst="rect">
            <a:avLst/>
          </a:prstGeom>
          <a:solidFill>
            <a:srgbClr val="C8A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54E0D91-C262-A22E-B2AA-7E73D8861E57}"/>
              </a:ext>
            </a:extLst>
          </p:cNvPr>
          <p:cNvSpPr txBox="1"/>
          <p:nvPr/>
        </p:nvSpPr>
        <p:spPr>
          <a:xfrm>
            <a:off x="640080" y="6007608"/>
            <a:ext cx="11183112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1A1A1A"/>
                </a:solidFill>
              </a:rPr>
              <a:t>Diagrama gerado via dbdiagram.io a partir de diagrama_er.dbml</a:t>
            </a:r>
          </a:p>
        </p:txBody>
      </p:sp>
      <p:pic>
        <p:nvPicPr>
          <p:cNvPr id="7" name="Imagem 6" descr="Interface gráfica do usuário&#10;&#10;O conteúdo gerado por IA pode estar incorreto.">
            <a:extLst>
              <a:ext uri="{FF2B5EF4-FFF2-40B4-BE49-F238E27FC236}">
                <a16:creationId xmlns:a16="http://schemas.microsoft.com/office/drawing/2014/main" id="{144903CA-384D-9522-6E2B-C7A3A54E527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36477" y="739331"/>
            <a:ext cx="9072053" cy="50836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5952225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56740"/>
    </mc:Choice>
    <mc:Fallback xmlns="">
      <p:transition spd="slow" advTm="56740"/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47472" cy="6858000"/>
          </a:xfrm>
          <a:prstGeom prst="rect">
            <a:avLst/>
          </a:prstGeom>
          <a:solidFill>
            <a:srgbClr val="C8A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6739128"/>
            <a:ext cx="12188952" cy="118872"/>
          </a:xfrm>
          <a:prstGeom prst="rect">
            <a:avLst/>
          </a:prstGeom>
          <a:solidFill>
            <a:srgbClr val="C8A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548640" y="1115568"/>
            <a:ext cx="11365992" cy="19050"/>
          </a:xfrm>
          <a:prstGeom prst="rect">
            <a:avLst/>
          </a:prstGeom>
          <a:solidFill>
            <a:srgbClr val="C8A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48640" y="228600"/>
            <a:ext cx="11365992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C8A000"/>
                </a:solidFill>
              </a:rPr>
              <a:t>3  Modelo Relacional e Normalização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207008"/>
            <a:ext cx="1136599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1">
                <a:solidFill>
                  <a:srgbClr val="BBBBBB"/>
                </a:solidFill>
              </a:rPr>
              <a:t>O diagrama ER foi mapeado para 5 tabelas relacionais — todas verificadas em Terceira Forma Normal.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1810512"/>
            <a:ext cx="1181404" cy="441960"/>
          </a:xfrm>
          <a:prstGeom prst="rect">
            <a:avLst/>
          </a:prstGeom>
          <a:solidFill>
            <a:srgbClr val="C8A000"/>
          </a:solidFill>
          <a:ln w="6350">
            <a:solidFill>
              <a:srgbClr val="3E3E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21792" y="1847088"/>
            <a:ext cx="1035100" cy="368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1A1A"/>
                </a:solidFill>
              </a:rPr>
              <a:t>Tabela</a:t>
            </a:r>
          </a:p>
        </p:txBody>
      </p:sp>
      <p:sp>
        <p:nvSpPr>
          <p:cNvPr id="10" name="Rectangle 9"/>
          <p:cNvSpPr/>
          <p:nvPr/>
        </p:nvSpPr>
        <p:spPr>
          <a:xfrm>
            <a:off x="1730044" y="1810512"/>
            <a:ext cx="3822192" cy="441960"/>
          </a:xfrm>
          <a:prstGeom prst="rect">
            <a:avLst/>
          </a:prstGeom>
          <a:solidFill>
            <a:srgbClr val="C8A000"/>
          </a:solidFill>
          <a:ln w="6350">
            <a:solidFill>
              <a:srgbClr val="3E3E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803196" y="1847088"/>
            <a:ext cx="3675888" cy="368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1A1A"/>
                </a:solidFill>
              </a:rPr>
              <a:t>Campos principais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552236" y="1810512"/>
            <a:ext cx="1945843" cy="441960"/>
          </a:xfrm>
          <a:prstGeom prst="rect">
            <a:avLst/>
          </a:prstGeom>
          <a:solidFill>
            <a:srgbClr val="C8A000"/>
          </a:solidFill>
          <a:ln w="6350">
            <a:solidFill>
              <a:srgbClr val="3E3E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5625388" y="1847088"/>
            <a:ext cx="1799539" cy="368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1A1A"/>
                </a:solidFill>
              </a:rPr>
              <a:t>Restrições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2252472"/>
            <a:ext cx="1181404" cy="441960"/>
          </a:xfrm>
          <a:prstGeom prst="rect">
            <a:avLst/>
          </a:prstGeom>
          <a:solidFill>
            <a:srgbClr val="262626"/>
          </a:solidFill>
          <a:ln w="6350">
            <a:solidFill>
              <a:srgbClr val="3E3E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21792" y="2289048"/>
            <a:ext cx="1035100" cy="368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vencedor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730044" y="2252472"/>
            <a:ext cx="3822192" cy="441960"/>
          </a:xfrm>
          <a:prstGeom prst="rect">
            <a:avLst/>
          </a:prstGeom>
          <a:solidFill>
            <a:srgbClr val="262626"/>
          </a:solidFill>
          <a:ln w="6350">
            <a:solidFill>
              <a:srgbClr val="3E3E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1803196" y="2289048"/>
            <a:ext cx="3675888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 u="sng" dirty="0">
                <a:solidFill>
                  <a:srgbClr val="FFFFFF"/>
                </a:solidFill>
              </a:rPr>
              <a:t>id</a:t>
            </a:r>
            <a:r>
              <a:rPr sz="1100" b="0" i="0" dirty="0">
                <a:solidFill>
                  <a:srgbClr val="FFFFFF"/>
                </a:solidFill>
              </a:rPr>
              <a:t> · </a:t>
            </a:r>
            <a:r>
              <a:rPr sz="1100" b="0" i="0" dirty="0" err="1">
                <a:solidFill>
                  <a:srgbClr val="FFFFFF"/>
                </a:solidFill>
              </a:rPr>
              <a:t>nome</a:t>
            </a:r>
            <a:r>
              <a:rPr sz="1100" b="0" i="0" dirty="0">
                <a:solidFill>
                  <a:srgbClr val="FFFFFF"/>
                </a:solidFill>
              </a:rPr>
              <a:t> · </a:t>
            </a:r>
            <a:r>
              <a:rPr sz="1100" b="0" i="0" dirty="0" err="1">
                <a:solidFill>
                  <a:srgbClr val="FFFFFF"/>
                </a:solidFill>
              </a:rPr>
              <a:t>ano_nasc</a:t>
            </a:r>
            <a:r>
              <a:rPr sz="1100" b="0" i="0" dirty="0">
                <a:solidFill>
                  <a:srgbClr val="FFFFFF"/>
                </a:solidFill>
              </a:rPr>
              <a:t> · </a:t>
            </a:r>
            <a:r>
              <a:rPr sz="1100" b="0" i="0" dirty="0" err="1">
                <a:solidFill>
                  <a:srgbClr val="FFFFFF"/>
                </a:solidFill>
              </a:rPr>
              <a:t>etnia</a:t>
            </a:r>
            <a:r>
              <a:rPr sz="1100" b="0" i="0" dirty="0">
                <a:solidFill>
                  <a:srgbClr val="FFFFFF"/>
                </a:solidFill>
              </a:rPr>
              <a:t> · </a:t>
            </a:r>
            <a:r>
              <a:rPr sz="1100" b="0" i="0" dirty="0" err="1">
                <a:solidFill>
                  <a:srgbClr val="FFFFFF"/>
                </a:solidFill>
              </a:rPr>
              <a:t>religiao</a:t>
            </a:r>
            <a:r>
              <a:rPr sz="1100" b="0" i="0" dirty="0">
                <a:solidFill>
                  <a:srgbClr val="FFFFFF"/>
                </a:solidFill>
              </a:rPr>
              <a:t> · orient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552236" y="2252472"/>
            <a:ext cx="1945843" cy="441960"/>
          </a:xfrm>
          <a:prstGeom prst="rect">
            <a:avLst/>
          </a:prstGeom>
          <a:solidFill>
            <a:srgbClr val="262626"/>
          </a:solidFill>
          <a:ln w="6350">
            <a:solidFill>
              <a:srgbClr val="3E3E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5625388" y="2289048"/>
            <a:ext cx="1799539" cy="368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etnia NOT NULL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48640" y="2694432"/>
            <a:ext cx="1181404" cy="441960"/>
          </a:xfrm>
          <a:prstGeom prst="rect">
            <a:avLst/>
          </a:prstGeom>
          <a:solidFill>
            <a:srgbClr val="303030"/>
          </a:solidFill>
          <a:ln w="6350">
            <a:solidFill>
              <a:srgbClr val="3E3E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21792" y="2731008"/>
            <a:ext cx="1035100" cy="368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filme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730044" y="2694432"/>
            <a:ext cx="3822192" cy="441960"/>
          </a:xfrm>
          <a:prstGeom prst="rect">
            <a:avLst/>
          </a:prstGeom>
          <a:solidFill>
            <a:srgbClr val="303030"/>
          </a:solidFill>
          <a:ln w="6350">
            <a:solidFill>
              <a:srgbClr val="3E3E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1803196" y="2731008"/>
            <a:ext cx="3675888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 u="sng" dirty="0">
                <a:solidFill>
                  <a:srgbClr val="FFFFFF"/>
                </a:solidFill>
              </a:rPr>
              <a:t>id</a:t>
            </a:r>
            <a:r>
              <a:rPr sz="1100" b="0" i="0" dirty="0">
                <a:solidFill>
                  <a:srgbClr val="FFFFFF"/>
                </a:solidFill>
              </a:rPr>
              <a:t> · </a:t>
            </a:r>
            <a:r>
              <a:rPr sz="1100" b="0" i="0" dirty="0" err="1">
                <a:solidFill>
                  <a:srgbClr val="FFFFFF"/>
                </a:solidFill>
              </a:rPr>
              <a:t>titulo</a:t>
            </a:r>
            <a:endParaRPr sz="1100" b="0" i="0" dirty="0">
              <a:solidFill>
                <a:srgbClr val="FFFFFF"/>
              </a:solidFill>
            </a:endParaRPr>
          </a:p>
        </p:txBody>
      </p:sp>
      <p:sp>
        <p:nvSpPr>
          <p:cNvPr id="24" name="Rectangle 23"/>
          <p:cNvSpPr/>
          <p:nvPr/>
        </p:nvSpPr>
        <p:spPr>
          <a:xfrm>
            <a:off x="5552236" y="2694432"/>
            <a:ext cx="1945843" cy="441960"/>
          </a:xfrm>
          <a:prstGeom prst="rect">
            <a:avLst/>
          </a:prstGeom>
          <a:solidFill>
            <a:srgbClr val="303030"/>
          </a:solidFill>
          <a:ln w="6350">
            <a:solidFill>
              <a:srgbClr val="3E3E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5625388" y="2731008"/>
            <a:ext cx="1799539" cy="368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titulo UNIQUE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48640" y="3136392"/>
            <a:ext cx="1181404" cy="441960"/>
          </a:xfrm>
          <a:prstGeom prst="rect">
            <a:avLst/>
          </a:prstGeom>
          <a:solidFill>
            <a:srgbClr val="262626"/>
          </a:solidFill>
          <a:ln w="6350">
            <a:solidFill>
              <a:srgbClr val="3E3E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621792" y="3172968"/>
            <a:ext cx="1035100" cy="368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categoria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730044" y="3136392"/>
            <a:ext cx="3822192" cy="441960"/>
          </a:xfrm>
          <a:prstGeom prst="rect">
            <a:avLst/>
          </a:prstGeom>
          <a:solidFill>
            <a:srgbClr val="262626"/>
          </a:solidFill>
          <a:ln w="6350">
            <a:solidFill>
              <a:srgbClr val="3E3E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1803196" y="3172968"/>
            <a:ext cx="3675888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 u="sng" dirty="0">
                <a:solidFill>
                  <a:srgbClr val="FFFFFF"/>
                </a:solidFill>
              </a:rPr>
              <a:t>id</a:t>
            </a:r>
            <a:r>
              <a:rPr sz="1100" b="0" i="0" dirty="0">
                <a:solidFill>
                  <a:srgbClr val="FFFFFF"/>
                </a:solidFill>
              </a:rPr>
              <a:t> · </a:t>
            </a:r>
            <a:r>
              <a:rPr sz="1100" b="0" i="0" dirty="0" err="1">
                <a:solidFill>
                  <a:srgbClr val="FFFFFF"/>
                </a:solidFill>
              </a:rPr>
              <a:t>nome</a:t>
            </a:r>
            <a:endParaRPr sz="1100" b="0" i="0" dirty="0">
              <a:solidFill>
                <a:srgbClr val="FFFFFF"/>
              </a:solidFill>
            </a:endParaRPr>
          </a:p>
        </p:txBody>
      </p:sp>
      <p:sp>
        <p:nvSpPr>
          <p:cNvPr id="30" name="Rectangle 29"/>
          <p:cNvSpPr/>
          <p:nvPr/>
        </p:nvSpPr>
        <p:spPr>
          <a:xfrm>
            <a:off x="5552236" y="3136392"/>
            <a:ext cx="1945843" cy="441960"/>
          </a:xfrm>
          <a:prstGeom prst="rect">
            <a:avLst/>
          </a:prstGeom>
          <a:solidFill>
            <a:srgbClr val="262626"/>
          </a:solidFill>
          <a:ln w="6350">
            <a:solidFill>
              <a:srgbClr val="3E3E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5625388" y="3172968"/>
            <a:ext cx="1799539" cy="368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nome UNIQUE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48640" y="3578352"/>
            <a:ext cx="1181404" cy="441960"/>
          </a:xfrm>
          <a:prstGeom prst="rect">
            <a:avLst/>
          </a:prstGeom>
          <a:solidFill>
            <a:srgbClr val="303030"/>
          </a:solidFill>
          <a:ln w="6350">
            <a:solidFill>
              <a:srgbClr val="3E3E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621792" y="3614928"/>
            <a:ext cx="1035100" cy="368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edicao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730044" y="3578352"/>
            <a:ext cx="3822192" cy="441960"/>
          </a:xfrm>
          <a:prstGeom prst="rect">
            <a:avLst/>
          </a:prstGeom>
          <a:solidFill>
            <a:srgbClr val="303030"/>
          </a:solidFill>
          <a:ln w="6350">
            <a:solidFill>
              <a:srgbClr val="3E3E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1803196" y="3614928"/>
            <a:ext cx="3675888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 u="sng" dirty="0">
                <a:solidFill>
                  <a:srgbClr val="FFFFFF"/>
                </a:solidFill>
              </a:rPr>
              <a:t>id</a:t>
            </a:r>
            <a:r>
              <a:rPr sz="1100" b="0" i="0" dirty="0">
                <a:solidFill>
                  <a:srgbClr val="FFFFFF"/>
                </a:solidFill>
              </a:rPr>
              <a:t> · </a:t>
            </a:r>
            <a:r>
              <a:rPr sz="1100" b="0" i="0" dirty="0" err="1">
                <a:solidFill>
                  <a:srgbClr val="FFFFFF"/>
                </a:solidFill>
              </a:rPr>
              <a:t>ano</a:t>
            </a:r>
            <a:endParaRPr sz="1100" b="0" i="0" dirty="0">
              <a:solidFill>
                <a:srgbClr val="FFFFFF"/>
              </a:solidFill>
            </a:endParaRPr>
          </a:p>
        </p:txBody>
      </p:sp>
      <p:sp>
        <p:nvSpPr>
          <p:cNvPr id="36" name="Rectangle 35"/>
          <p:cNvSpPr/>
          <p:nvPr/>
        </p:nvSpPr>
        <p:spPr>
          <a:xfrm>
            <a:off x="5552236" y="3578352"/>
            <a:ext cx="1945843" cy="441960"/>
          </a:xfrm>
          <a:prstGeom prst="rect">
            <a:avLst/>
          </a:prstGeom>
          <a:solidFill>
            <a:srgbClr val="303030"/>
          </a:solidFill>
          <a:ln w="6350">
            <a:solidFill>
              <a:srgbClr val="3E3E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5625388" y="3614928"/>
            <a:ext cx="1799539" cy="368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ano &gt;= 1927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48640" y="4020312"/>
            <a:ext cx="1181404" cy="441960"/>
          </a:xfrm>
          <a:prstGeom prst="rect">
            <a:avLst/>
          </a:prstGeom>
          <a:solidFill>
            <a:srgbClr val="262626"/>
          </a:solidFill>
          <a:ln w="6350">
            <a:solidFill>
              <a:srgbClr val="3E3E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621792" y="4056888"/>
            <a:ext cx="1035100" cy="368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premio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730044" y="4020312"/>
            <a:ext cx="3822192" cy="441960"/>
          </a:xfrm>
          <a:prstGeom prst="rect">
            <a:avLst/>
          </a:prstGeom>
          <a:solidFill>
            <a:srgbClr val="262626"/>
          </a:solidFill>
          <a:ln w="6350">
            <a:solidFill>
              <a:srgbClr val="3E3E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1803196" y="4056888"/>
            <a:ext cx="3675888" cy="368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 dirty="0">
                <a:solidFill>
                  <a:srgbClr val="FFFFFF"/>
                </a:solidFill>
              </a:rPr>
              <a:t>id · </a:t>
            </a:r>
            <a:r>
              <a:rPr sz="1100" b="0" i="0" dirty="0" err="1">
                <a:solidFill>
                  <a:srgbClr val="FFFFFF"/>
                </a:solidFill>
              </a:rPr>
              <a:t>id_vencedor</a:t>
            </a:r>
            <a:r>
              <a:rPr sz="1100" b="0" i="0" dirty="0">
                <a:solidFill>
                  <a:srgbClr val="FFFFFF"/>
                </a:solidFill>
              </a:rPr>
              <a:t> FK · </a:t>
            </a:r>
            <a:r>
              <a:rPr sz="1100" b="0" i="0" dirty="0" err="1">
                <a:solidFill>
                  <a:srgbClr val="FFFFFF"/>
                </a:solidFill>
              </a:rPr>
              <a:t>id_filme</a:t>
            </a:r>
            <a:r>
              <a:rPr sz="1100" b="0" i="0" dirty="0">
                <a:solidFill>
                  <a:srgbClr val="FFFFFF"/>
                </a:solidFill>
              </a:rPr>
              <a:t> FK · </a:t>
            </a:r>
            <a:r>
              <a:rPr sz="1100" b="0" i="0" dirty="0" err="1">
                <a:solidFill>
                  <a:srgbClr val="FFFFFF"/>
                </a:solidFill>
              </a:rPr>
              <a:t>id_categoria</a:t>
            </a:r>
            <a:r>
              <a:rPr sz="1100" b="0" i="0" dirty="0">
                <a:solidFill>
                  <a:srgbClr val="FFFFFF"/>
                </a:solidFill>
              </a:rPr>
              <a:t> FK · </a:t>
            </a:r>
            <a:r>
              <a:rPr sz="1100" b="0" i="0" dirty="0" err="1">
                <a:solidFill>
                  <a:srgbClr val="FFFFFF"/>
                </a:solidFill>
              </a:rPr>
              <a:t>id_edicao</a:t>
            </a:r>
            <a:r>
              <a:rPr sz="1100" b="0" i="0" dirty="0">
                <a:solidFill>
                  <a:srgbClr val="FFFFFF"/>
                </a:solidFill>
              </a:rPr>
              <a:t> FK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552236" y="4020312"/>
            <a:ext cx="1945843" cy="441960"/>
          </a:xfrm>
          <a:prstGeom prst="rect">
            <a:avLst/>
          </a:prstGeom>
          <a:solidFill>
            <a:srgbClr val="262626"/>
          </a:solidFill>
          <a:ln w="6350">
            <a:solidFill>
              <a:srgbClr val="3E3E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5625388" y="4056888"/>
            <a:ext cx="1799539" cy="368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 dirty="0">
                <a:solidFill>
                  <a:srgbClr val="FFFFFF"/>
                </a:solidFill>
              </a:rPr>
              <a:t>UNIQUE (v, c, e)</a:t>
            </a:r>
          </a:p>
        </p:txBody>
      </p:sp>
      <p:sp>
        <p:nvSpPr>
          <p:cNvPr id="46" name="Rectangle 45"/>
          <p:cNvSpPr/>
          <p:nvPr/>
        </p:nvSpPr>
        <p:spPr>
          <a:xfrm>
            <a:off x="7662672" y="1170432"/>
            <a:ext cx="19050" cy="4206240"/>
          </a:xfrm>
          <a:prstGeom prst="rect">
            <a:avLst/>
          </a:prstGeom>
          <a:solidFill>
            <a:srgbClr val="C8A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Rectangle 46"/>
          <p:cNvSpPr/>
          <p:nvPr/>
        </p:nvSpPr>
        <p:spPr>
          <a:xfrm>
            <a:off x="7845552" y="1828800"/>
            <a:ext cx="4142232" cy="1170432"/>
          </a:xfrm>
          <a:prstGeom prst="rect">
            <a:avLst/>
          </a:prstGeom>
          <a:solidFill>
            <a:srgbClr val="262626"/>
          </a:solidFill>
          <a:ln w="9525">
            <a:solidFill>
              <a:srgbClr val="C8A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/>
          <p:cNvSpPr txBox="1"/>
          <p:nvPr/>
        </p:nvSpPr>
        <p:spPr>
          <a:xfrm>
            <a:off x="7955280" y="1920240"/>
            <a:ext cx="3922776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C8A000"/>
                </a:solidFill>
              </a:rPr>
              <a:t>1FN ✔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955280" y="2286000"/>
            <a:ext cx="3922776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 dirty="0">
                <a:solidFill>
                  <a:srgbClr val="BBBBBB"/>
                </a:solidFill>
              </a:rPr>
              <a:t>Valores </a:t>
            </a:r>
            <a:r>
              <a:rPr sz="1100" b="0" i="0" dirty="0" err="1">
                <a:solidFill>
                  <a:srgbClr val="BBBBBB"/>
                </a:solidFill>
              </a:rPr>
              <a:t>atômicos</a:t>
            </a:r>
            <a:r>
              <a:rPr lang="pt-BR" sz="1100" b="0" i="0" dirty="0">
                <a:solidFill>
                  <a:srgbClr val="BBBBBB"/>
                </a:solidFill>
              </a:rPr>
              <a:t>:</a:t>
            </a:r>
            <a:r>
              <a:rPr sz="1100" b="0" i="0" dirty="0">
                <a:solidFill>
                  <a:srgbClr val="BBBBBB"/>
                </a:solidFill>
              </a:rPr>
              <a:t> </a:t>
            </a:r>
            <a:r>
              <a:rPr sz="1100" b="0" i="0" dirty="0" err="1">
                <a:solidFill>
                  <a:srgbClr val="BBBBBB"/>
                </a:solidFill>
              </a:rPr>
              <a:t>sem</a:t>
            </a:r>
            <a:r>
              <a:rPr sz="1100" b="0" i="0" dirty="0">
                <a:solidFill>
                  <a:srgbClr val="BBBBBB"/>
                </a:solidFill>
              </a:rPr>
              <a:t> </a:t>
            </a:r>
            <a:r>
              <a:rPr sz="1100" b="0" i="0" dirty="0" err="1">
                <a:solidFill>
                  <a:srgbClr val="BBBBBB"/>
                </a:solidFill>
              </a:rPr>
              <a:t>listas</a:t>
            </a:r>
            <a:r>
              <a:rPr sz="1100" b="0" i="0" dirty="0">
                <a:solidFill>
                  <a:srgbClr val="BBBBBB"/>
                </a:solidFill>
              </a:rPr>
              <a:t> </a:t>
            </a:r>
            <a:r>
              <a:rPr sz="1100" b="0" i="0" dirty="0" err="1">
                <a:solidFill>
                  <a:srgbClr val="BBBBBB"/>
                </a:solidFill>
              </a:rPr>
              <a:t>ou</a:t>
            </a:r>
            <a:r>
              <a:rPr sz="1100" b="0" i="0" dirty="0">
                <a:solidFill>
                  <a:srgbClr val="BBBBBB"/>
                </a:solidFill>
              </a:rPr>
              <a:t> </a:t>
            </a:r>
            <a:r>
              <a:rPr sz="1100" b="0" i="0" dirty="0" err="1">
                <a:solidFill>
                  <a:srgbClr val="BBBBBB"/>
                </a:solidFill>
              </a:rPr>
              <a:t>grupos</a:t>
            </a:r>
            <a:r>
              <a:rPr sz="1100" b="0" i="0" dirty="0">
                <a:solidFill>
                  <a:srgbClr val="BBBBBB"/>
                </a:solidFill>
              </a:rPr>
              <a:t> </a:t>
            </a:r>
            <a:r>
              <a:rPr sz="1100" b="0" i="0" dirty="0" err="1">
                <a:solidFill>
                  <a:srgbClr val="BBBBBB"/>
                </a:solidFill>
              </a:rPr>
              <a:t>repetidos</a:t>
            </a:r>
            <a:r>
              <a:rPr sz="1100" b="0" i="0" dirty="0">
                <a:solidFill>
                  <a:srgbClr val="BBBBBB"/>
                </a:solidFill>
              </a:rPr>
              <a:t> </a:t>
            </a:r>
            <a:r>
              <a:rPr sz="1100" b="0" i="0" dirty="0" err="1">
                <a:solidFill>
                  <a:srgbClr val="BBBBBB"/>
                </a:solidFill>
              </a:rPr>
              <a:t>em</a:t>
            </a:r>
            <a:r>
              <a:rPr sz="1100" b="0" i="0" dirty="0">
                <a:solidFill>
                  <a:srgbClr val="BBBBBB"/>
                </a:solidFill>
              </a:rPr>
              <a:t> </a:t>
            </a:r>
            <a:r>
              <a:rPr sz="1100" b="0" i="0" dirty="0" err="1">
                <a:solidFill>
                  <a:srgbClr val="BBBBBB"/>
                </a:solidFill>
              </a:rPr>
              <a:t>nenhum</a:t>
            </a:r>
            <a:r>
              <a:rPr sz="1100" b="0" i="0" dirty="0">
                <a:solidFill>
                  <a:srgbClr val="BBBBBB"/>
                </a:solidFill>
              </a:rPr>
              <a:t> campo</a:t>
            </a:r>
            <a:r>
              <a:rPr lang="pt-BR" sz="1100" b="0" i="0" dirty="0">
                <a:solidFill>
                  <a:srgbClr val="BBBBBB"/>
                </a:solidFill>
              </a:rPr>
              <a:t> após o tratamento do atributo endereço</a:t>
            </a:r>
            <a:endParaRPr sz="1100" b="0" i="0" dirty="0">
              <a:solidFill>
                <a:srgbClr val="BBBBBB"/>
              </a:solidFill>
            </a:endParaRPr>
          </a:p>
        </p:txBody>
      </p:sp>
      <p:sp>
        <p:nvSpPr>
          <p:cNvPr id="50" name="Rectangle 49"/>
          <p:cNvSpPr/>
          <p:nvPr/>
        </p:nvSpPr>
        <p:spPr>
          <a:xfrm>
            <a:off x="7845552" y="3127248"/>
            <a:ext cx="4142232" cy="1170432"/>
          </a:xfrm>
          <a:prstGeom prst="rect">
            <a:avLst/>
          </a:prstGeom>
          <a:solidFill>
            <a:srgbClr val="262626"/>
          </a:solidFill>
          <a:ln w="9525">
            <a:solidFill>
              <a:srgbClr val="C8A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TextBox 50"/>
          <p:cNvSpPr txBox="1"/>
          <p:nvPr/>
        </p:nvSpPr>
        <p:spPr>
          <a:xfrm>
            <a:off x="7955280" y="3218688"/>
            <a:ext cx="3922776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C8A000"/>
                </a:solidFill>
              </a:rPr>
              <a:t>2FN ✔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955280" y="3584448"/>
            <a:ext cx="3922776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 dirty="0">
                <a:solidFill>
                  <a:srgbClr val="BBBBBB"/>
                </a:solidFill>
              </a:rPr>
              <a:t>PKs simple</a:t>
            </a:r>
            <a:r>
              <a:rPr lang="pt-BR" sz="1100" dirty="0">
                <a:solidFill>
                  <a:srgbClr val="BBBBBB"/>
                </a:solidFill>
              </a:rPr>
              <a:t>s em todas as tabelas. A tabela premio tem chave candidata composta {</a:t>
            </a:r>
            <a:r>
              <a:rPr lang="pt-BR" sz="1100" dirty="0" err="1">
                <a:solidFill>
                  <a:srgbClr val="BBBBBB"/>
                </a:solidFill>
              </a:rPr>
              <a:t>id_vencedor</a:t>
            </a:r>
            <a:r>
              <a:rPr lang="pt-BR" sz="1100" dirty="0">
                <a:solidFill>
                  <a:srgbClr val="BBBBBB"/>
                </a:solidFill>
              </a:rPr>
              <a:t>, </a:t>
            </a:r>
            <a:r>
              <a:rPr lang="pt-BR" sz="1100" dirty="0" err="1">
                <a:solidFill>
                  <a:srgbClr val="BBBBBB"/>
                </a:solidFill>
              </a:rPr>
              <a:t>id_filme</a:t>
            </a:r>
            <a:r>
              <a:rPr lang="pt-BR" sz="1100" dirty="0">
                <a:solidFill>
                  <a:srgbClr val="BBBBBB"/>
                </a:solidFill>
              </a:rPr>
              <a:t>, </a:t>
            </a:r>
            <a:r>
              <a:rPr lang="pt-BR" sz="1100" dirty="0" err="1">
                <a:solidFill>
                  <a:srgbClr val="BBBBBB"/>
                </a:solidFill>
              </a:rPr>
              <a:t>id_categoria</a:t>
            </a:r>
            <a:r>
              <a:rPr lang="pt-BR" sz="1100" dirty="0">
                <a:solidFill>
                  <a:srgbClr val="BBBBBB"/>
                </a:solidFill>
              </a:rPr>
              <a:t>, </a:t>
            </a:r>
            <a:r>
              <a:rPr lang="pt-BR" sz="1100" dirty="0" err="1">
                <a:solidFill>
                  <a:srgbClr val="BBBBBB"/>
                </a:solidFill>
              </a:rPr>
              <a:t>id_edicao</a:t>
            </a:r>
            <a:r>
              <a:rPr lang="pt-BR" sz="1100" dirty="0">
                <a:solidFill>
                  <a:srgbClr val="BBBBBB"/>
                </a:solidFill>
              </a:rPr>
              <a:t>}, mas não tem nenhum atributo além delas, então não há dependência parcial possível.</a:t>
            </a:r>
            <a:endParaRPr sz="1100" b="0" i="0" dirty="0">
              <a:solidFill>
                <a:srgbClr val="BBBBBB"/>
              </a:solidFill>
            </a:endParaRPr>
          </a:p>
        </p:txBody>
      </p:sp>
      <p:sp>
        <p:nvSpPr>
          <p:cNvPr id="53" name="Rectangle 52"/>
          <p:cNvSpPr/>
          <p:nvPr/>
        </p:nvSpPr>
        <p:spPr>
          <a:xfrm>
            <a:off x="7845552" y="4425696"/>
            <a:ext cx="4142232" cy="1170432"/>
          </a:xfrm>
          <a:prstGeom prst="rect">
            <a:avLst/>
          </a:prstGeom>
          <a:solidFill>
            <a:srgbClr val="262626"/>
          </a:solidFill>
          <a:ln w="9525">
            <a:solidFill>
              <a:srgbClr val="C8A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TextBox 53"/>
          <p:cNvSpPr txBox="1"/>
          <p:nvPr/>
        </p:nvSpPr>
        <p:spPr>
          <a:xfrm>
            <a:off x="7955280" y="4517136"/>
            <a:ext cx="3922776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C8A000"/>
                </a:solidFill>
              </a:rPr>
              <a:t>3FN ✔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955280" y="4882896"/>
            <a:ext cx="3922776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 dirty="0">
                <a:solidFill>
                  <a:srgbClr val="BBBBBB"/>
                </a:solidFill>
              </a:rPr>
              <a:t>Sem </a:t>
            </a:r>
            <a:r>
              <a:rPr sz="1100" b="0" i="0" dirty="0" err="1">
                <a:solidFill>
                  <a:srgbClr val="BBBBBB"/>
                </a:solidFill>
              </a:rPr>
              <a:t>dependências</a:t>
            </a:r>
            <a:r>
              <a:rPr sz="1100" b="0" i="0" dirty="0">
                <a:solidFill>
                  <a:srgbClr val="BBBBBB"/>
                </a:solidFill>
              </a:rPr>
              <a:t> </a:t>
            </a:r>
            <a:r>
              <a:rPr sz="1100" b="0" i="0" dirty="0" err="1">
                <a:solidFill>
                  <a:srgbClr val="BBBBBB"/>
                </a:solidFill>
              </a:rPr>
              <a:t>transitivas</a:t>
            </a:r>
            <a:r>
              <a:rPr lang="pt-BR" sz="1100" dirty="0">
                <a:solidFill>
                  <a:srgbClr val="BBBBBB"/>
                </a:solidFill>
              </a:rPr>
              <a:t>; </a:t>
            </a:r>
            <a:r>
              <a:rPr sz="1100" b="0" i="0" dirty="0" err="1">
                <a:solidFill>
                  <a:srgbClr val="BBBBBB"/>
                </a:solidFill>
              </a:rPr>
              <a:t>cada</a:t>
            </a:r>
            <a:r>
              <a:rPr sz="1100" b="0" i="0" dirty="0">
                <a:solidFill>
                  <a:srgbClr val="BBBBBB"/>
                </a:solidFill>
              </a:rPr>
              <a:t> </a:t>
            </a:r>
            <a:r>
              <a:rPr lang="pt-BR" sz="1100" b="0" i="0" dirty="0">
                <a:solidFill>
                  <a:srgbClr val="BBBBBB"/>
                </a:solidFill>
              </a:rPr>
              <a:t>atributo não-primo</a:t>
            </a:r>
            <a:r>
              <a:rPr sz="1100" b="0" i="0" dirty="0">
                <a:solidFill>
                  <a:srgbClr val="BBBBBB"/>
                </a:solidFill>
              </a:rPr>
              <a:t> </a:t>
            </a:r>
            <a:r>
              <a:rPr sz="1100" b="0" i="0" dirty="0" err="1">
                <a:solidFill>
                  <a:srgbClr val="BBBBBB"/>
                </a:solidFill>
              </a:rPr>
              <a:t>depende</a:t>
            </a:r>
            <a:r>
              <a:rPr sz="1100" b="0" i="0" dirty="0">
                <a:solidFill>
                  <a:srgbClr val="BBBBBB"/>
                </a:solidFill>
              </a:rPr>
              <a:t> </a:t>
            </a:r>
            <a:r>
              <a:rPr sz="1100" b="0" i="0" dirty="0" err="1">
                <a:solidFill>
                  <a:srgbClr val="BBBBBB"/>
                </a:solidFill>
              </a:rPr>
              <a:t>somente</a:t>
            </a:r>
            <a:r>
              <a:rPr sz="1100" b="0" i="0" dirty="0">
                <a:solidFill>
                  <a:srgbClr val="BBBBBB"/>
                </a:solidFill>
              </a:rPr>
              <a:t> da PK</a:t>
            </a:r>
            <a:r>
              <a:rPr lang="pt-BR" sz="1100" b="0" i="0" dirty="0">
                <a:solidFill>
                  <a:srgbClr val="BBBBBB"/>
                </a:solidFill>
              </a:rPr>
              <a:t>.</a:t>
            </a:r>
            <a:endParaRPr sz="1100" b="0" i="0" dirty="0">
              <a:solidFill>
                <a:srgbClr val="BBBBBB"/>
              </a:solidFill>
            </a:endParaRPr>
          </a:p>
        </p:txBody>
      </p:sp>
      <p:sp>
        <p:nvSpPr>
          <p:cNvPr id="62" name="Rectangle 31">
            <a:extLst>
              <a:ext uri="{FF2B5EF4-FFF2-40B4-BE49-F238E27FC236}">
                <a16:creationId xmlns:a16="http://schemas.microsoft.com/office/drawing/2014/main" id="{37FABE8D-856E-E8D1-DBA1-B84034936303}"/>
              </a:ext>
            </a:extLst>
          </p:cNvPr>
          <p:cNvSpPr/>
          <p:nvPr/>
        </p:nvSpPr>
        <p:spPr>
          <a:xfrm>
            <a:off x="548640" y="4456176"/>
            <a:ext cx="1181404" cy="441960"/>
          </a:xfrm>
          <a:prstGeom prst="rect">
            <a:avLst/>
          </a:prstGeom>
          <a:solidFill>
            <a:srgbClr val="303030"/>
          </a:solidFill>
          <a:ln w="6350">
            <a:solidFill>
              <a:srgbClr val="3E3E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3" name="TextBox 32">
            <a:extLst>
              <a:ext uri="{FF2B5EF4-FFF2-40B4-BE49-F238E27FC236}">
                <a16:creationId xmlns:a16="http://schemas.microsoft.com/office/drawing/2014/main" id="{B59C236B-F3A9-B607-8776-E72A9AB4329D}"/>
              </a:ext>
            </a:extLst>
          </p:cNvPr>
          <p:cNvSpPr txBox="1"/>
          <p:nvPr/>
        </p:nvSpPr>
        <p:spPr>
          <a:xfrm>
            <a:off x="621792" y="4492752"/>
            <a:ext cx="103510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pt-BR" sz="1100" b="0" i="0" dirty="0">
                <a:solidFill>
                  <a:srgbClr val="FFFFFF"/>
                </a:solidFill>
              </a:rPr>
              <a:t>etnia</a:t>
            </a:r>
            <a:endParaRPr sz="1100" b="0" i="0" dirty="0">
              <a:solidFill>
                <a:srgbClr val="FFFFFF"/>
              </a:solidFill>
            </a:endParaRPr>
          </a:p>
        </p:txBody>
      </p:sp>
      <p:sp>
        <p:nvSpPr>
          <p:cNvPr id="64" name="Rectangle 33">
            <a:extLst>
              <a:ext uri="{FF2B5EF4-FFF2-40B4-BE49-F238E27FC236}">
                <a16:creationId xmlns:a16="http://schemas.microsoft.com/office/drawing/2014/main" id="{5E286F76-0C69-A403-76FD-512BB4AF1DEF}"/>
              </a:ext>
            </a:extLst>
          </p:cNvPr>
          <p:cNvSpPr/>
          <p:nvPr/>
        </p:nvSpPr>
        <p:spPr>
          <a:xfrm>
            <a:off x="1730044" y="4456176"/>
            <a:ext cx="3822192" cy="441960"/>
          </a:xfrm>
          <a:prstGeom prst="rect">
            <a:avLst/>
          </a:prstGeom>
          <a:solidFill>
            <a:srgbClr val="303030"/>
          </a:solidFill>
          <a:ln w="6350">
            <a:solidFill>
              <a:srgbClr val="3E3E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5" name="TextBox 34">
            <a:extLst>
              <a:ext uri="{FF2B5EF4-FFF2-40B4-BE49-F238E27FC236}">
                <a16:creationId xmlns:a16="http://schemas.microsoft.com/office/drawing/2014/main" id="{366E44A2-2369-8140-9B7D-C28325A32F08}"/>
              </a:ext>
            </a:extLst>
          </p:cNvPr>
          <p:cNvSpPr txBox="1"/>
          <p:nvPr/>
        </p:nvSpPr>
        <p:spPr>
          <a:xfrm>
            <a:off x="1803196" y="4492752"/>
            <a:ext cx="3675888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pt-BR" sz="1100" b="0" i="0" u="sng" dirty="0" err="1">
                <a:solidFill>
                  <a:srgbClr val="FFFFFF"/>
                </a:solidFill>
              </a:rPr>
              <a:t>nome_etnia</a:t>
            </a:r>
            <a:endParaRPr sz="1100" b="0" i="0" u="sng" dirty="0">
              <a:solidFill>
                <a:srgbClr val="FFFFFF"/>
              </a:solidFill>
            </a:endParaRPr>
          </a:p>
        </p:txBody>
      </p:sp>
      <p:sp>
        <p:nvSpPr>
          <p:cNvPr id="66" name="Rectangle 35">
            <a:extLst>
              <a:ext uri="{FF2B5EF4-FFF2-40B4-BE49-F238E27FC236}">
                <a16:creationId xmlns:a16="http://schemas.microsoft.com/office/drawing/2014/main" id="{DB517952-6CD6-5BBD-2FC1-450598E0A75A}"/>
              </a:ext>
            </a:extLst>
          </p:cNvPr>
          <p:cNvSpPr/>
          <p:nvPr/>
        </p:nvSpPr>
        <p:spPr>
          <a:xfrm>
            <a:off x="5552236" y="4456176"/>
            <a:ext cx="1945843" cy="441960"/>
          </a:xfrm>
          <a:prstGeom prst="rect">
            <a:avLst/>
          </a:prstGeom>
          <a:solidFill>
            <a:srgbClr val="303030"/>
          </a:solidFill>
          <a:ln w="6350">
            <a:solidFill>
              <a:srgbClr val="3E3E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7" name="TextBox 36">
            <a:extLst>
              <a:ext uri="{FF2B5EF4-FFF2-40B4-BE49-F238E27FC236}">
                <a16:creationId xmlns:a16="http://schemas.microsoft.com/office/drawing/2014/main" id="{9ECA4729-4C02-3DCC-800B-5B2DCB76625C}"/>
              </a:ext>
            </a:extLst>
          </p:cNvPr>
          <p:cNvSpPr txBox="1"/>
          <p:nvPr/>
        </p:nvSpPr>
        <p:spPr>
          <a:xfrm>
            <a:off x="5625388" y="4492752"/>
            <a:ext cx="1799539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pt-BR" sz="1100" b="0" i="0" dirty="0" err="1">
                <a:solidFill>
                  <a:srgbClr val="FFFFFF"/>
                </a:solidFill>
              </a:rPr>
              <a:t>nome_etnia</a:t>
            </a:r>
            <a:r>
              <a:rPr lang="pt-BR" sz="1100" b="0" i="0" dirty="0">
                <a:solidFill>
                  <a:srgbClr val="FFFFFF"/>
                </a:solidFill>
              </a:rPr>
              <a:t> UNIQUE</a:t>
            </a:r>
            <a:endParaRPr sz="1100" b="0" i="0" dirty="0">
              <a:solidFill>
                <a:srgbClr val="FFFFFF"/>
              </a:solidFill>
            </a:endParaRPr>
          </a:p>
        </p:txBody>
      </p:sp>
      <p:sp>
        <p:nvSpPr>
          <p:cNvPr id="68" name="Rectangle 31">
            <a:extLst>
              <a:ext uri="{FF2B5EF4-FFF2-40B4-BE49-F238E27FC236}">
                <a16:creationId xmlns:a16="http://schemas.microsoft.com/office/drawing/2014/main" id="{70CD947A-9028-4AE4-6C6D-52F218036C75}"/>
              </a:ext>
            </a:extLst>
          </p:cNvPr>
          <p:cNvSpPr/>
          <p:nvPr/>
        </p:nvSpPr>
        <p:spPr>
          <a:xfrm>
            <a:off x="548640" y="5340096"/>
            <a:ext cx="1181404" cy="441960"/>
          </a:xfrm>
          <a:prstGeom prst="rect">
            <a:avLst/>
          </a:prstGeom>
          <a:solidFill>
            <a:srgbClr val="303030"/>
          </a:solidFill>
          <a:ln w="6350">
            <a:solidFill>
              <a:srgbClr val="3E3E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9" name="TextBox 32">
            <a:extLst>
              <a:ext uri="{FF2B5EF4-FFF2-40B4-BE49-F238E27FC236}">
                <a16:creationId xmlns:a16="http://schemas.microsoft.com/office/drawing/2014/main" id="{E6863B2E-FE2F-3F07-8852-17E24003DE4D}"/>
              </a:ext>
            </a:extLst>
          </p:cNvPr>
          <p:cNvSpPr txBox="1"/>
          <p:nvPr/>
        </p:nvSpPr>
        <p:spPr>
          <a:xfrm>
            <a:off x="621792" y="5376672"/>
            <a:ext cx="103510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pt-BR" sz="1100" b="0" i="0" dirty="0">
                <a:solidFill>
                  <a:srgbClr val="FFFFFF"/>
                </a:solidFill>
              </a:rPr>
              <a:t>pais</a:t>
            </a:r>
            <a:endParaRPr sz="1100" b="0" i="0" dirty="0">
              <a:solidFill>
                <a:srgbClr val="FFFFFF"/>
              </a:solidFill>
            </a:endParaRPr>
          </a:p>
        </p:txBody>
      </p:sp>
      <p:sp>
        <p:nvSpPr>
          <p:cNvPr id="70" name="Rectangle 33">
            <a:extLst>
              <a:ext uri="{FF2B5EF4-FFF2-40B4-BE49-F238E27FC236}">
                <a16:creationId xmlns:a16="http://schemas.microsoft.com/office/drawing/2014/main" id="{7D5C7BEA-F6F9-AEED-315E-49CD9B53A252}"/>
              </a:ext>
            </a:extLst>
          </p:cNvPr>
          <p:cNvSpPr/>
          <p:nvPr/>
        </p:nvSpPr>
        <p:spPr>
          <a:xfrm>
            <a:off x="1730044" y="5340096"/>
            <a:ext cx="3822192" cy="441960"/>
          </a:xfrm>
          <a:prstGeom prst="rect">
            <a:avLst/>
          </a:prstGeom>
          <a:solidFill>
            <a:srgbClr val="303030"/>
          </a:solidFill>
          <a:ln w="6350">
            <a:solidFill>
              <a:srgbClr val="3E3E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1" name="TextBox 34">
            <a:extLst>
              <a:ext uri="{FF2B5EF4-FFF2-40B4-BE49-F238E27FC236}">
                <a16:creationId xmlns:a16="http://schemas.microsoft.com/office/drawing/2014/main" id="{3A305D6A-8C76-B719-C0AF-1F10367D6AF2}"/>
              </a:ext>
            </a:extLst>
          </p:cNvPr>
          <p:cNvSpPr txBox="1"/>
          <p:nvPr/>
        </p:nvSpPr>
        <p:spPr>
          <a:xfrm>
            <a:off x="1803196" y="5376672"/>
            <a:ext cx="3675888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pt-BR" sz="1100" b="0" i="0" u="sng" dirty="0" err="1">
                <a:solidFill>
                  <a:srgbClr val="FFFFFF"/>
                </a:solidFill>
              </a:rPr>
              <a:t>nome_pais</a:t>
            </a:r>
            <a:endParaRPr sz="1100" b="0" i="0" u="sng" dirty="0">
              <a:solidFill>
                <a:srgbClr val="FFFFFF"/>
              </a:solidFill>
            </a:endParaRPr>
          </a:p>
        </p:txBody>
      </p:sp>
      <p:sp>
        <p:nvSpPr>
          <p:cNvPr id="72" name="Rectangle 35">
            <a:extLst>
              <a:ext uri="{FF2B5EF4-FFF2-40B4-BE49-F238E27FC236}">
                <a16:creationId xmlns:a16="http://schemas.microsoft.com/office/drawing/2014/main" id="{1D548468-90B4-325E-0885-B85FC38A0EA2}"/>
              </a:ext>
            </a:extLst>
          </p:cNvPr>
          <p:cNvSpPr/>
          <p:nvPr/>
        </p:nvSpPr>
        <p:spPr>
          <a:xfrm>
            <a:off x="5552236" y="5340096"/>
            <a:ext cx="1945843" cy="441960"/>
          </a:xfrm>
          <a:prstGeom prst="rect">
            <a:avLst/>
          </a:prstGeom>
          <a:solidFill>
            <a:srgbClr val="303030"/>
          </a:solidFill>
          <a:ln w="6350">
            <a:solidFill>
              <a:srgbClr val="3E3E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3" name="TextBox 36">
            <a:extLst>
              <a:ext uri="{FF2B5EF4-FFF2-40B4-BE49-F238E27FC236}">
                <a16:creationId xmlns:a16="http://schemas.microsoft.com/office/drawing/2014/main" id="{4B9728AE-F606-C38E-25DC-F5F612C0E859}"/>
              </a:ext>
            </a:extLst>
          </p:cNvPr>
          <p:cNvSpPr txBox="1"/>
          <p:nvPr/>
        </p:nvSpPr>
        <p:spPr>
          <a:xfrm>
            <a:off x="5625388" y="5376672"/>
            <a:ext cx="1799539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pt-BR" sz="1100" b="0" i="0" dirty="0">
                <a:solidFill>
                  <a:srgbClr val="FFFFFF"/>
                </a:solidFill>
              </a:rPr>
              <a:t>UNIQUE</a:t>
            </a:r>
            <a:endParaRPr sz="1100" b="0" i="0" dirty="0">
              <a:solidFill>
                <a:srgbClr val="FFFFFF"/>
              </a:solidFill>
            </a:endParaRPr>
          </a:p>
        </p:txBody>
      </p:sp>
      <p:sp>
        <p:nvSpPr>
          <p:cNvPr id="74" name="Rectangle 37">
            <a:extLst>
              <a:ext uri="{FF2B5EF4-FFF2-40B4-BE49-F238E27FC236}">
                <a16:creationId xmlns:a16="http://schemas.microsoft.com/office/drawing/2014/main" id="{EB61D514-FB91-A422-3D8B-29B6CD496BDD}"/>
              </a:ext>
            </a:extLst>
          </p:cNvPr>
          <p:cNvSpPr/>
          <p:nvPr/>
        </p:nvSpPr>
        <p:spPr>
          <a:xfrm>
            <a:off x="548640" y="5782056"/>
            <a:ext cx="1181404" cy="441960"/>
          </a:xfrm>
          <a:prstGeom prst="rect">
            <a:avLst/>
          </a:prstGeom>
          <a:solidFill>
            <a:srgbClr val="262626"/>
          </a:solidFill>
          <a:ln w="6350">
            <a:solidFill>
              <a:srgbClr val="3E3E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5" name="TextBox 38">
            <a:extLst>
              <a:ext uri="{FF2B5EF4-FFF2-40B4-BE49-F238E27FC236}">
                <a16:creationId xmlns:a16="http://schemas.microsoft.com/office/drawing/2014/main" id="{EC2AF68F-0425-4C67-4E58-8528E5559945}"/>
              </a:ext>
            </a:extLst>
          </p:cNvPr>
          <p:cNvSpPr txBox="1"/>
          <p:nvPr/>
        </p:nvSpPr>
        <p:spPr>
          <a:xfrm>
            <a:off x="621792" y="5818632"/>
            <a:ext cx="103510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pt-BR" sz="1100" b="0" i="0" dirty="0" err="1">
                <a:solidFill>
                  <a:srgbClr val="FFFFFF"/>
                </a:solidFill>
              </a:rPr>
              <a:t>religiao</a:t>
            </a:r>
            <a:r>
              <a:rPr lang="pt-BR" sz="1100" b="0" i="0" dirty="0">
                <a:solidFill>
                  <a:srgbClr val="FFFFFF"/>
                </a:solidFill>
              </a:rPr>
              <a:t>	</a:t>
            </a:r>
            <a:endParaRPr sz="1100" b="0" i="0" dirty="0">
              <a:solidFill>
                <a:srgbClr val="FFFFFF"/>
              </a:solidFill>
            </a:endParaRPr>
          </a:p>
        </p:txBody>
      </p:sp>
      <p:sp>
        <p:nvSpPr>
          <p:cNvPr id="76" name="Rectangle 39">
            <a:extLst>
              <a:ext uri="{FF2B5EF4-FFF2-40B4-BE49-F238E27FC236}">
                <a16:creationId xmlns:a16="http://schemas.microsoft.com/office/drawing/2014/main" id="{01E50267-944B-EAAF-B0D6-BC235EB97197}"/>
              </a:ext>
            </a:extLst>
          </p:cNvPr>
          <p:cNvSpPr/>
          <p:nvPr/>
        </p:nvSpPr>
        <p:spPr>
          <a:xfrm>
            <a:off x="1730044" y="5782056"/>
            <a:ext cx="3822192" cy="441960"/>
          </a:xfrm>
          <a:prstGeom prst="rect">
            <a:avLst/>
          </a:prstGeom>
          <a:solidFill>
            <a:srgbClr val="262626"/>
          </a:solidFill>
          <a:ln w="6350">
            <a:solidFill>
              <a:srgbClr val="3E3E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7" name="TextBox 40">
            <a:extLst>
              <a:ext uri="{FF2B5EF4-FFF2-40B4-BE49-F238E27FC236}">
                <a16:creationId xmlns:a16="http://schemas.microsoft.com/office/drawing/2014/main" id="{7FB59E82-F42A-8B35-B683-8FFAD468C712}"/>
              </a:ext>
            </a:extLst>
          </p:cNvPr>
          <p:cNvSpPr txBox="1"/>
          <p:nvPr/>
        </p:nvSpPr>
        <p:spPr>
          <a:xfrm>
            <a:off x="1803196" y="5818632"/>
            <a:ext cx="3675888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pt-BR" sz="1100" b="0" i="0" u="sng" dirty="0" err="1">
                <a:solidFill>
                  <a:srgbClr val="FFFFFF"/>
                </a:solidFill>
              </a:rPr>
              <a:t>nome_religiao</a:t>
            </a:r>
            <a:endParaRPr sz="1100" b="0" i="0" u="sng" dirty="0">
              <a:solidFill>
                <a:srgbClr val="FFFFFF"/>
              </a:solidFill>
            </a:endParaRPr>
          </a:p>
        </p:txBody>
      </p:sp>
      <p:sp>
        <p:nvSpPr>
          <p:cNvPr id="78" name="Rectangle 41">
            <a:extLst>
              <a:ext uri="{FF2B5EF4-FFF2-40B4-BE49-F238E27FC236}">
                <a16:creationId xmlns:a16="http://schemas.microsoft.com/office/drawing/2014/main" id="{28206C83-71C5-C18A-CD36-1A9D9D7A3DA6}"/>
              </a:ext>
            </a:extLst>
          </p:cNvPr>
          <p:cNvSpPr/>
          <p:nvPr/>
        </p:nvSpPr>
        <p:spPr>
          <a:xfrm>
            <a:off x="5552236" y="5782056"/>
            <a:ext cx="1945843" cy="441960"/>
          </a:xfrm>
          <a:prstGeom prst="rect">
            <a:avLst/>
          </a:prstGeom>
          <a:solidFill>
            <a:srgbClr val="262626"/>
          </a:solidFill>
          <a:ln w="6350">
            <a:solidFill>
              <a:srgbClr val="3E3E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9" name="TextBox 42">
            <a:extLst>
              <a:ext uri="{FF2B5EF4-FFF2-40B4-BE49-F238E27FC236}">
                <a16:creationId xmlns:a16="http://schemas.microsoft.com/office/drawing/2014/main" id="{042DDF02-2FDA-44FB-0059-2AE7D426EB88}"/>
              </a:ext>
            </a:extLst>
          </p:cNvPr>
          <p:cNvSpPr txBox="1"/>
          <p:nvPr/>
        </p:nvSpPr>
        <p:spPr>
          <a:xfrm>
            <a:off x="5625388" y="5818632"/>
            <a:ext cx="1799539" cy="368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 dirty="0">
                <a:solidFill>
                  <a:srgbClr val="FFFFFF"/>
                </a:solidFill>
              </a:rPr>
              <a:t>UNIQUE (v, c, e)</a:t>
            </a:r>
          </a:p>
        </p:txBody>
      </p:sp>
      <p:sp>
        <p:nvSpPr>
          <p:cNvPr id="80" name="Rectangle 37">
            <a:extLst>
              <a:ext uri="{FF2B5EF4-FFF2-40B4-BE49-F238E27FC236}">
                <a16:creationId xmlns:a16="http://schemas.microsoft.com/office/drawing/2014/main" id="{B85A71C3-73F5-9203-0B3F-36E7A4CA8171}"/>
              </a:ext>
            </a:extLst>
          </p:cNvPr>
          <p:cNvSpPr/>
          <p:nvPr/>
        </p:nvSpPr>
        <p:spPr>
          <a:xfrm>
            <a:off x="554736" y="4905756"/>
            <a:ext cx="1181404" cy="441960"/>
          </a:xfrm>
          <a:prstGeom prst="rect">
            <a:avLst/>
          </a:prstGeom>
          <a:solidFill>
            <a:srgbClr val="262626"/>
          </a:solidFill>
          <a:ln w="6350">
            <a:solidFill>
              <a:srgbClr val="3E3E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1" name="TextBox 38">
            <a:extLst>
              <a:ext uri="{FF2B5EF4-FFF2-40B4-BE49-F238E27FC236}">
                <a16:creationId xmlns:a16="http://schemas.microsoft.com/office/drawing/2014/main" id="{EF135895-3FDF-02F2-C2B1-243A6F5A656E}"/>
              </a:ext>
            </a:extLst>
          </p:cNvPr>
          <p:cNvSpPr txBox="1"/>
          <p:nvPr/>
        </p:nvSpPr>
        <p:spPr>
          <a:xfrm>
            <a:off x="627888" y="4942332"/>
            <a:ext cx="103510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pt-BR" sz="1100" b="0" i="0" dirty="0" err="1">
                <a:solidFill>
                  <a:srgbClr val="FFFFFF"/>
                </a:solidFill>
              </a:rPr>
              <a:t>orient_sexual</a:t>
            </a:r>
            <a:endParaRPr sz="1100" b="0" i="0" dirty="0">
              <a:solidFill>
                <a:srgbClr val="FFFFFF"/>
              </a:solidFill>
            </a:endParaRPr>
          </a:p>
        </p:txBody>
      </p:sp>
      <p:sp>
        <p:nvSpPr>
          <p:cNvPr id="82" name="Rectangle 39">
            <a:extLst>
              <a:ext uri="{FF2B5EF4-FFF2-40B4-BE49-F238E27FC236}">
                <a16:creationId xmlns:a16="http://schemas.microsoft.com/office/drawing/2014/main" id="{E819E13F-9AC6-CC82-01AF-75FE62055935}"/>
              </a:ext>
            </a:extLst>
          </p:cNvPr>
          <p:cNvSpPr/>
          <p:nvPr/>
        </p:nvSpPr>
        <p:spPr>
          <a:xfrm>
            <a:off x="1736140" y="4905756"/>
            <a:ext cx="3822192" cy="441960"/>
          </a:xfrm>
          <a:prstGeom prst="rect">
            <a:avLst/>
          </a:prstGeom>
          <a:solidFill>
            <a:srgbClr val="262626"/>
          </a:solidFill>
          <a:ln w="6350">
            <a:solidFill>
              <a:srgbClr val="3E3E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3" name="TextBox 40">
            <a:extLst>
              <a:ext uri="{FF2B5EF4-FFF2-40B4-BE49-F238E27FC236}">
                <a16:creationId xmlns:a16="http://schemas.microsoft.com/office/drawing/2014/main" id="{2E2FED19-A233-E289-5A78-2C25492F2F46}"/>
              </a:ext>
            </a:extLst>
          </p:cNvPr>
          <p:cNvSpPr txBox="1"/>
          <p:nvPr/>
        </p:nvSpPr>
        <p:spPr>
          <a:xfrm>
            <a:off x="1809292" y="4942332"/>
            <a:ext cx="3675888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pt-BR" sz="1100" b="0" i="0" u="sng" dirty="0" err="1">
                <a:solidFill>
                  <a:srgbClr val="FFFFFF"/>
                </a:solidFill>
              </a:rPr>
              <a:t>nome_orient</a:t>
            </a:r>
            <a:endParaRPr sz="1100" b="0" i="0" u="sng" dirty="0">
              <a:solidFill>
                <a:srgbClr val="FFFFFF"/>
              </a:solidFill>
            </a:endParaRPr>
          </a:p>
        </p:txBody>
      </p:sp>
      <p:sp>
        <p:nvSpPr>
          <p:cNvPr id="84" name="Rectangle 41">
            <a:extLst>
              <a:ext uri="{FF2B5EF4-FFF2-40B4-BE49-F238E27FC236}">
                <a16:creationId xmlns:a16="http://schemas.microsoft.com/office/drawing/2014/main" id="{9E63DF6A-4840-F49C-8611-0A7B979C409C}"/>
              </a:ext>
            </a:extLst>
          </p:cNvPr>
          <p:cNvSpPr/>
          <p:nvPr/>
        </p:nvSpPr>
        <p:spPr>
          <a:xfrm>
            <a:off x="5558332" y="4905756"/>
            <a:ext cx="1945843" cy="441960"/>
          </a:xfrm>
          <a:prstGeom prst="rect">
            <a:avLst/>
          </a:prstGeom>
          <a:solidFill>
            <a:srgbClr val="262626"/>
          </a:solidFill>
          <a:ln w="6350">
            <a:solidFill>
              <a:srgbClr val="3E3E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5" name="TextBox 42">
            <a:extLst>
              <a:ext uri="{FF2B5EF4-FFF2-40B4-BE49-F238E27FC236}">
                <a16:creationId xmlns:a16="http://schemas.microsoft.com/office/drawing/2014/main" id="{213E20DE-6A90-32B6-8908-B5B75597E602}"/>
              </a:ext>
            </a:extLst>
          </p:cNvPr>
          <p:cNvSpPr txBox="1"/>
          <p:nvPr/>
        </p:nvSpPr>
        <p:spPr>
          <a:xfrm>
            <a:off x="5631484" y="4942332"/>
            <a:ext cx="1799539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pt-BR" sz="1100" b="0" i="0" dirty="0">
                <a:solidFill>
                  <a:srgbClr val="FFFFFF"/>
                </a:solidFill>
              </a:rPr>
              <a:t>UNIQUE </a:t>
            </a:r>
            <a:r>
              <a:rPr lang="pt-BR" sz="1100" b="0" i="0" dirty="0" err="1">
                <a:solidFill>
                  <a:srgbClr val="FFFFFF"/>
                </a:solidFill>
              </a:rPr>
              <a:t>nome_orient</a:t>
            </a:r>
            <a:endParaRPr sz="1100" b="0" i="0" dirty="0">
              <a:solidFill>
                <a:srgbClr val="FFFFFF"/>
              </a:solidFill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97185"/>
    </mc:Choice>
    <mc:Fallback xmlns="">
      <p:transition spd="slow" advTm="97185"/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47472" cy="6858000"/>
          </a:xfrm>
          <a:prstGeom prst="rect">
            <a:avLst/>
          </a:prstGeom>
          <a:solidFill>
            <a:srgbClr val="C8A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6739128"/>
            <a:ext cx="12188952" cy="118872"/>
          </a:xfrm>
          <a:prstGeom prst="rect">
            <a:avLst/>
          </a:prstGeom>
          <a:solidFill>
            <a:srgbClr val="C8A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548640" y="1115568"/>
            <a:ext cx="11365992" cy="19050"/>
          </a:xfrm>
          <a:prstGeom prst="rect">
            <a:avLst/>
          </a:prstGeom>
          <a:solidFill>
            <a:srgbClr val="C8A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48640" y="228600"/>
            <a:ext cx="11365992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C8A000"/>
                </a:solidFill>
              </a:rPr>
              <a:t>4  Implementação Física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207008"/>
            <a:ext cx="1136599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1">
                <a:solidFill>
                  <a:srgbClr val="BBBBBB"/>
                </a:solidFill>
              </a:rPr>
              <a:t>PostgreSQL 16 via Docker com constraints que garantem integridade de domínio, referencial e de negócio desde o momento da inserção.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1810512"/>
            <a:ext cx="3715512" cy="777240"/>
          </a:xfrm>
          <a:prstGeom prst="rect">
            <a:avLst/>
          </a:prstGeom>
          <a:solidFill>
            <a:srgbClr val="352A00"/>
          </a:solidFill>
          <a:ln w="9525">
            <a:solidFill>
              <a:srgbClr val="C8A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48640" y="1874520"/>
            <a:ext cx="3715512" cy="42748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C8A000"/>
                </a:solidFill>
              </a:rPr>
              <a:t>PostgreSQL 16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214676"/>
            <a:ext cx="3715512" cy="3730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BBBBBB"/>
                </a:solidFill>
              </a:rPr>
              <a:t>SGBD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73880" y="1810512"/>
            <a:ext cx="3715512" cy="777240"/>
          </a:xfrm>
          <a:prstGeom prst="rect">
            <a:avLst/>
          </a:prstGeom>
          <a:solidFill>
            <a:srgbClr val="352A00"/>
          </a:solidFill>
          <a:ln w="9525">
            <a:solidFill>
              <a:srgbClr val="C8A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373880" y="1874520"/>
            <a:ext cx="3715512" cy="42748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C8A000"/>
                </a:solidFill>
              </a:rPr>
              <a:t>oscar-db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73880" y="2214676"/>
            <a:ext cx="3715512" cy="3730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BBBBBB"/>
                </a:solidFill>
              </a:rPr>
              <a:t>container Docker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99120" y="1810512"/>
            <a:ext cx="3715512" cy="777240"/>
          </a:xfrm>
          <a:prstGeom prst="rect">
            <a:avLst/>
          </a:prstGeom>
          <a:solidFill>
            <a:srgbClr val="352A00"/>
          </a:solidFill>
          <a:ln w="9525">
            <a:solidFill>
              <a:srgbClr val="C8A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8199120" y="1874520"/>
            <a:ext cx="3715512" cy="42748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C8A000"/>
                </a:solidFill>
              </a:rPr>
              <a:t>oscar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199120" y="2214676"/>
            <a:ext cx="3715512" cy="3730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BBBBBB"/>
                </a:solidFill>
              </a:rPr>
              <a:t>nome do banco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2724912"/>
            <a:ext cx="2727838" cy="358140"/>
          </a:xfrm>
          <a:prstGeom prst="rect">
            <a:avLst/>
          </a:prstGeom>
          <a:solidFill>
            <a:srgbClr val="C8A000"/>
          </a:solidFill>
          <a:ln w="6350">
            <a:solidFill>
              <a:srgbClr val="3E3E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21792" y="2761488"/>
            <a:ext cx="2581534" cy="2849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1A1A"/>
                </a:solidFill>
              </a:rPr>
              <a:t>Constraint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276478" y="2724912"/>
            <a:ext cx="5228356" cy="358140"/>
          </a:xfrm>
          <a:prstGeom prst="rect">
            <a:avLst/>
          </a:prstGeom>
          <a:solidFill>
            <a:srgbClr val="C8A000"/>
          </a:solidFill>
          <a:ln w="6350">
            <a:solidFill>
              <a:srgbClr val="3E3E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3349630" y="2761488"/>
            <a:ext cx="5082052" cy="2849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1A1A"/>
                </a:solidFill>
              </a:rPr>
              <a:t>Regra implementada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504834" y="2724912"/>
            <a:ext cx="3409797" cy="358140"/>
          </a:xfrm>
          <a:prstGeom prst="rect">
            <a:avLst/>
          </a:prstGeom>
          <a:solidFill>
            <a:srgbClr val="C8A000"/>
          </a:solidFill>
          <a:ln w="6350">
            <a:solidFill>
              <a:srgbClr val="3E3E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8577986" y="2761488"/>
            <a:ext cx="3263493" cy="2849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1A1A"/>
                </a:solidFill>
              </a:rPr>
              <a:t>Motivação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48640" y="3083052"/>
            <a:ext cx="2727838" cy="358140"/>
          </a:xfrm>
          <a:prstGeom prst="rect">
            <a:avLst/>
          </a:prstGeom>
          <a:solidFill>
            <a:srgbClr val="262626"/>
          </a:solidFill>
          <a:ln w="6350">
            <a:solidFill>
              <a:srgbClr val="3E3E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621792" y="3119628"/>
            <a:ext cx="2581534" cy="2849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etnia NOT NULL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276478" y="3083052"/>
            <a:ext cx="5228356" cy="358140"/>
          </a:xfrm>
          <a:prstGeom prst="rect">
            <a:avLst/>
          </a:prstGeom>
          <a:solidFill>
            <a:srgbClr val="262626"/>
          </a:solidFill>
          <a:ln w="6350">
            <a:solidFill>
              <a:srgbClr val="3E3E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3349630" y="3119628"/>
            <a:ext cx="5082052" cy="2849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Campo demográfico obrigatório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504834" y="3083052"/>
            <a:ext cx="3409797" cy="358140"/>
          </a:xfrm>
          <a:prstGeom prst="rect">
            <a:avLst/>
          </a:prstGeom>
          <a:solidFill>
            <a:srgbClr val="262626"/>
          </a:solidFill>
          <a:ln w="6350">
            <a:solidFill>
              <a:srgbClr val="3E3E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8577986" y="3119628"/>
            <a:ext cx="3263493" cy="2849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Dado central da análise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48640" y="3441192"/>
            <a:ext cx="2727838" cy="358140"/>
          </a:xfrm>
          <a:prstGeom prst="rect">
            <a:avLst/>
          </a:prstGeom>
          <a:solidFill>
            <a:srgbClr val="303030"/>
          </a:solidFill>
          <a:ln w="6350">
            <a:solidFill>
              <a:srgbClr val="3E3E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621792" y="3477768"/>
            <a:ext cx="2581534" cy="2849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ano &gt;= 1927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276478" y="3441192"/>
            <a:ext cx="5228356" cy="358140"/>
          </a:xfrm>
          <a:prstGeom prst="rect">
            <a:avLst/>
          </a:prstGeom>
          <a:solidFill>
            <a:srgbClr val="303030"/>
          </a:solidFill>
          <a:ln w="6350">
            <a:solidFill>
              <a:srgbClr val="3E3E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3349630" y="3477768"/>
            <a:ext cx="5082052" cy="2849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Oscar não existia antes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504834" y="3441192"/>
            <a:ext cx="3409797" cy="358140"/>
          </a:xfrm>
          <a:prstGeom prst="rect">
            <a:avLst/>
          </a:prstGeom>
          <a:solidFill>
            <a:srgbClr val="303030"/>
          </a:solidFill>
          <a:ln w="6350">
            <a:solidFill>
              <a:srgbClr val="3E3E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8577986" y="3477768"/>
            <a:ext cx="3263493" cy="2849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Integridade de domínio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48640" y="3799332"/>
            <a:ext cx="2727838" cy="358140"/>
          </a:xfrm>
          <a:prstGeom prst="rect">
            <a:avLst/>
          </a:prstGeom>
          <a:solidFill>
            <a:srgbClr val="262626"/>
          </a:solidFill>
          <a:ln w="6350">
            <a:solidFill>
              <a:srgbClr val="3E3E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621792" y="3835908"/>
            <a:ext cx="2581534" cy="2849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titulo UNIQUE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276478" y="3799332"/>
            <a:ext cx="5228356" cy="358140"/>
          </a:xfrm>
          <a:prstGeom prst="rect">
            <a:avLst/>
          </a:prstGeom>
          <a:solidFill>
            <a:srgbClr val="262626"/>
          </a:solidFill>
          <a:ln w="6350">
            <a:solidFill>
              <a:srgbClr val="3E3E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3349630" y="3835908"/>
            <a:ext cx="5082052" cy="2849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Cada filme é único no catálogo</a:t>
            </a:r>
          </a:p>
        </p:txBody>
      </p:sp>
      <p:sp>
        <p:nvSpPr>
          <p:cNvPr id="39" name="Rectangle 38"/>
          <p:cNvSpPr/>
          <p:nvPr/>
        </p:nvSpPr>
        <p:spPr>
          <a:xfrm>
            <a:off x="8504834" y="3799332"/>
            <a:ext cx="3409797" cy="358140"/>
          </a:xfrm>
          <a:prstGeom prst="rect">
            <a:avLst/>
          </a:prstGeom>
          <a:solidFill>
            <a:srgbClr val="262626"/>
          </a:solidFill>
          <a:ln w="6350">
            <a:solidFill>
              <a:srgbClr val="3E3E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8577986" y="3835908"/>
            <a:ext cx="3263493" cy="2849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Evitar duplicatas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48640" y="4157472"/>
            <a:ext cx="2727838" cy="358140"/>
          </a:xfrm>
          <a:prstGeom prst="rect">
            <a:avLst/>
          </a:prstGeom>
          <a:solidFill>
            <a:srgbClr val="303030"/>
          </a:solidFill>
          <a:ln w="6350">
            <a:solidFill>
              <a:srgbClr val="3E3E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621792" y="4194048"/>
            <a:ext cx="2581534" cy="2849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FK ON DELETE RESTRICT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276478" y="4157472"/>
            <a:ext cx="5228356" cy="358140"/>
          </a:xfrm>
          <a:prstGeom prst="rect">
            <a:avLst/>
          </a:prstGeom>
          <a:solidFill>
            <a:srgbClr val="303030"/>
          </a:solidFill>
          <a:ln w="6350">
            <a:solidFill>
              <a:srgbClr val="3E3E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3349630" y="4194048"/>
            <a:ext cx="5082052" cy="2849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Impede remoção de dimensão em uso</a:t>
            </a:r>
          </a:p>
        </p:txBody>
      </p:sp>
      <p:sp>
        <p:nvSpPr>
          <p:cNvPr id="45" name="Rectangle 44"/>
          <p:cNvSpPr/>
          <p:nvPr/>
        </p:nvSpPr>
        <p:spPr>
          <a:xfrm>
            <a:off x="8504834" y="4157472"/>
            <a:ext cx="3409797" cy="358140"/>
          </a:xfrm>
          <a:prstGeom prst="rect">
            <a:avLst/>
          </a:prstGeom>
          <a:solidFill>
            <a:srgbClr val="303030"/>
          </a:solidFill>
          <a:ln w="6350">
            <a:solidFill>
              <a:srgbClr val="3E3E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TextBox 45"/>
          <p:cNvSpPr txBox="1"/>
          <p:nvPr/>
        </p:nvSpPr>
        <p:spPr>
          <a:xfrm>
            <a:off x="8577986" y="4194048"/>
            <a:ext cx="3263493" cy="2849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Integridade referencial</a:t>
            </a:r>
          </a:p>
        </p:txBody>
      </p:sp>
      <p:sp>
        <p:nvSpPr>
          <p:cNvPr id="47" name="Rectangle 46"/>
          <p:cNvSpPr/>
          <p:nvPr/>
        </p:nvSpPr>
        <p:spPr>
          <a:xfrm>
            <a:off x="548640" y="4515612"/>
            <a:ext cx="2727838" cy="358140"/>
          </a:xfrm>
          <a:prstGeom prst="rect">
            <a:avLst/>
          </a:prstGeom>
          <a:solidFill>
            <a:srgbClr val="262626"/>
          </a:solidFill>
          <a:ln w="6350">
            <a:solidFill>
              <a:srgbClr val="3E3E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/>
          <p:cNvSpPr txBox="1"/>
          <p:nvPr/>
        </p:nvSpPr>
        <p:spPr>
          <a:xfrm>
            <a:off x="621792" y="4552188"/>
            <a:ext cx="2581534" cy="2849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UNIQUE (v, c, e)</a:t>
            </a:r>
          </a:p>
        </p:txBody>
      </p:sp>
      <p:sp>
        <p:nvSpPr>
          <p:cNvPr id="49" name="Rectangle 48"/>
          <p:cNvSpPr/>
          <p:nvPr/>
        </p:nvSpPr>
        <p:spPr>
          <a:xfrm>
            <a:off x="3276478" y="4515612"/>
            <a:ext cx="5228356" cy="358140"/>
          </a:xfrm>
          <a:prstGeom prst="rect">
            <a:avLst/>
          </a:prstGeom>
          <a:solidFill>
            <a:srgbClr val="262626"/>
          </a:solidFill>
          <a:ln w="6350">
            <a:solidFill>
              <a:srgbClr val="3E3E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TextBox 49"/>
          <p:cNvSpPr txBox="1"/>
          <p:nvPr/>
        </p:nvSpPr>
        <p:spPr>
          <a:xfrm>
            <a:off x="3349630" y="4552188"/>
            <a:ext cx="5082052" cy="2849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1 pessoa não ganha a mesma categoria 2× na mesma edição</a:t>
            </a:r>
          </a:p>
        </p:txBody>
      </p:sp>
      <p:sp>
        <p:nvSpPr>
          <p:cNvPr id="51" name="Rectangle 50"/>
          <p:cNvSpPr/>
          <p:nvPr/>
        </p:nvSpPr>
        <p:spPr>
          <a:xfrm>
            <a:off x="8504834" y="4515612"/>
            <a:ext cx="3409797" cy="358140"/>
          </a:xfrm>
          <a:prstGeom prst="rect">
            <a:avLst/>
          </a:prstGeom>
          <a:solidFill>
            <a:srgbClr val="262626"/>
          </a:solidFill>
          <a:ln w="6350">
            <a:solidFill>
              <a:srgbClr val="3E3E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TextBox 51"/>
          <p:cNvSpPr txBox="1"/>
          <p:nvPr/>
        </p:nvSpPr>
        <p:spPr>
          <a:xfrm>
            <a:off x="8577986" y="4552188"/>
            <a:ext cx="3263493" cy="2849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Regra de negócio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48640" y="4956048"/>
            <a:ext cx="1136599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C8A000"/>
                </a:solidFill>
              </a:rPr>
              <a:t>Índices em premio para acelerar JOINs analíticos: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48640" y="5321808"/>
            <a:ext cx="2772918" cy="384048"/>
          </a:xfrm>
          <a:prstGeom prst="rect">
            <a:avLst/>
          </a:prstGeom>
          <a:solidFill>
            <a:srgbClr val="262626"/>
          </a:solidFill>
          <a:ln w="9525">
            <a:solidFill>
              <a:srgbClr val="C8A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TextBox 54"/>
          <p:cNvSpPr txBox="1"/>
          <p:nvPr/>
        </p:nvSpPr>
        <p:spPr>
          <a:xfrm>
            <a:off x="594360" y="5358384"/>
            <a:ext cx="2681478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BBBBBB"/>
                </a:solidFill>
              </a:rPr>
              <a:t>idx_premio_vencedor</a:t>
            </a:r>
          </a:p>
        </p:txBody>
      </p:sp>
      <p:sp>
        <p:nvSpPr>
          <p:cNvPr id="56" name="Rectangle 55"/>
          <p:cNvSpPr/>
          <p:nvPr/>
        </p:nvSpPr>
        <p:spPr>
          <a:xfrm>
            <a:off x="3412998" y="5321808"/>
            <a:ext cx="2772918" cy="384048"/>
          </a:xfrm>
          <a:prstGeom prst="rect">
            <a:avLst/>
          </a:prstGeom>
          <a:solidFill>
            <a:srgbClr val="262626"/>
          </a:solidFill>
          <a:ln w="9525">
            <a:solidFill>
              <a:srgbClr val="C8A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7" name="TextBox 56"/>
          <p:cNvSpPr txBox="1"/>
          <p:nvPr/>
        </p:nvSpPr>
        <p:spPr>
          <a:xfrm>
            <a:off x="3458718" y="5358384"/>
            <a:ext cx="2681478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BBBBBB"/>
                </a:solidFill>
              </a:rPr>
              <a:t>idx_premio_filme</a:t>
            </a:r>
          </a:p>
        </p:txBody>
      </p:sp>
      <p:sp>
        <p:nvSpPr>
          <p:cNvPr id="58" name="Rectangle 57"/>
          <p:cNvSpPr/>
          <p:nvPr/>
        </p:nvSpPr>
        <p:spPr>
          <a:xfrm>
            <a:off x="6277356" y="5321808"/>
            <a:ext cx="2772918" cy="384048"/>
          </a:xfrm>
          <a:prstGeom prst="rect">
            <a:avLst/>
          </a:prstGeom>
          <a:solidFill>
            <a:srgbClr val="262626"/>
          </a:solidFill>
          <a:ln w="9525">
            <a:solidFill>
              <a:srgbClr val="C8A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9" name="TextBox 58"/>
          <p:cNvSpPr txBox="1"/>
          <p:nvPr/>
        </p:nvSpPr>
        <p:spPr>
          <a:xfrm>
            <a:off x="6323076" y="5358384"/>
            <a:ext cx="2681478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BBBBBB"/>
                </a:solidFill>
              </a:rPr>
              <a:t>idx_premio_categoria</a:t>
            </a:r>
          </a:p>
        </p:txBody>
      </p:sp>
      <p:sp>
        <p:nvSpPr>
          <p:cNvPr id="60" name="Rectangle 59"/>
          <p:cNvSpPr/>
          <p:nvPr/>
        </p:nvSpPr>
        <p:spPr>
          <a:xfrm>
            <a:off x="9141714" y="5321808"/>
            <a:ext cx="2772918" cy="384048"/>
          </a:xfrm>
          <a:prstGeom prst="rect">
            <a:avLst/>
          </a:prstGeom>
          <a:solidFill>
            <a:srgbClr val="262626"/>
          </a:solidFill>
          <a:ln w="9525">
            <a:solidFill>
              <a:srgbClr val="C8A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1" name="TextBox 60"/>
          <p:cNvSpPr txBox="1"/>
          <p:nvPr/>
        </p:nvSpPr>
        <p:spPr>
          <a:xfrm>
            <a:off x="9187434" y="5358384"/>
            <a:ext cx="2681478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BBBBBB"/>
                </a:solidFill>
              </a:rPr>
              <a:t>idx_premio_edicao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47225"/>
    </mc:Choice>
    <mc:Fallback xmlns="">
      <p:transition spd="slow" advTm="47225"/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47472" cy="6858000"/>
          </a:xfrm>
          <a:prstGeom prst="rect">
            <a:avLst/>
          </a:prstGeom>
          <a:solidFill>
            <a:srgbClr val="C8A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6739128"/>
            <a:ext cx="12188952" cy="118872"/>
          </a:xfrm>
          <a:prstGeom prst="rect">
            <a:avLst/>
          </a:prstGeom>
          <a:solidFill>
            <a:srgbClr val="C8A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548640" y="1115568"/>
            <a:ext cx="11365992" cy="19050"/>
          </a:xfrm>
          <a:prstGeom prst="rect">
            <a:avLst/>
          </a:prstGeom>
          <a:solidFill>
            <a:srgbClr val="C8A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48640" y="228600"/>
            <a:ext cx="11365992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C8A000"/>
                </a:solidFill>
              </a:rPr>
              <a:t>5  Pipeline de Carga e Validação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207008"/>
            <a:ext cx="1136599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1">
                <a:solidFill>
                  <a:srgbClr val="BBBBBB"/>
                </a:solidFill>
              </a:rPr>
              <a:t>pandas lê e limpa o CSV — psycopg2 insere em batch — cada tabela é commitada antes da próxima para garantir a integridade das chaves estrangeiras.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1874519"/>
            <a:ext cx="2200046" cy="2514600"/>
          </a:xfrm>
          <a:prstGeom prst="rect">
            <a:avLst/>
          </a:prstGeom>
          <a:solidFill>
            <a:srgbClr val="262626"/>
          </a:solidFill>
          <a:ln w="9525">
            <a:solidFill>
              <a:srgbClr val="C8A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48640" y="1929383"/>
            <a:ext cx="2200046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C8A000"/>
                </a:solidFill>
              </a:rPr>
              <a:t>1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8368" y="2258567"/>
            <a:ext cx="1980590" cy="12700"/>
          </a:xfrm>
          <a:prstGeom prst="rect">
            <a:avLst/>
          </a:prstGeom>
          <a:solidFill>
            <a:srgbClr val="C8A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03504" y="2304287"/>
            <a:ext cx="209031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edicao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3504" y="2807207"/>
            <a:ext cx="2090318" cy="1527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BBBBBB"/>
                </a:solidFill>
              </a:rPr>
              <a:t>87 registros  anos únicos de cerimônia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840126" y="1874519"/>
            <a:ext cx="2200046" cy="2514600"/>
          </a:xfrm>
          <a:prstGeom prst="rect">
            <a:avLst/>
          </a:prstGeom>
          <a:solidFill>
            <a:srgbClr val="262626"/>
          </a:solidFill>
          <a:ln w="9525">
            <a:solidFill>
              <a:srgbClr val="C8A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2840126" y="1929383"/>
            <a:ext cx="2200046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C8A000"/>
                </a:solidFill>
              </a:rPr>
              <a:t>2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949854" y="2258567"/>
            <a:ext cx="1980590" cy="12700"/>
          </a:xfrm>
          <a:prstGeom prst="rect">
            <a:avLst/>
          </a:prstGeom>
          <a:solidFill>
            <a:srgbClr val="C8A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2894990" y="2304287"/>
            <a:ext cx="209031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categoria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894990" y="2807207"/>
            <a:ext cx="2090318" cy="1527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BBBBBB"/>
                </a:solidFill>
              </a:rPr>
              <a:t>5 registros  categorias fixas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131612" y="1874519"/>
            <a:ext cx="2200046" cy="2514600"/>
          </a:xfrm>
          <a:prstGeom prst="rect">
            <a:avLst/>
          </a:prstGeom>
          <a:solidFill>
            <a:srgbClr val="262626"/>
          </a:solidFill>
          <a:ln w="9525">
            <a:solidFill>
              <a:srgbClr val="C8A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5131612" y="1929383"/>
            <a:ext cx="2200046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C8A000"/>
                </a:solidFill>
              </a:rPr>
              <a:t>3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241340" y="2258567"/>
            <a:ext cx="1980590" cy="12700"/>
          </a:xfrm>
          <a:prstGeom prst="rect">
            <a:avLst/>
          </a:prstGeom>
          <a:solidFill>
            <a:srgbClr val="C8A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5186476" y="2304287"/>
            <a:ext cx="209031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filme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86476" y="2807207"/>
            <a:ext cx="2090318" cy="1527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BBBBBB"/>
                </a:solidFill>
              </a:rPr>
              <a:t>335 registros  títulos únicos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423099" y="1874519"/>
            <a:ext cx="2200046" cy="2514600"/>
          </a:xfrm>
          <a:prstGeom prst="rect">
            <a:avLst/>
          </a:prstGeom>
          <a:solidFill>
            <a:srgbClr val="262626"/>
          </a:solidFill>
          <a:ln w="9525">
            <a:solidFill>
              <a:srgbClr val="C8A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7423099" y="1929383"/>
            <a:ext cx="2200046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C8A000"/>
                </a:solidFill>
              </a:rPr>
              <a:t>4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532827" y="2258567"/>
            <a:ext cx="1980590" cy="12700"/>
          </a:xfrm>
          <a:prstGeom prst="rect">
            <a:avLst/>
          </a:prstGeom>
          <a:solidFill>
            <a:srgbClr val="C8A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7477963" y="2304287"/>
            <a:ext cx="209031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vencedor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477963" y="2807207"/>
            <a:ext cx="2090318" cy="1527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BBBBBB"/>
                </a:solidFill>
              </a:rPr>
              <a:t>348 registros  deduplicados por nome</a:t>
            </a:r>
          </a:p>
        </p:txBody>
      </p:sp>
      <p:sp>
        <p:nvSpPr>
          <p:cNvPr id="28" name="Rectangle 27"/>
          <p:cNvSpPr/>
          <p:nvPr/>
        </p:nvSpPr>
        <p:spPr>
          <a:xfrm>
            <a:off x="9714585" y="1874519"/>
            <a:ext cx="2200046" cy="2514600"/>
          </a:xfrm>
          <a:prstGeom prst="rect">
            <a:avLst/>
          </a:prstGeom>
          <a:solidFill>
            <a:srgbClr val="262626"/>
          </a:solidFill>
          <a:ln w="9525">
            <a:solidFill>
              <a:srgbClr val="C8A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9714585" y="1929383"/>
            <a:ext cx="2200046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C8A000"/>
                </a:solidFill>
              </a:rPr>
              <a:t>5</a:t>
            </a:r>
          </a:p>
        </p:txBody>
      </p:sp>
      <p:sp>
        <p:nvSpPr>
          <p:cNvPr id="30" name="Rectangle 29"/>
          <p:cNvSpPr/>
          <p:nvPr/>
        </p:nvSpPr>
        <p:spPr>
          <a:xfrm>
            <a:off x="9824313" y="2258567"/>
            <a:ext cx="1980590" cy="12700"/>
          </a:xfrm>
          <a:prstGeom prst="rect">
            <a:avLst/>
          </a:prstGeom>
          <a:solidFill>
            <a:srgbClr val="C8A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9769449" y="2304287"/>
            <a:ext cx="209031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premio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769449" y="2807207"/>
            <a:ext cx="2090318" cy="1527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BBBBBB"/>
                </a:solidFill>
              </a:rPr>
              <a:t>415 registros  4× FK resolvidas por dicionário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48640" y="4572000"/>
            <a:ext cx="11365992" cy="1078992"/>
          </a:xfrm>
          <a:prstGeom prst="rect">
            <a:avLst/>
          </a:prstGeom>
          <a:solidFill>
            <a:srgbClr val="262626"/>
          </a:solidFill>
          <a:ln w="9525">
            <a:solidFill>
              <a:srgbClr val="C8A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685800" y="4626864"/>
            <a:ext cx="11091672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C8A000"/>
                </a:solidFill>
              </a:rPr>
              <a:t>Validação pós-carga — 8 checks SQL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85800" y="4956048"/>
            <a:ext cx="11091672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200">
                <a:solidFill>
                  <a:srgbClr val="BBBBBB"/>
                </a:solidFill>
              </a:rPr>
              <a:t>✔  Zero registros órfãos em FKs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BBBBBB"/>
                </a:solidFill>
              </a:rPr>
              <a:t>✔  Sem duplicatas na constraint UNIQUE(vencedor, categoria, edição)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BBBBBB"/>
                </a:solidFill>
              </a:rPr>
              <a:t>✔  30 edições com menos de 5 prêmios — estrutural (primeiras décadas do Oscar)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5767"/>
    </mc:Choice>
    <mc:Fallback xmlns="">
      <p:transition spd="slow" advTm="25767"/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545FBD-C9A1-685C-A4C7-E328F9E412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72C3AFF5-579B-6429-F839-3A43270F573F}"/>
              </a:ext>
            </a:extLst>
          </p:cNvPr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38059251-2889-44D8-40CC-8D3AFF50265F}"/>
              </a:ext>
            </a:extLst>
          </p:cNvPr>
          <p:cNvSpPr/>
          <p:nvPr/>
        </p:nvSpPr>
        <p:spPr>
          <a:xfrm>
            <a:off x="0" y="0"/>
            <a:ext cx="347472" cy="6858000"/>
          </a:xfrm>
          <a:prstGeom prst="rect">
            <a:avLst/>
          </a:prstGeom>
          <a:solidFill>
            <a:srgbClr val="C8A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DC7A2B46-FFB2-92C2-5B27-13A341836A1C}"/>
              </a:ext>
            </a:extLst>
          </p:cNvPr>
          <p:cNvSpPr/>
          <p:nvPr/>
        </p:nvSpPr>
        <p:spPr>
          <a:xfrm>
            <a:off x="0" y="6739128"/>
            <a:ext cx="12188952" cy="118872"/>
          </a:xfrm>
          <a:prstGeom prst="rect">
            <a:avLst/>
          </a:prstGeom>
          <a:solidFill>
            <a:srgbClr val="C8A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8BDB5445-239F-B549-A694-6B2D2F41487F}"/>
              </a:ext>
            </a:extLst>
          </p:cNvPr>
          <p:cNvSpPr/>
          <p:nvPr/>
        </p:nvSpPr>
        <p:spPr>
          <a:xfrm>
            <a:off x="548640" y="1115568"/>
            <a:ext cx="11365992" cy="19050"/>
          </a:xfrm>
          <a:prstGeom prst="rect">
            <a:avLst/>
          </a:prstGeom>
          <a:solidFill>
            <a:srgbClr val="C8A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98146F6-4CAD-D882-E1D9-A2D2D8883357}"/>
              </a:ext>
            </a:extLst>
          </p:cNvPr>
          <p:cNvSpPr txBox="1"/>
          <p:nvPr/>
        </p:nvSpPr>
        <p:spPr>
          <a:xfrm>
            <a:off x="548640" y="228600"/>
            <a:ext cx="11365992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 dirty="0">
                <a:solidFill>
                  <a:srgbClr val="C8A000"/>
                </a:solidFill>
              </a:rPr>
              <a:t>5  Pipeline de Carga e </a:t>
            </a:r>
            <a:r>
              <a:rPr sz="2600" b="1" i="0" dirty="0" err="1">
                <a:solidFill>
                  <a:srgbClr val="C8A000"/>
                </a:solidFill>
              </a:rPr>
              <a:t>Validação</a:t>
            </a:r>
            <a:endParaRPr sz="2600" b="1" i="0" dirty="0">
              <a:solidFill>
                <a:srgbClr val="C8A000"/>
              </a:solidFill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6BA1047-EC7D-FE03-66D9-BD4B9A4CA4F4}"/>
              </a:ext>
            </a:extLst>
          </p:cNvPr>
          <p:cNvSpPr txBox="1"/>
          <p:nvPr/>
        </p:nvSpPr>
        <p:spPr>
          <a:xfrm>
            <a:off x="548640" y="1207008"/>
            <a:ext cx="1136599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1" dirty="0">
                <a:solidFill>
                  <a:srgbClr val="BBBBBB"/>
                </a:solidFill>
              </a:rPr>
              <a:t>pandas </a:t>
            </a:r>
            <a:r>
              <a:rPr sz="1500" b="0" i="1" dirty="0" err="1">
                <a:solidFill>
                  <a:srgbClr val="BBBBBB"/>
                </a:solidFill>
              </a:rPr>
              <a:t>lê</a:t>
            </a:r>
            <a:r>
              <a:rPr sz="1500" b="0" i="1" dirty="0">
                <a:solidFill>
                  <a:srgbClr val="BBBBBB"/>
                </a:solidFill>
              </a:rPr>
              <a:t> e limpa o CSV — psycopg2 </a:t>
            </a:r>
            <a:r>
              <a:rPr sz="1500" b="0" i="1" dirty="0" err="1">
                <a:solidFill>
                  <a:srgbClr val="BBBBBB"/>
                </a:solidFill>
              </a:rPr>
              <a:t>insere</a:t>
            </a:r>
            <a:r>
              <a:rPr sz="1500" b="0" i="1" dirty="0">
                <a:solidFill>
                  <a:srgbClr val="BBBBBB"/>
                </a:solidFill>
              </a:rPr>
              <a:t> </a:t>
            </a:r>
            <a:r>
              <a:rPr sz="1500" b="0" i="1" dirty="0" err="1">
                <a:solidFill>
                  <a:srgbClr val="BBBBBB"/>
                </a:solidFill>
              </a:rPr>
              <a:t>em</a:t>
            </a:r>
            <a:r>
              <a:rPr sz="1500" b="0" i="1" dirty="0">
                <a:solidFill>
                  <a:srgbClr val="BBBBBB"/>
                </a:solidFill>
              </a:rPr>
              <a:t> batch — </a:t>
            </a:r>
            <a:r>
              <a:rPr sz="1500" b="0" i="1" dirty="0" err="1">
                <a:solidFill>
                  <a:srgbClr val="BBBBBB"/>
                </a:solidFill>
              </a:rPr>
              <a:t>cada</a:t>
            </a:r>
            <a:r>
              <a:rPr sz="1500" b="0" i="1" dirty="0">
                <a:solidFill>
                  <a:srgbClr val="BBBBBB"/>
                </a:solidFill>
              </a:rPr>
              <a:t> </a:t>
            </a:r>
            <a:r>
              <a:rPr sz="1500" b="0" i="1" dirty="0" err="1">
                <a:solidFill>
                  <a:srgbClr val="BBBBBB"/>
                </a:solidFill>
              </a:rPr>
              <a:t>tabela</a:t>
            </a:r>
            <a:r>
              <a:rPr sz="1500" b="0" i="1" dirty="0">
                <a:solidFill>
                  <a:srgbClr val="BBBBBB"/>
                </a:solidFill>
              </a:rPr>
              <a:t> é </a:t>
            </a:r>
            <a:r>
              <a:rPr sz="1500" b="0" i="1" dirty="0" err="1">
                <a:solidFill>
                  <a:srgbClr val="BBBBBB"/>
                </a:solidFill>
              </a:rPr>
              <a:t>commitada</a:t>
            </a:r>
            <a:r>
              <a:rPr sz="1500" b="0" i="1" dirty="0">
                <a:solidFill>
                  <a:srgbClr val="BBBBBB"/>
                </a:solidFill>
              </a:rPr>
              <a:t> antes da </a:t>
            </a:r>
            <a:r>
              <a:rPr sz="1500" b="0" i="1" dirty="0" err="1">
                <a:solidFill>
                  <a:srgbClr val="BBBBBB"/>
                </a:solidFill>
              </a:rPr>
              <a:t>próxima</a:t>
            </a:r>
            <a:r>
              <a:rPr sz="1500" b="0" i="1" dirty="0">
                <a:solidFill>
                  <a:srgbClr val="BBBBBB"/>
                </a:solidFill>
              </a:rPr>
              <a:t> para </a:t>
            </a:r>
            <a:r>
              <a:rPr sz="1500" b="0" i="1" dirty="0" err="1">
                <a:solidFill>
                  <a:srgbClr val="BBBBBB"/>
                </a:solidFill>
              </a:rPr>
              <a:t>garantir</a:t>
            </a:r>
            <a:r>
              <a:rPr sz="1500" b="0" i="1" dirty="0">
                <a:solidFill>
                  <a:srgbClr val="BBBBBB"/>
                </a:solidFill>
              </a:rPr>
              <a:t> a </a:t>
            </a:r>
            <a:r>
              <a:rPr sz="1500" b="0" i="1" dirty="0" err="1">
                <a:solidFill>
                  <a:srgbClr val="BBBBBB"/>
                </a:solidFill>
              </a:rPr>
              <a:t>integridade</a:t>
            </a:r>
            <a:r>
              <a:rPr sz="1500" b="0" i="1" dirty="0">
                <a:solidFill>
                  <a:srgbClr val="BBBBBB"/>
                </a:solidFill>
              </a:rPr>
              <a:t> das </a:t>
            </a:r>
            <a:r>
              <a:rPr sz="1500" b="0" i="1" dirty="0" err="1">
                <a:solidFill>
                  <a:srgbClr val="BBBBBB"/>
                </a:solidFill>
              </a:rPr>
              <a:t>chaves</a:t>
            </a:r>
            <a:r>
              <a:rPr sz="1500" b="0" i="1" dirty="0">
                <a:solidFill>
                  <a:srgbClr val="BBBBBB"/>
                </a:solidFill>
              </a:rPr>
              <a:t> </a:t>
            </a:r>
            <a:r>
              <a:rPr sz="1500" b="0" i="1" dirty="0" err="1">
                <a:solidFill>
                  <a:srgbClr val="BBBBBB"/>
                </a:solidFill>
              </a:rPr>
              <a:t>estrangeiras</a:t>
            </a:r>
            <a:r>
              <a:rPr sz="1500" b="0" i="1" dirty="0">
                <a:solidFill>
                  <a:srgbClr val="BBBBBB"/>
                </a:solidFill>
              </a:rPr>
              <a:t>.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B1469788-9E44-92B7-DE2A-2230EDE5B966}"/>
              </a:ext>
            </a:extLst>
          </p:cNvPr>
          <p:cNvSpPr/>
          <p:nvPr/>
        </p:nvSpPr>
        <p:spPr>
          <a:xfrm>
            <a:off x="548640" y="1874519"/>
            <a:ext cx="2200046" cy="2514600"/>
          </a:xfrm>
          <a:prstGeom prst="rect">
            <a:avLst/>
          </a:prstGeom>
          <a:solidFill>
            <a:srgbClr val="262626"/>
          </a:solidFill>
          <a:ln w="9525">
            <a:solidFill>
              <a:srgbClr val="C8A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3EB3A3F-2044-DE91-088F-D8412EB96A75}"/>
              </a:ext>
            </a:extLst>
          </p:cNvPr>
          <p:cNvSpPr txBox="1"/>
          <p:nvPr/>
        </p:nvSpPr>
        <p:spPr>
          <a:xfrm>
            <a:off x="548640" y="1929383"/>
            <a:ext cx="2200046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pt-BR" sz="1600" b="1" i="0" dirty="0">
                <a:solidFill>
                  <a:srgbClr val="C8A000"/>
                </a:solidFill>
              </a:rPr>
              <a:t>6</a:t>
            </a:r>
            <a:endParaRPr sz="1600" b="1" i="0" dirty="0">
              <a:solidFill>
                <a:srgbClr val="C8A000"/>
              </a:solidFill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F1B27D37-EC88-8091-050E-7C203738BAD3}"/>
              </a:ext>
            </a:extLst>
          </p:cNvPr>
          <p:cNvSpPr/>
          <p:nvPr/>
        </p:nvSpPr>
        <p:spPr>
          <a:xfrm>
            <a:off x="658368" y="2258567"/>
            <a:ext cx="1980590" cy="12700"/>
          </a:xfrm>
          <a:prstGeom prst="rect">
            <a:avLst/>
          </a:prstGeom>
          <a:solidFill>
            <a:srgbClr val="C8A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2743E65-E3E9-3A6D-8D65-47DB98724709}"/>
              </a:ext>
            </a:extLst>
          </p:cNvPr>
          <p:cNvSpPr txBox="1"/>
          <p:nvPr/>
        </p:nvSpPr>
        <p:spPr>
          <a:xfrm>
            <a:off x="603504" y="2304287"/>
            <a:ext cx="2090318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pt-BR" sz="1200" b="1" i="0" dirty="0">
                <a:solidFill>
                  <a:srgbClr val="FFFFFF"/>
                </a:solidFill>
              </a:rPr>
              <a:t>etnia</a:t>
            </a:r>
            <a:endParaRPr sz="1200" b="1" i="0" dirty="0">
              <a:solidFill>
                <a:srgbClr val="FFFFFF"/>
              </a:solidFill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2B1F8D49-8CCE-45FD-999C-8B6FF495B581}"/>
              </a:ext>
            </a:extLst>
          </p:cNvPr>
          <p:cNvSpPr txBox="1"/>
          <p:nvPr/>
        </p:nvSpPr>
        <p:spPr>
          <a:xfrm>
            <a:off x="603504" y="2807207"/>
            <a:ext cx="2090318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pt-BR" sz="1000" b="0" i="0" dirty="0">
                <a:solidFill>
                  <a:srgbClr val="BBBBBB"/>
                </a:solidFill>
              </a:rPr>
              <a:t>6</a:t>
            </a:r>
            <a:r>
              <a:rPr sz="1000" b="0" i="0" dirty="0">
                <a:solidFill>
                  <a:srgbClr val="BBBBBB"/>
                </a:solidFill>
              </a:rPr>
              <a:t> </a:t>
            </a:r>
            <a:r>
              <a:rPr sz="1000" b="0" i="0" dirty="0" err="1">
                <a:solidFill>
                  <a:srgbClr val="BBBBBB"/>
                </a:solidFill>
              </a:rPr>
              <a:t>registros</a:t>
            </a:r>
            <a:r>
              <a:rPr sz="1000" b="0" i="0" dirty="0">
                <a:solidFill>
                  <a:srgbClr val="BBBBBB"/>
                </a:solidFill>
              </a:rPr>
              <a:t>  </a:t>
            </a:r>
            <a:endParaRPr lang="pt-BR" sz="1000" b="0" i="0" dirty="0">
              <a:solidFill>
                <a:srgbClr val="BBBBBB"/>
              </a:solidFill>
            </a:endParaRPr>
          </a:p>
          <a:p>
            <a:pPr algn="ctr"/>
            <a:r>
              <a:rPr lang="pt-BR" sz="1000" b="0" i="0" dirty="0">
                <a:solidFill>
                  <a:srgbClr val="BBBBBB"/>
                </a:solidFill>
              </a:rPr>
              <a:t>etnias únicas</a:t>
            </a:r>
            <a:endParaRPr sz="1000" b="0" i="0" dirty="0">
              <a:solidFill>
                <a:srgbClr val="BBBBBB"/>
              </a:solidFill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7CE89D64-7915-3DBE-B5DF-A07D8A4A5AF4}"/>
              </a:ext>
            </a:extLst>
          </p:cNvPr>
          <p:cNvSpPr/>
          <p:nvPr/>
        </p:nvSpPr>
        <p:spPr>
          <a:xfrm>
            <a:off x="2840126" y="1874519"/>
            <a:ext cx="2200046" cy="2514600"/>
          </a:xfrm>
          <a:prstGeom prst="rect">
            <a:avLst/>
          </a:prstGeom>
          <a:solidFill>
            <a:srgbClr val="262626"/>
          </a:solidFill>
          <a:ln w="9525">
            <a:solidFill>
              <a:srgbClr val="C8A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1339110A-142A-4921-E1DC-A9FBFD04B847}"/>
              </a:ext>
            </a:extLst>
          </p:cNvPr>
          <p:cNvSpPr txBox="1"/>
          <p:nvPr/>
        </p:nvSpPr>
        <p:spPr>
          <a:xfrm>
            <a:off x="2840126" y="1929383"/>
            <a:ext cx="2200046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pt-BR" sz="1600" b="1" i="0" dirty="0">
                <a:solidFill>
                  <a:srgbClr val="C8A000"/>
                </a:solidFill>
              </a:rPr>
              <a:t>7</a:t>
            </a:r>
            <a:endParaRPr sz="1600" b="1" i="0" dirty="0">
              <a:solidFill>
                <a:srgbClr val="C8A000"/>
              </a:solidFill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12D1FD2C-F825-2367-15E5-F02B8266D26B}"/>
              </a:ext>
            </a:extLst>
          </p:cNvPr>
          <p:cNvSpPr/>
          <p:nvPr/>
        </p:nvSpPr>
        <p:spPr>
          <a:xfrm>
            <a:off x="2949854" y="2258567"/>
            <a:ext cx="1980590" cy="12700"/>
          </a:xfrm>
          <a:prstGeom prst="rect">
            <a:avLst/>
          </a:prstGeom>
          <a:solidFill>
            <a:srgbClr val="C8A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968F6CD6-238F-5785-4BD8-F6C7FD25F392}"/>
              </a:ext>
            </a:extLst>
          </p:cNvPr>
          <p:cNvSpPr txBox="1"/>
          <p:nvPr/>
        </p:nvSpPr>
        <p:spPr>
          <a:xfrm>
            <a:off x="2894990" y="2304287"/>
            <a:ext cx="2090318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pt-BR" sz="1200" b="1" i="0" dirty="0" err="1">
                <a:solidFill>
                  <a:srgbClr val="FFFFFF"/>
                </a:solidFill>
              </a:rPr>
              <a:t>orient_sexual</a:t>
            </a:r>
            <a:endParaRPr sz="1200" b="1" i="0" dirty="0">
              <a:solidFill>
                <a:srgbClr val="FFFFFF"/>
              </a:solidFill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6782F883-FA69-BDBD-57D0-7B81F71ED2D4}"/>
              </a:ext>
            </a:extLst>
          </p:cNvPr>
          <p:cNvSpPr txBox="1"/>
          <p:nvPr/>
        </p:nvSpPr>
        <p:spPr>
          <a:xfrm>
            <a:off x="2894990" y="2807207"/>
            <a:ext cx="2090318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 dirty="0">
                <a:solidFill>
                  <a:srgbClr val="BBBBBB"/>
                </a:solidFill>
              </a:rPr>
              <a:t>5 </a:t>
            </a:r>
            <a:r>
              <a:rPr sz="1000" b="0" i="0" dirty="0" err="1">
                <a:solidFill>
                  <a:srgbClr val="BBBBBB"/>
                </a:solidFill>
              </a:rPr>
              <a:t>registros</a:t>
            </a:r>
            <a:r>
              <a:rPr sz="1000" b="0" i="0" dirty="0">
                <a:solidFill>
                  <a:srgbClr val="BBBBBB"/>
                </a:solidFill>
              </a:rPr>
              <a:t>  </a:t>
            </a:r>
            <a:endParaRPr lang="pt-BR" sz="1000" b="0" i="0" dirty="0">
              <a:solidFill>
                <a:srgbClr val="BBBBBB"/>
              </a:solidFill>
            </a:endParaRPr>
          </a:p>
          <a:p>
            <a:pPr algn="ctr"/>
            <a:r>
              <a:rPr lang="pt-BR" sz="1000" b="0" i="0" dirty="0">
                <a:solidFill>
                  <a:srgbClr val="BBBBBB"/>
                </a:solidFill>
              </a:rPr>
              <a:t>orientações sexuais</a:t>
            </a:r>
            <a:endParaRPr sz="1000" b="0" i="0" dirty="0">
              <a:solidFill>
                <a:srgbClr val="BBBBBB"/>
              </a:solidFill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538556E1-D222-1283-DC21-CEB12C10D7C5}"/>
              </a:ext>
            </a:extLst>
          </p:cNvPr>
          <p:cNvSpPr/>
          <p:nvPr/>
        </p:nvSpPr>
        <p:spPr>
          <a:xfrm>
            <a:off x="5131612" y="1874519"/>
            <a:ext cx="2200046" cy="2514600"/>
          </a:xfrm>
          <a:prstGeom prst="rect">
            <a:avLst/>
          </a:prstGeom>
          <a:solidFill>
            <a:srgbClr val="262626"/>
          </a:solidFill>
          <a:ln w="9525">
            <a:solidFill>
              <a:srgbClr val="C8A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795D5E03-611E-6F85-CD07-D63AC74CA5A3}"/>
              </a:ext>
            </a:extLst>
          </p:cNvPr>
          <p:cNvSpPr txBox="1"/>
          <p:nvPr/>
        </p:nvSpPr>
        <p:spPr>
          <a:xfrm>
            <a:off x="5131612" y="1929383"/>
            <a:ext cx="2200046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pt-BR" sz="1600" b="1" i="0" dirty="0">
                <a:solidFill>
                  <a:srgbClr val="C8A000"/>
                </a:solidFill>
              </a:rPr>
              <a:t>8</a:t>
            </a:r>
            <a:endParaRPr sz="1600" b="1" i="0" dirty="0">
              <a:solidFill>
                <a:srgbClr val="C8A000"/>
              </a:solidFill>
            </a:endParaRP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EFEF8B66-B856-D0CE-C04C-D4F914511FF0}"/>
              </a:ext>
            </a:extLst>
          </p:cNvPr>
          <p:cNvSpPr/>
          <p:nvPr/>
        </p:nvSpPr>
        <p:spPr>
          <a:xfrm>
            <a:off x="5241340" y="2258567"/>
            <a:ext cx="1980590" cy="12700"/>
          </a:xfrm>
          <a:prstGeom prst="rect">
            <a:avLst/>
          </a:prstGeom>
          <a:solidFill>
            <a:srgbClr val="C8A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62059C6C-C47A-1142-2DBB-3F48895BB8CF}"/>
              </a:ext>
            </a:extLst>
          </p:cNvPr>
          <p:cNvSpPr txBox="1"/>
          <p:nvPr/>
        </p:nvSpPr>
        <p:spPr>
          <a:xfrm>
            <a:off x="5186476" y="2304287"/>
            <a:ext cx="2090318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pt-BR" sz="1200" b="1" i="0" dirty="0">
                <a:solidFill>
                  <a:srgbClr val="FFFFFF"/>
                </a:solidFill>
              </a:rPr>
              <a:t>pais</a:t>
            </a:r>
            <a:endParaRPr sz="1200" b="1" i="0" dirty="0">
              <a:solidFill>
                <a:srgbClr val="FFFFFF"/>
              </a:solidFill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C4D6EF9B-E0B6-6DA4-A33F-D52E71806BBE}"/>
              </a:ext>
            </a:extLst>
          </p:cNvPr>
          <p:cNvSpPr txBox="1"/>
          <p:nvPr/>
        </p:nvSpPr>
        <p:spPr>
          <a:xfrm>
            <a:off x="5186476" y="2807207"/>
            <a:ext cx="2090318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pt-BR" sz="1000" b="0" i="0" dirty="0">
                <a:solidFill>
                  <a:srgbClr val="BBBBBB"/>
                </a:solidFill>
              </a:rPr>
              <a:t>34</a:t>
            </a:r>
            <a:r>
              <a:rPr sz="1000" b="0" i="0" dirty="0">
                <a:solidFill>
                  <a:srgbClr val="BBBBBB"/>
                </a:solidFill>
              </a:rPr>
              <a:t> </a:t>
            </a:r>
            <a:r>
              <a:rPr sz="1000" b="0" i="0" dirty="0" err="1">
                <a:solidFill>
                  <a:srgbClr val="BBBBBB"/>
                </a:solidFill>
              </a:rPr>
              <a:t>registro</a:t>
            </a:r>
            <a:r>
              <a:rPr lang="pt-BR" sz="1000" b="0" i="0" dirty="0">
                <a:solidFill>
                  <a:srgbClr val="BBBBBB"/>
                </a:solidFill>
              </a:rPr>
              <a:t>s</a:t>
            </a:r>
          </a:p>
          <a:p>
            <a:pPr algn="ctr"/>
            <a:r>
              <a:rPr lang="pt-BR" sz="1000" dirty="0">
                <a:solidFill>
                  <a:srgbClr val="BBBBBB"/>
                </a:solidFill>
              </a:rPr>
              <a:t>países únicos</a:t>
            </a:r>
            <a:endParaRPr sz="1000" b="0" i="0" dirty="0">
              <a:solidFill>
                <a:srgbClr val="BBBBBB"/>
              </a:solidFill>
            </a:endParaRP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C3864C51-201B-7278-174A-21FDD76CB805}"/>
              </a:ext>
            </a:extLst>
          </p:cNvPr>
          <p:cNvSpPr/>
          <p:nvPr/>
        </p:nvSpPr>
        <p:spPr>
          <a:xfrm>
            <a:off x="7423099" y="1874519"/>
            <a:ext cx="2200046" cy="2514600"/>
          </a:xfrm>
          <a:prstGeom prst="rect">
            <a:avLst/>
          </a:prstGeom>
          <a:solidFill>
            <a:srgbClr val="262626"/>
          </a:solidFill>
          <a:ln w="9525">
            <a:solidFill>
              <a:srgbClr val="C8A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0FC5288A-D2B9-3680-00E9-A518E958D17B}"/>
              </a:ext>
            </a:extLst>
          </p:cNvPr>
          <p:cNvSpPr txBox="1"/>
          <p:nvPr/>
        </p:nvSpPr>
        <p:spPr>
          <a:xfrm>
            <a:off x="7423099" y="1929383"/>
            <a:ext cx="2200046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pt-BR" sz="1600" b="1" i="0" dirty="0">
                <a:solidFill>
                  <a:srgbClr val="C8A000"/>
                </a:solidFill>
              </a:rPr>
              <a:t>9</a:t>
            </a:r>
            <a:endParaRPr sz="1600" b="1" i="0" dirty="0">
              <a:solidFill>
                <a:srgbClr val="C8A000"/>
              </a:solidFill>
            </a:endParaRP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9C43E2CE-A732-8DA2-2843-5FB7C988341B}"/>
              </a:ext>
            </a:extLst>
          </p:cNvPr>
          <p:cNvSpPr/>
          <p:nvPr/>
        </p:nvSpPr>
        <p:spPr>
          <a:xfrm>
            <a:off x="7532827" y="2258567"/>
            <a:ext cx="1980590" cy="12700"/>
          </a:xfrm>
          <a:prstGeom prst="rect">
            <a:avLst/>
          </a:prstGeom>
          <a:solidFill>
            <a:srgbClr val="C8A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E35C854A-90F4-A099-2DBE-7CC208DB240F}"/>
              </a:ext>
            </a:extLst>
          </p:cNvPr>
          <p:cNvSpPr txBox="1"/>
          <p:nvPr/>
        </p:nvSpPr>
        <p:spPr>
          <a:xfrm>
            <a:off x="7477963" y="2304287"/>
            <a:ext cx="2090318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pt-BR" sz="1200" b="1" i="0" dirty="0" err="1">
                <a:solidFill>
                  <a:srgbClr val="FFFFFF"/>
                </a:solidFill>
              </a:rPr>
              <a:t>religiao</a:t>
            </a:r>
            <a:endParaRPr sz="1200" b="1" i="0" dirty="0">
              <a:solidFill>
                <a:srgbClr val="FFFFFF"/>
              </a:solidFill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CBC9DB7E-CE4E-8D25-0FBA-1FEFCC3757C6}"/>
              </a:ext>
            </a:extLst>
          </p:cNvPr>
          <p:cNvSpPr txBox="1"/>
          <p:nvPr/>
        </p:nvSpPr>
        <p:spPr>
          <a:xfrm>
            <a:off x="7477963" y="2807207"/>
            <a:ext cx="2090318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pt-BR" sz="1000" b="0" i="0" dirty="0">
                <a:solidFill>
                  <a:srgbClr val="BBBBBB"/>
                </a:solidFill>
              </a:rPr>
              <a:t>21</a:t>
            </a:r>
            <a:r>
              <a:rPr sz="1000" b="0" i="0" dirty="0">
                <a:solidFill>
                  <a:srgbClr val="BBBBBB"/>
                </a:solidFill>
              </a:rPr>
              <a:t> </a:t>
            </a:r>
            <a:r>
              <a:rPr sz="1000" b="0" i="0" dirty="0" err="1">
                <a:solidFill>
                  <a:srgbClr val="BBBBBB"/>
                </a:solidFill>
              </a:rPr>
              <a:t>registro</a:t>
            </a:r>
            <a:r>
              <a:rPr lang="pt-BR" sz="1000" b="0" i="0" dirty="0">
                <a:solidFill>
                  <a:srgbClr val="BBBBBB"/>
                </a:solidFill>
              </a:rPr>
              <a:t>s</a:t>
            </a:r>
          </a:p>
          <a:p>
            <a:pPr algn="ctr"/>
            <a:r>
              <a:rPr lang="pt-BR" sz="1000" dirty="0">
                <a:solidFill>
                  <a:srgbClr val="BBBBBB"/>
                </a:solidFill>
              </a:rPr>
              <a:t>religiões únicas</a:t>
            </a:r>
            <a:endParaRPr sz="1000" b="0" i="0" dirty="0">
              <a:solidFill>
                <a:srgbClr val="BBBBBB"/>
              </a:solidFill>
            </a:endParaRP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AF85EC1C-2F41-BEFE-F8AB-9410B0D7AA64}"/>
              </a:ext>
            </a:extLst>
          </p:cNvPr>
          <p:cNvSpPr/>
          <p:nvPr/>
        </p:nvSpPr>
        <p:spPr>
          <a:xfrm>
            <a:off x="548640" y="4572000"/>
            <a:ext cx="11365992" cy="1078992"/>
          </a:xfrm>
          <a:prstGeom prst="rect">
            <a:avLst/>
          </a:prstGeom>
          <a:solidFill>
            <a:srgbClr val="262626"/>
          </a:solidFill>
          <a:ln w="9525">
            <a:solidFill>
              <a:srgbClr val="C8A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E05D334F-9265-116E-C875-23C34D8A7F9A}"/>
              </a:ext>
            </a:extLst>
          </p:cNvPr>
          <p:cNvSpPr txBox="1"/>
          <p:nvPr/>
        </p:nvSpPr>
        <p:spPr>
          <a:xfrm>
            <a:off x="685800" y="4626864"/>
            <a:ext cx="11091672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C8A000"/>
                </a:solidFill>
              </a:rPr>
              <a:t>Validação pós-carga — 8 checks SQL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ABBBC73A-09BE-1762-ADC1-D564743DFF73}"/>
              </a:ext>
            </a:extLst>
          </p:cNvPr>
          <p:cNvSpPr txBox="1"/>
          <p:nvPr/>
        </p:nvSpPr>
        <p:spPr>
          <a:xfrm>
            <a:off x="685800" y="4956048"/>
            <a:ext cx="11091672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200">
                <a:solidFill>
                  <a:srgbClr val="BBBBBB"/>
                </a:solidFill>
              </a:rPr>
              <a:t>✔  Zero registros órfãos em FKs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BBBBBB"/>
                </a:solidFill>
              </a:rPr>
              <a:t>✔  Sem duplicatas na constraint UNIQUE(vencedor, categoria, edição)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BBBBBB"/>
                </a:solidFill>
              </a:rPr>
              <a:t>✔  30 edições com menos de 5 prêmios — estrutural (primeiras décadas do Oscar)</a:t>
            </a:r>
          </a:p>
        </p:txBody>
      </p:sp>
    </p:spTree>
    <p:extLst>
      <p:ext uri="{BB962C8B-B14F-4D97-AF65-F5344CB8AC3E}">
        <p14:creationId xmlns:p14="http://schemas.microsoft.com/office/powerpoint/2010/main" val="325176003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48031"/>
    </mc:Choice>
    <mc:Fallback xmlns="">
      <p:transition spd="slow" advTm="48031"/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47472" cy="6858000"/>
          </a:xfrm>
          <a:prstGeom prst="rect">
            <a:avLst/>
          </a:prstGeom>
          <a:solidFill>
            <a:srgbClr val="C8A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6739128"/>
            <a:ext cx="12188952" cy="118872"/>
          </a:xfrm>
          <a:prstGeom prst="rect">
            <a:avLst/>
          </a:prstGeom>
          <a:solidFill>
            <a:srgbClr val="C8A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548640" y="1115568"/>
            <a:ext cx="11365992" cy="19050"/>
          </a:xfrm>
          <a:prstGeom prst="rect">
            <a:avLst/>
          </a:prstGeom>
          <a:solidFill>
            <a:srgbClr val="C8A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48640" y="228600"/>
            <a:ext cx="11365992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C8A000"/>
                </a:solidFill>
              </a:rPr>
              <a:t>6  Análise Exploratória — 5 Perguntas Investigativas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207008"/>
            <a:ext cx="1136599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1">
                <a:solidFill>
                  <a:srgbClr val="BBBBBB"/>
                </a:solidFill>
              </a:rPr>
              <a:t>Cada pergunta foi escolhida para cobrir uma técnica SQL diferente e revelar um padrão histórico real nos dados.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1847088"/>
            <a:ext cx="681959" cy="678180"/>
          </a:xfrm>
          <a:prstGeom prst="rect">
            <a:avLst/>
          </a:prstGeom>
          <a:solidFill>
            <a:srgbClr val="C8A000"/>
          </a:solidFill>
          <a:ln w="6350">
            <a:solidFill>
              <a:srgbClr val="3E3E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21792" y="1883664"/>
            <a:ext cx="535655" cy="6050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1230599" y="1847088"/>
            <a:ext cx="5455676" cy="678180"/>
          </a:xfrm>
          <a:prstGeom prst="rect">
            <a:avLst/>
          </a:prstGeom>
          <a:solidFill>
            <a:srgbClr val="C8A000"/>
          </a:solidFill>
          <a:ln w="6350">
            <a:solidFill>
              <a:srgbClr val="3E3E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303751" y="1883664"/>
            <a:ext cx="5309372" cy="6050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A1A1A"/>
                </a:solidFill>
              </a:rPr>
              <a:t>Pergunta investigativa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686275" y="1847088"/>
            <a:ext cx="5228356" cy="678180"/>
          </a:xfrm>
          <a:prstGeom prst="rect">
            <a:avLst/>
          </a:prstGeom>
          <a:solidFill>
            <a:srgbClr val="C8A000"/>
          </a:solidFill>
          <a:ln w="6350">
            <a:solidFill>
              <a:srgbClr val="3E3E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759427" y="1883664"/>
            <a:ext cx="5082052" cy="6050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A1A1A"/>
                </a:solidFill>
              </a:rPr>
              <a:t>Técnica SQL principal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2525268"/>
            <a:ext cx="681959" cy="678180"/>
          </a:xfrm>
          <a:prstGeom prst="rect">
            <a:avLst/>
          </a:prstGeom>
          <a:solidFill>
            <a:srgbClr val="262626"/>
          </a:solidFill>
          <a:ln w="6350">
            <a:solidFill>
              <a:srgbClr val="3E3E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21792" y="2561844"/>
            <a:ext cx="535655" cy="6050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</a:rPr>
              <a:t>P1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230599" y="2525268"/>
            <a:ext cx="5455676" cy="678180"/>
          </a:xfrm>
          <a:prstGeom prst="rect">
            <a:avLst/>
          </a:prstGeom>
          <a:solidFill>
            <a:srgbClr val="262626"/>
          </a:solidFill>
          <a:ln w="6350">
            <a:solidFill>
              <a:srgbClr val="3E3E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1303751" y="2561844"/>
            <a:ext cx="5309372" cy="6050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</a:rPr>
              <a:t>Filmes com múltiplas vitórias na mesma edição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686275" y="2525268"/>
            <a:ext cx="5228356" cy="678180"/>
          </a:xfrm>
          <a:prstGeom prst="rect">
            <a:avLst/>
          </a:prstGeom>
          <a:solidFill>
            <a:srgbClr val="262626"/>
          </a:solidFill>
          <a:ln w="6350">
            <a:solidFill>
              <a:srgbClr val="3E3E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6759427" y="2561844"/>
            <a:ext cx="5082052" cy="6050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</a:rPr>
              <a:t>JOIN + GROUP BY + HAVING + STRING_AGG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48640" y="3203448"/>
            <a:ext cx="681959" cy="678180"/>
          </a:xfrm>
          <a:prstGeom prst="rect">
            <a:avLst/>
          </a:prstGeom>
          <a:solidFill>
            <a:srgbClr val="303030"/>
          </a:solidFill>
          <a:ln w="6350">
            <a:solidFill>
              <a:srgbClr val="3E3E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21792" y="3240024"/>
            <a:ext cx="535655" cy="6050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</a:rPr>
              <a:t>P2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230599" y="3203448"/>
            <a:ext cx="5455676" cy="678180"/>
          </a:xfrm>
          <a:prstGeom prst="rect">
            <a:avLst/>
          </a:prstGeom>
          <a:solidFill>
            <a:srgbClr val="303030"/>
          </a:solidFill>
          <a:ln w="6350">
            <a:solidFill>
              <a:srgbClr val="3E3E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1303751" y="3240024"/>
            <a:ext cx="5309372" cy="6050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</a:rPr>
              <a:t>Evolução da diversidade étnica por década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686275" y="3203448"/>
            <a:ext cx="5228356" cy="678180"/>
          </a:xfrm>
          <a:prstGeom prst="rect">
            <a:avLst/>
          </a:prstGeom>
          <a:solidFill>
            <a:srgbClr val="303030"/>
          </a:solidFill>
          <a:ln w="6350">
            <a:solidFill>
              <a:srgbClr val="3E3E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6759427" y="3240024"/>
            <a:ext cx="5082052" cy="6050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</a:rPr>
              <a:t>GROUP BY + FILTER + percentual em SQL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48640" y="3881628"/>
            <a:ext cx="681959" cy="678180"/>
          </a:xfrm>
          <a:prstGeom prst="rect">
            <a:avLst/>
          </a:prstGeom>
          <a:solidFill>
            <a:srgbClr val="262626"/>
          </a:solidFill>
          <a:ln w="6350">
            <a:solidFill>
              <a:srgbClr val="3E3E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621792" y="3918204"/>
            <a:ext cx="535655" cy="6050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</a:rPr>
              <a:t>P3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230599" y="3881628"/>
            <a:ext cx="5455676" cy="678180"/>
          </a:xfrm>
          <a:prstGeom prst="rect">
            <a:avLst/>
          </a:prstGeom>
          <a:solidFill>
            <a:srgbClr val="262626"/>
          </a:solidFill>
          <a:ln w="6350">
            <a:solidFill>
              <a:srgbClr val="3E3E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1303751" y="3918204"/>
            <a:ext cx="5309372" cy="6050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</a:rPr>
              <a:t>Idade dos vencedores por categoria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686275" y="3881628"/>
            <a:ext cx="5228356" cy="678180"/>
          </a:xfrm>
          <a:prstGeom prst="rect">
            <a:avLst/>
          </a:prstGeom>
          <a:solidFill>
            <a:srgbClr val="262626"/>
          </a:solidFill>
          <a:ln w="6350">
            <a:solidFill>
              <a:srgbClr val="3E3E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6759427" y="3918204"/>
            <a:ext cx="5082052" cy="6050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</a:rPr>
              <a:t>AVG / MIN / MAX + UNION ALL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48640" y="4559808"/>
            <a:ext cx="681959" cy="678180"/>
          </a:xfrm>
          <a:prstGeom prst="rect">
            <a:avLst/>
          </a:prstGeom>
          <a:solidFill>
            <a:srgbClr val="303030"/>
          </a:solidFill>
          <a:ln w="6350">
            <a:solidFill>
              <a:srgbClr val="3E3E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621792" y="4596384"/>
            <a:ext cx="535655" cy="6050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</a:rPr>
              <a:t>P4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230599" y="4559808"/>
            <a:ext cx="5455676" cy="678180"/>
          </a:xfrm>
          <a:prstGeom prst="rect">
            <a:avLst/>
          </a:prstGeom>
          <a:solidFill>
            <a:srgbClr val="303030"/>
          </a:solidFill>
          <a:ln w="6350">
            <a:solidFill>
              <a:srgbClr val="3E3E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1303751" y="4596384"/>
            <a:ext cx="5309372" cy="6050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</a:rPr>
              <a:t>Maior intervalo entre vitórias consecutivas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686275" y="4559808"/>
            <a:ext cx="5228356" cy="678180"/>
          </a:xfrm>
          <a:prstGeom prst="rect">
            <a:avLst/>
          </a:prstGeom>
          <a:solidFill>
            <a:srgbClr val="303030"/>
          </a:solidFill>
          <a:ln w="6350">
            <a:solidFill>
              <a:srgbClr val="3E3E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6759427" y="4596384"/>
            <a:ext cx="5082052" cy="6050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</a:rPr>
              <a:t>CTE + window function LAG()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48640" y="5237988"/>
            <a:ext cx="681959" cy="678180"/>
          </a:xfrm>
          <a:prstGeom prst="rect">
            <a:avLst/>
          </a:prstGeom>
          <a:solidFill>
            <a:srgbClr val="262626"/>
          </a:solidFill>
          <a:ln w="6350">
            <a:solidFill>
              <a:srgbClr val="3E3E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621792" y="5274564"/>
            <a:ext cx="535655" cy="6050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</a:rPr>
              <a:t>P5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230599" y="5237988"/>
            <a:ext cx="5455676" cy="678180"/>
          </a:xfrm>
          <a:prstGeom prst="rect">
            <a:avLst/>
          </a:prstGeom>
          <a:solidFill>
            <a:srgbClr val="262626"/>
          </a:solidFill>
          <a:ln w="6350">
            <a:solidFill>
              <a:srgbClr val="3E3E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1303751" y="5274564"/>
            <a:ext cx="5309372" cy="6050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</a:rPr>
              <a:t>Primeiro vencedor não-branco por categoria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686275" y="5237988"/>
            <a:ext cx="5228356" cy="678180"/>
          </a:xfrm>
          <a:prstGeom prst="rect">
            <a:avLst/>
          </a:prstGeom>
          <a:solidFill>
            <a:srgbClr val="262626"/>
          </a:solidFill>
          <a:ln w="6350">
            <a:solidFill>
              <a:srgbClr val="3E3E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6759427" y="5274564"/>
            <a:ext cx="5082052" cy="6050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</a:rPr>
              <a:t>CTE + ROW_NUMBER() OVER (PARTITION BY)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47472" cy="6858000"/>
          </a:xfrm>
          <a:prstGeom prst="rect">
            <a:avLst/>
          </a:prstGeom>
          <a:solidFill>
            <a:srgbClr val="C8A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6739128"/>
            <a:ext cx="12188952" cy="118872"/>
          </a:xfrm>
          <a:prstGeom prst="rect">
            <a:avLst/>
          </a:prstGeom>
          <a:solidFill>
            <a:srgbClr val="C8A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548640" y="1115568"/>
            <a:ext cx="11365992" cy="19050"/>
          </a:xfrm>
          <a:prstGeom prst="rect">
            <a:avLst/>
          </a:prstGeom>
          <a:solidFill>
            <a:srgbClr val="C8A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48640" y="228600"/>
            <a:ext cx="11365992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C8A000"/>
                </a:solidFill>
              </a:rPr>
              <a:t>P1 — Filmes com múltiplas vitórias na mesma edição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170432"/>
            <a:ext cx="4846320" cy="5093208"/>
          </a:xfrm>
          <a:prstGeom prst="rect">
            <a:avLst/>
          </a:prstGeom>
          <a:solidFill>
            <a:srgbClr val="26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48640" y="1225296"/>
            <a:ext cx="47548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BBBBBB"/>
                </a:solidFill>
              </a:rPr>
              <a:t>Alguns filmes dominaram a noite inteira do Oscar, vencendo mais de uma categoria na mesma cerimônia — revelando o prestígio absoluto de certas obras.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801368"/>
            <a:ext cx="475488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700"/>
              </a:spcBef>
            </a:pPr>
            <a:r>
              <a:rPr sz="1700">
                <a:solidFill>
                  <a:srgbClr val="FFFFFF"/>
                </a:solidFill>
              </a:rPr>
              <a:t>Top 3 — 3 categorias cada:</a:t>
            </a:r>
          </a:p>
          <a:p>
            <a:pPr>
              <a:spcBef>
                <a:spcPts val="700"/>
              </a:spcBef>
            </a:pPr>
            <a:r>
              <a:rPr sz="1700">
                <a:solidFill>
                  <a:srgbClr val="FFFFFF"/>
                </a:solidFill>
              </a:rPr>
              <a:t>  It Happened One Night (1935)</a:t>
            </a:r>
          </a:p>
          <a:p>
            <a:pPr>
              <a:spcBef>
                <a:spcPts val="700"/>
              </a:spcBef>
            </a:pPr>
            <a:r>
              <a:rPr sz="1700">
                <a:solidFill>
                  <a:srgbClr val="FFFFFF"/>
                </a:solidFill>
              </a:rPr>
              <a:t>  Gone with the Wind (1940)</a:t>
            </a:r>
          </a:p>
          <a:p>
            <a:pPr>
              <a:spcBef>
                <a:spcPts val="700"/>
              </a:spcBef>
            </a:pPr>
            <a:r>
              <a:rPr sz="1700">
                <a:solidFill>
                  <a:srgbClr val="FFFFFF"/>
                </a:solidFill>
              </a:rPr>
              <a:t>  Going My Way (1945)</a:t>
            </a:r>
          </a:p>
          <a:p>
            <a:pPr>
              <a:spcBef>
                <a:spcPts val="700"/>
              </a:spcBef>
            </a:pPr>
            <a:endParaRPr sz="1700">
              <a:solidFill>
                <a:srgbClr val="FFFFFF"/>
              </a:solidFill>
            </a:endParaRPr>
          </a:p>
          <a:p>
            <a:pPr>
              <a:spcBef>
                <a:spcPts val="700"/>
              </a:spcBef>
            </a:pPr>
            <a:r>
              <a:rPr sz="1700">
                <a:solidFill>
                  <a:srgbClr val="FFFFFF"/>
                </a:solidFill>
              </a:rPr>
              <a:t>60 filmes no total venceram</a:t>
            </a:r>
          </a:p>
          <a:p>
            <a:pPr>
              <a:spcBef>
                <a:spcPts val="700"/>
              </a:spcBef>
            </a:pPr>
            <a:r>
              <a:rPr sz="1700">
                <a:solidFill>
                  <a:srgbClr val="FFFFFF"/>
                </a:solidFill>
              </a:rPr>
              <a:t>2+ categorias na mesma edição</a:t>
            </a:r>
          </a:p>
          <a:p>
            <a:pPr>
              <a:spcBef>
                <a:spcPts val="700"/>
              </a:spcBef>
            </a:pPr>
            <a:r>
              <a:rPr sz="1700">
                <a:solidFill>
                  <a:srgbClr val="FFFFFF"/>
                </a:solidFill>
              </a:rPr>
              <a:t>ao longo dos 87 anos.</a:t>
            </a:r>
          </a:p>
          <a:p>
            <a:pPr>
              <a:spcBef>
                <a:spcPts val="700"/>
              </a:spcBef>
            </a:pPr>
            <a:endParaRPr sz="1700">
              <a:solidFill>
                <a:srgbClr val="FFFFFF"/>
              </a:solidFill>
            </a:endParaRPr>
          </a:p>
          <a:p>
            <a:pPr>
              <a:spcBef>
                <a:spcPts val="700"/>
              </a:spcBef>
            </a:pPr>
            <a:r>
              <a:rPr sz="1700">
                <a:solidFill>
                  <a:srgbClr val="FFFFFF"/>
                </a:solidFill>
              </a:rPr>
              <a:t>Técnica SQL:</a:t>
            </a:r>
          </a:p>
          <a:p>
            <a:pPr>
              <a:spcBef>
                <a:spcPts val="700"/>
              </a:spcBef>
            </a:pPr>
            <a:r>
              <a:rPr sz="1700">
                <a:solidFill>
                  <a:srgbClr val="FFFFFF"/>
                </a:solidFill>
              </a:rPr>
              <a:t>  GROUP BY filme + edição</a:t>
            </a:r>
          </a:p>
          <a:p>
            <a:pPr>
              <a:spcBef>
                <a:spcPts val="700"/>
              </a:spcBef>
            </a:pPr>
            <a:r>
              <a:rPr sz="1700">
                <a:solidFill>
                  <a:srgbClr val="FFFFFF"/>
                </a:solidFill>
              </a:rPr>
              <a:t>  HAVING COUNT(*) &gt; 1</a:t>
            </a:r>
          </a:p>
          <a:p>
            <a:pPr>
              <a:spcBef>
                <a:spcPts val="700"/>
              </a:spcBef>
            </a:pPr>
            <a:r>
              <a:rPr sz="1700">
                <a:solidFill>
                  <a:srgbClr val="FFFFFF"/>
                </a:solidFill>
              </a:rPr>
              <a:t>  STRING_AGG lista as categorias</a:t>
            </a:r>
          </a:p>
          <a:p>
            <a:pPr>
              <a:spcBef>
                <a:spcPts val="700"/>
              </a:spcBef>
            </a:pPr>
            <a:r>
              <a:rPr sz="1700">
                <a:solidFill>
                  <a:srgbClr val="FFFFFF"/>
                </a:solidFill>
              </a:rPr>
              <a:t>  vencidas na mesma noite.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40680" y="1170432"/>
            <a:ext cx="19050" cy="5093208"/>
          </a:xfrm>
          <a:prstGeom prst="rect">
            <a:avLst/>
          </a:prstGeom>
          <a:solidFill>
            <a:srgbClr val="C8A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1" name="Picture 10" descr="grafico_p1_filmes_multivencedor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05272" y="1170432"/>
            <a:ext cx="6355080" cy="5093208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47472" cy="6858000"/>
          </a:xfrm>
          <a:prstGeom prst="rect">
            <a:avLst/>
          </a:prstGeom>
          <a:solidFill>
            <a:srgbClr val="C8A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6739128"/>
            <a:ext cx="12188952" cy="118872"/>
          </a:xfrm>
          <a:prstGeom prst="rect">
            <a:avLst/>
          </a:prstGeom>
          <a:solidFill>
            <a:srgbClr val="C8A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548640" y="1115568"/>
            <a:ext cx="11365992" cy="19050"/>
          </a:xfrm>
          <a:prstGeom prst="rect">
            <a:avLst/>
          </a:prstGeom>
          <a:solidFill>
            <a:srgbClr val="C8A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48640" y="228600"/>
            <a:ext cx="11365992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C8A000"/>
                </a:solidFill>
              </a:rPr>
              <a:t>P2 — Diversidade étnica por década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170432"/>
            <a:ext cx="4846320" cy="5093208"/>
          </a:xfrm>
          <a:prstGeom prst="rect">
            <a:avLst/>
          </a:prstGeom>
          <a:solidFill>
            <a:srgbClr val="26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48640" y="1225296"/>
            <a:ext cx="47548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BBBBBB"/>
                </a:solidFill>
              </a:rPr>
              <a:t>Esta é a pergunta central do projeto. Os dados mostram com precisão quando — e em que ritmo — a Academia começou a reconhecer artistas não-brancos.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801368"/>
            <a:ext cx="475488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700"/>
              </a:spcBef>
            </a:pPr>
            <a:r>
              <a:rPr sz="1700">
                <a:solidFill>
                  <a:srgbClr val="FFFFFF"/>
                </a:solidFill>
              </a:rPr>
              <a:t>Evolução da representatividade:</a:t>
            </a:r>
          </a:p>
          <a:p>
            <a:pPr>
              <a:spcBef>
                <a:spcPts val="700"/>
              </a:spcBef>
            </a:pPr>
            <a:r>
              <a:rPr sz="1700">
                <a:solidFill>
                  <a:srgbClr val="FFFFFF"/>
                </a:solidFill>
              </a:rPr>
              <a:t>  1927–1969:  ~0% não-brancos</a:t>
            </a:r>
          </a:p>
          <a:p>
            <a:pPr>
              <a:spcBef>
                <a:spcPts val="700"/>
              </a:spcBef>
            </a:pPr>
            <a:r>
              <a:rPr sz="1700">
                <a:solidFill>
                  <a:srgbClr val="FFFFFF"/>
                </a:solidFill>
              </a:rPr>
              <a:t>  1970–1989:  primeiros sinais</a:t>
            </a:r>
          </a:p>
          <a:p>
            <a:pPr>
              <a:spcBef>
                <a:spcPts val="700"/>
              </a:spcBef>
            </a:pPr>
            <a:r>
              <a:rPr sz="1700">
                <a:solidFill>
                  <a:srgbClr val="FFFFFF"/>
                </a:solidFill>
              </a:rPr>
              <a:t>  2000–2014:  ~19%</a:t>
            </a:r>
          </a:p>
          <a:p>
            <a:pPr>
              <a:spcBef>
                <a:spcPts val="700"/>
              </a:spcBef>
            </a:pPr>
            <a:endParaRPr sz="1700">
              <a:solidFill>
                <a:srgbClr val="FFFFFF"/>
              </a:solidFill>
            </a:endParaRPr>
          </a:p>
          <a:p>
            <a:pPr>
              <a:spcBef>
                <a:spcPts val="700"/>
              </a:spcBef>
            </a:pPr>
            <a:r>
              <a:rPr sz="1700">
                <a:solidFill>
                  <a:srgbClr val="FFFFFF"/>
                </a:solidFill>
              </a:rPr>
              <a:t>Para comparar: negros e hispânicos</a:t>
            </a:r>
          </a:p>
          <a:p>
            <a:pPr>
              <a:spcBef>
                <a:spcPts val="700"/>
              </a:spcBef>
            </a:pPr>
            <a:r>
              <a:rPr sz="1700">
                <a:solidFill>
                  <a:srgbClr val="FFFFFF"/>
                </a:solidFill>
              </a:rPr>
              <a:t>somam +30% da pop. americana —</a:t>
            </a:r>
          </a:p>
          <a:p>
            <a:pPr>
              <a:spcBef>
                <a:spcPts val="700"/>
              </a:spcBef>
            </a:pPr>
            <a:r>
              <a:rPr sz="1700">
                <a:solidFill>
                  <a:srgbClr val="FFFFFF"/>
                </a:solidFill>
              </a:rPr>
              <a:t>o Oscar ainda estava muito abaixo</a:t>
            </a:r>
          </a:p>
          <a:p>
            <a:pPr>
              <a:spcBef>
                <a:spcPts val="700"/>
              </a:spcBef>
            </a:pPr>
            <a:r>
              <a:rPr sz="1700">
                <a:solidFill>
                  <a:srgbClr val="FFFFFF"/>
                </a:solidFill>
              </a:rPr>
              <a:t>disso ao fim do período analisado.</a:t>
            </a:r>
          </a:p>
          <a:p>
            <a:pPr>
              <a:spcBef>
                <a:spcPts val="700"/>
              </a:spcBef>
            </a:pPr>
            <a:endParaRPr sz="1700">
              <a:solidFill>
                <a:srgbClr val="FFFFFF"/>
              </a:solidFill>
            </a:endParaRPr>
          </a:p>
          <a:p>
            <a:pPr>
              <a:spcBef>
                <a:spcPts val="700"/>
              </a:spcBef>
            </a:pPr>
            <a:r>
              <a:rPr sz="1700">
                <a:solidFill>
                  <a:srgbClr val="FFFFFF"/>
                </a:solidFill>
              </a:rPr>
              <a:t>Técnica:</a:t>
            </a:r>
          </a:p>
          <a:p>
            <a:pPr>
              <a:spcBef>
                <a:spcPts val="700"/>
              </a:spcBef>
            </a:pPr>
            <a:r>
              <a:rPr sz="1700">
                <a:solidFill>
                  <a:srgbClr val="FFFFFF"/>
                </a:solidFill>
              </a:rPr>
              <a:t>  GROUP BY com cálculo de década</a:t>
            </a:r>
          </a:p>
          <a:p>
            <a:pPr>
              <a:spcBef>
                <a:spcPts val="700"/>
              </a:spcBef>
            </a:pPr>
            <a:r>
              <a:rPr sz="1700">
                <a:solidFill>
                  <a:srgbClr val="FFFFFF"/>
                </a:solidFill>
              </a:rPr>
              <a:t>  + COUNT FILTER + divisão</a:t>
            </a:r>
          </a:p>
          <a:p>
            <a:pPr>
              <a:spcBef>
                <a:spcPts val="700"/>
              </a:spcBef>
            </a:pPr>
            <a:r>
              <a:rPr sz="1700">
                <a:solidFill>
                  <a:srgbClr val="FFFFFF"/>
                </a:solidFill>
              </a:rPr>
              <a:t>  percentual diretamente em SQL.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40680" y="1170432"/>
            <a:ext cx="19050" cy="5093208"/>
          </a:xfrm>
          <a:prstGeom prst="rect">
            <a:avLst/>
          </a:prstGeom>
          <a:solidFill>
            <a:srgbClr val="C8A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1" name="Picture 10" descr="grafico_p2_diversidade_decad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05272" y="1170432"/>
            <a:ext cx="6355080" cy="5093208"/>
          </a:xfrm>
          <a:prstGeom prst="rect">
            <a:avLst/>
          </a:prstGeom>
        </p:spPr>
      </p:pic>
      <p:sp>
        <p:nvSpPr>
          <p:cNvPr id="12" name="Rectangle 11"/>
          <p:cNvSpPr/>
          <p:nvPr/>
        </p:nvSpPr>
        <p:spPr>
          <a:xfrm>
            <a:off x="548640" y="5989320"/>
            <a:ext cx="11365992" cy="566928"/>
          </a:xfrm>
          <a:prstGeom prst="rect">
            <a:avLst/>
          </a:prstGeom>
          <a:solidFill>
            <a:srgbClr val="C8A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40080" y="6007608"/>
            <a:ext cx="11183112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1A1A1A"/>
                </a:solidFill>
              </a:rPr>
              <a:t>Achado central — o gráfico confirma com dados o que o debate #OscarsSoWhite já apontava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47472" cy="6858000"/>
          </a:xfrm>
          <a:prstGeom prst="rect">
            <a:avLst/>
          </a:prstGeom>
          <a:solidFill>
            <a:srgbClr val="C8A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6739128"/>
            <a:ext cx="12188952" cy="118872"/>
          </a:xfrm>
          <a:prstGeom prst="rect">
            <a:avLst/>
          </a:prstGeom>
          <a:solidFill>
            <a:srgbClr val="C8A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548640" y="1115568"/>
            <a:ext cx="11365992" cy="19050"/>
          </a:xfrm>
          <a:prstGeom prst="rect">
            <a:avLst/>
          </a:prstGeom>
          <a:solidFill>
            <a:srgbClr val="C8A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48640" y="228600"/>
            <a:ext cx="11365992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C8A000"/>
                </a:solidFill>
              </a:rPr>
              <a:t>P3 — Idade dos vencedores por categoria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170432"/>
            <a:ext cx="4846320" cy="5093208"/>
          </a:xfrm>
          <a:prstGeom prst="rect">
            <a:avLst/>
          </a:prstGeom>
          <a:solidFill>
            <a:srgbClr val="26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48640" y="1225296"/>
            <a:ext cx="47548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BBBBBB"/>
                </a:solidFill>
              </a:rPr>
              <a:t>A idade no momento da premiação varia bastante entre categorias, revelando perfis de carreira distintos por função no cinema.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801368"/>
            <a:ext cx="475488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700"/>
              </a:spcBef>
            </a:pPr>
            <a:r>
              <a:rPr sz="1700">
                <a:solidFill>
                  <a:srgbClr val="FFFFFF"/>
                </a:solidFill>
              </a:rPr>
              <a:t>Casos extremos do dataset:</a:t>
            </a:r>
          </a:p>
          <a:p>
            <a:pPr>
              <a:spcBef>
                <a:spcPts val="700"/>
              </a:spcBef>
            </a:pPr>
            <a:r>
              <a:rPr sz="1700">
                <a:solidFill>
                  <a:srgbClr val="FFFFFF"/>
                </a:solidFill>
              </a:rPr>
              <a:t>  Mais jovem: Tatum O'Neal</a:t>
            </a:r>
          </a:p>
          <a:p>
            <a:pPr>
              <a:spcBef>
                <a:spcPts val="700"/>
              </a:spcBef>
            </a:pPr>
            <a:r>
              <a:rPr sz="1700">
                <a:solidFill>
                  <a:srgbClr val="FFFFFF"/>
                </a:solidFill>
              </a:rPr>
              <a:t>    11 anos — Supp. Actress (1974)</a:t>
            </a:r>
          </a:p>
          <a:p>
            <a:pPr>
              <a:spcBef>
                <a:spcPts val="700"/>
              </a:spcBef>
            </a:pPr>
            <a:r>
              <a:rPr sz="1700">
                <a:solidFill>
                  <a:srgbClr val="FFFFFF"/>
                </a:solidFill>
              </a:rPr>
              <a:t>  Mais velho: Christopher Plummer</a:t>
            </a:r>
          </a:p>
          <a:p>
            <a:pPr>
              <a:spcBef>
                <a:spcPts val="700"/>
              </a:spcBef>
            </a:pPr>
            <a:r>
              <a:rPr sz="1700">
                <a:solidFill>
                  <a:srgbClr val="FFFFFF"/>
                </a:solidFill>
              </a:rPr>
              <a:t>    83 anos — Supp. Actor (2012)</a:t>
            </a:r>
          </a:p>
          <a:p>
            <a:pPr>
              <a:spcBef>
                <a:spcPts val="700"/>
              </a:spcBef>
            </a:pPr>
            <a:endParaRPr sz="1700">
              <a:solidFill>
                <a:srgbClr val="FFFFFF"/>
              </a:solidFill>
            </a:endParaRPr>
          </a:p>
          <a:p>
            <a:pPr>
              <a:spcBef>
                <a:spcPts val="700"/>
              </a:spcBef>
            </a:pPr>
            <a:r>
              <a:rPr sz="1700">
                <a:solidFill>
                  <a:srgbClr val="FFFFFF"/>
                </a:solidFill>
              </a:rPr>
              <a:t>Médias por categoria:</a:t>
            </a:r>
          </a:p>
          <a:p>
            <a:pPr>
              <a:spcBef>
                <a:spcPts val="700"/>
              </a:spcBef>
            </a:pPr>
            <a:r>
              <a:rPr sz="1700">
                <a:solidFill>
                  <a:srgbClr val="FFFFFF"/>
                </a:solidFill>
              </a:rPr>
              <a:t>  Best Actress       ~37 anos</a:t>
            </a:r>
          </a:p>
          <a:p>
            <a:pPr>
              <a:spcBef>
                <a:spcPts val="700"/>
              </a:spcBef>
            </a:pPr>
            <a:r>
              <a:rPr sz="1700">
                <a:solidFill>
                  <a:srgbClr val="FFFFFF"/>
                </a:solidFill>
              </a:rPr>
              <a:t>  Best Actor         ~43 anos</a:t>
            </a:r>
          </a:p>
          <a:p>
            <a:pPr>
              <a:spcBef>
                <a:spcPts val="700"/>
              </a:spcBef>
            </a:pPr>
            <a:r>
              <a:rPr sz="1700">
                <a:solidFill>
                  <a:srgbClr val="FFFFFF"/>
                </a:solidFill>
              </a:rPr>
              <a:t>  Best Director      ~48 anos</a:t>
            </a:r>
          </a:p>
          <a:p>
            <a:pPr>
              <a:spcBef>
                <a:spcPts val="700"/>
              </a:spcBef>
            </a:pPr>
            <a:r>
              <a:rPr sz="1700">
                <a:solidFill>
                  <a:srgbClr val="FFFFFF"/>
                </a:solidFill>
              </a:rPr>
              <a:t>  Best Supp. Actor   ~51 anos</a:t>
            </a:r>
          </a:p>
          <a:p>
            <a:pPr>
              <a:spcBef>
                <a:spcPts val="700"/>
              </a:spcBef>
            </a:pPr>
            <a:endParaRPr sz="1700">
              <a:solidFill>
                <a:srgbClr val="FFFFFF"/>
              </a:solidFill>
            </a:endParaRPr>
          </a:p>
          <a:p>
            <a:pPr>
              <a:spcBef>
                <a:spcPts val="700"/>
              </a:spcBef>
            </a:pPr>
            <a:r>
              <a:rPr sz="1700">
                <a:solidFill>
                  <a:srgbClr val="FFFFFF"/>
                </a:solidFill>
              </a:rPr>
              <a:t>Técnica: AVG / MIN / MAX</a:t>
            </a:r>
          </a:p>
          <a:p>
            <a:pPr>
              <a:spcBef>
                <a:spcPts val="700"/>
              </a:spcBef>
            </a:pPr>
            <a:r>
              <a:rPr sz="1700">
                <a:solidFill>
                  <a:srgbClr val="FFFFFF"/>
                </a:solidFill>
              </a:rPr>
              <a:t>agrupado por categoria.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40680" y="1170432"/>
            <a:ext cx="19050" cy="5093208"/>
          </a:xfrm>
          <a:prstGeom prst="rect">
            <a:avLst/>
          </a:prstGeom>
          <a:solidFill>
            <a:srgbClr val="C8A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1" name="Picture 10" descr="grafico_p3_idade_categori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05272" y="1170432"/>
            <a:ext cx="6355080" cy="5093208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47472" cy="6858000"/>
          </a:xfrm>
          <a:prstGeom prst="rect">
            <a:avLst/>
          </a:prstGeom>
          <a:solidFill>
            <a:srgbClr val="C8A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6739128"/>
            <a:ext cx="12188952" cy="118872"/>
          </a:xfrm>
          <a:prstGeom prst="rect">
            <a:avLst/>
          </a:prstGeom>
          <a:solidFill>
            <a:srgbClr val="C8A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548640" y="1115568"/>
            <a:ext cx="11365992" cy="19050"/>
          </a:xfrm>
          <a:prstGeom prst="rect">
            <a:avLst/>
          </a:prstGeom>
          <a:solidFill>
            <a:srgbClr val="C8A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48640" y="228600"/>
            <a:ext cx="11365992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C8A000"/>
                </a:solidFill>
              </a:rPr>
              <a:t>P4 — Maior intervalo entre vitórias consecutivas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170432"/>
            <a:ext cx="4846320" cy="5093208"/>
          </a:xfrm>
          <a:prstGeom prst="rect">
            <a:avLst/>
          </a:prstGeom>
          <a:solidFill>
            <a:srgbClr val="26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48640" y="1225296"/>
            <a:ext cx="47548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BBBBBB"/>
                </a:solidFill>
              </a:rPr>
              <a:t>Entre quem ganhou mais de um Oscar, alguns artistas esperaram décadas pelo retorno ao palco — evidência de carreiras longas e resilientes.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801368"/>
            <a:ext cx="475488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700"/>
              </a:spcBef>
            </a:pPr>
            <a:r>
              <a:rPr sz="1700">
                <a:solidFill>
                  <a:srgbClr val="FFFFFF"/>
                </a:solidFill>
              </a:rPr>
              <a:t>Maiores intervalos registrados:</a:t>
            </a:r>
          </a:p>
          <a:p>
            <a:pPr>
              <a:spcBef>
                <a:spcPts val="700"/>
              </a:spcBef>
            </a:pPr>
            <a:r>
              <a:rPr sz="1700">
                <a:solidFill>
                  <a:srgbClr val="FFFFFF"/>
                </a:solidFill>
              </a:rPr>
              <a:t>  Helen Hayes</a:t>
            </a:r>
          </a:p>
          <a:p>
            <a:pPr>
              <a:spcBef>
                <a:spcPts val="700"/>
              </a:spcBef>
            </a:pPr>
            <a:r>
              <a:rPr sz="1700">
                <a:solidFill>
                  <a:srgbClr val="FFFFFF"/>
                </a:solidFill>
              </a:rPr>
              <a:t>    1932 → 1971  (39 anos de espera)</a:t>
            </a:r>
          </a:p>
          <a:p>
            <a:pPr>
              <a:spcBef>
                <a:spcPts val="700"/>
              </a:spcBef>
            </a:pPr>
            <a:r>
              <a:rPr sz="1700">
                <a:solidFill>
                  <a:srgbClr val="FFFFFF"/>
                </a:solidFill>
              </a:rPr>
              <a:t>  Katharine Hepburn</a:t>
            </a:r>
          </a:p>
          <a:p>
            <a:pPr>
              <a:spcBef>
                <a:spcPts val="700"/>
              </a:spcBef>
            </a:pPr>
            <a:r>
              <a:rPr sz="1700">
                <a:solidFill>
                  <a:srgbClr val="FFFFFF"/>
                </a:solidFill>
              </a:rPr>
              <a:t>    1934 → 1968  (34 anos)</a:t>
            </a:r>
          </a:p>
          <a:p>
            <a:pPr>
              <a:spcBef>
                <a:spcPts val="700"/>
              </a:spcBef>
            </a:pPr>
            <a:endParaRPr sz="1700">
              <a:solidFill>
                <a:srgbClr val="FFFFFF"/>
              </a:solidFill>
            </a:endParaRPr>
          </a:p>
          <a:p>
            <a:pPr>
              <a:spcBef>
                <a:spcPts val="700"/>
              </a:spcBef>
            </a:pPr>
            <a:r>
              <a:rPr sz="1700">
                <a:solidFill>
                  <a:srgbClr val="FFFFFF"/>
                </a:solidFill>
              </a:rPr>
              <a:t>Esses números revelam que o</a:t>
            </a:r>
          </a:p>
          <a:p>
            <a:pPr>
              <a:spcBef>
                <a:spcPts val="700"/>
              </a:spcBef>
            </a:pPr>
            <a:r>
              <a:rPr sz="1700">
                <a:solidFill>
                  <a:srgbClr val="FFFFFF"/>
                </a:solidFill>
              </a:rPr>
              <a:t>reconhecimento pode ser tardio —</a:t>
            </a:r>
          </a:p>
          <a:p>
            <a:pPr>
              <a:spcBef>
                <a:spcPts val="700"/>
              </a:spcBef>
            </a:pPr>
            <a:r>
              <a:rPr sz="1700">
                <a:solidFill>
                  <a:srgbClr val="FFFFFF"/>
                </a:solidFill>
              </a:rPr>
              <a:t>mas também que certas carreiras</a:t>
            </a:r>
          </a:p>
          <a:p>
            <a:pPr>
              <a:spcBef>
                <a:spcPts val="700"/>
              </a:spcBef>
            </a:pPr>
            <a:r>
              <a:rPr sz="1700">
                <a:solidFill>
                  <a:srgbClr val="FFFFFF"/>
                </a:solidFill>
              </a:rPr>
              <a:t>atravessam gerações.</a:t>
            </a:r>
          </a:p>
          <a:p>
            <a:pPr>
              <a:spcBef>
                <a:spcPts val="700"/>
              </a:spcBef>
            </a:pPr>
            <a:endParaRPr sz="1700">
              <a:solidFill>
                <a:srgbClr val="FFFFFF"/>
              </a:solidFill>
            </a:endParaRPr>
          </a:p>
          <a:p>
            <a:pPr>
              <a:spcBef>
                <a:spcPts val="700"/>
              </a:spcBef>
            </a:pPr>
            <a:r>
              <a:rPr sz="1700">
                <a:solidFill>
                  <a:srgbClr val="FFFFFF"/>
                </a:solidFill>
              </a:rPr>
              <a:t>Técnica: LAG() compara cada</a:t>
            </a:r>
          </a:p>
          <a:p>
            <a:pPr>
              <a:spcBef>
                <a:spcPts val="700"/>
              </a:spcBef>
            </a:pPr>
            <a:r>
              <a:rPr sz="1700">
                <a:solidFill>
                  <a:srgbClr val="FFFFFF"/>
                </a:solidFill>
              </a:rPr>
              <a:t>vitória com a anterior do mesmo</a:t>
            </a:r>
          </a:p>
          <a:p>
            <a:pPr>
              <a:spcBef>
                <a:spcPts val="700"/>
              </a:spcBef>
            </a:pPr>
            <a:r>
              <a:rPr sz="1700">
                <a:solidFill>
                  <a:srgbClr val="FFFFFF"/>
                </a:solidFill>
              </a:rPr>
              <a:t>artista (PARTITION BY vencedor).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40680" y="1170432"/>
            <a:ext cx="19050" cy="5093208"/>
          </a:xfrm>
          <a:prstGeom prst="rect">
            <a:avLst/>
          </a:prstGeom>
          <a:solidFill>
            <a:srgbClr val="C8A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1" name="Picture 10" descr="grafico_p4_intervalo_vitori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05272" y="1170432"/>
            <a:ext cx="6355080" cy="5093208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47472" cy="6858000"/>
          </a:xfrm>
          <a:prstGeom prst="rect">
            <a:avLst/>
          </a:prstGeom>
          <a:solidFill>
            <a:srgbClr val="C8A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6739128"/>
            <a:ext cx="12188952" cy="118872"/>
          </a:xfrm>
          <a:prstGeom prst="rect">
            <a:avLst/>
          </a:prstGeom>
          <a:solidFill>
            <a:srgbClr val="C8A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548640" y="1115568"/>
            <a:ext cx="11365992" cy="19050"/>
          </a:xfrm>
          <a:prstGeom prst="rect">
            <a:avLst/>
          </a:prstGeom>
          <a:solidFill>
            <a:srgbClr val="C8A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48640" y="228600"/>
            <a:ext cx="11365992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C8A000"/>
                </a:solidFill>
              </a:rPr>
              <a:t>P5 — Primeiro vencedor não-branco por categoria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170432"/>
            <a:ext cx="4846320" cy="5093208"/>
          </a:xfrm>
          <a:prstGeom prst="rect">
            <a:avLst/>
          </a:prstGeom>
          <a:solidFill>
            <a:srgbClr val="26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48640" y="1225296"/>
            <a:ext cx="47548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BBBBBB"/>
                </a:solidFill>
              </a:rPr>
              <a:t>Esta consulta marca momentos históricos concretos: o ano exato em que cada categoria foi vencida pela primeira vez por um artista não-branco.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801368"/>
            <a:ext cx="475488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700"/>
              </a:spcBef>
            </a:pPr>
            <a:r>
              <a:rPr sz="1700">
                <a:solidFill>
                  <a:srgbClr val="FFFFFF"/>
                </a:solidFill>
              </a:rPr>
              <a:t>Primeiras vitórias não-brancas:</a:t>
            </a:r>
          </a:p>
          <a:p>
            <a:pPr>
              <a:spcBef>
                <a:spcPts val="700"/>
              </a:spcBef>
            </a:pPr>
            <a:r>
              <a:rPr sz="1700">
                <a:solidFill>
                  <a:srgbClr val="FFFFFF"/>
                </a:solidFill>
              </a:rPr>
              <a:t>  Supp. Actress — Hattie McDaniel</a:t>
            </a:r>
          </a:p>
          <a:p>
            <a:pPr>
              <a:spcBef>
                <a:spcPts val="700"/>
              </a:spcBef>
            </a:pPr>
            <a:r>
              <a:rPr sz="1700">
                <a:solidFill>
                  <a:srgbClr val="FFFFFF"/>
                </a:solidFill>
              </a:rPr>
              <a:t>    Black · 1940</a:t>
            </a:r>
          </a:p>
          <a:p>
            <a:pPr>
              <a:spcBef>
                <a:spcPts val="700"/>
              </a:spcBef>
            </a:pPr>
            <a:r>
              <a:rPr sz="1700">
                <a:solidFill>
                  <a:srgbClr val="FFFFFF"/>
                </a:solidFill>
              </a:rPr>
              <a:t>  Best Actor — Jose Ferrer</a:t>
            </a:r>
          </a:p>
          <a:p>
            <a:pPr>
              <a:spcBef>
                <a:spcPts val="700"/>
              </a:spcBef>
            </a:pPr>
            <a:r>
              <a:rPr sz="1700">
                <a:solidFill>
                  <a:srgbClr val="FFFFFF"/>
                </a:solidFill>
              </a:rPr>
              <a:t>    Hispanic · 1951</a:t>
            </a:r>
          </a:p>
          <a:p>
            <a:pPr>
              <a:spcBef>
                <a:spcPts val="700"/>
              </a:spcBef>
            </a:pPr>
            <a:r>
              <a:rPr sz="1700">
                <a:solidFill>
                  <a:srgbClr val="FFFFFF"/>
                </a:solidFill>
              </a:rPr>
              <a:t>  Supp. Actor — Anthony Quinn</a:t>
            </a:r>
          </a:p>
          <a:p>
            <a:pPr>
              <a:spcBef>
                <a:spcPts val="700"/>
              </a:spcBef>
            </a:pPr>
            <a:r>
              <a:rPr sz="1700">
                <a:solidFill>
                  <a:srgbClr val="FFFFFF"/>
                </a:solidFill>
              </a:rPr>
              <a:t>    Hispanic · 1953</a:t>
            </a:r>
          </a:p>
          <a:p>
            <a:pPr>
              <a:spcBef>
                <a:spcPts val="700"/>
              </a:spcBef>
            </a:pPr>
            <a:r>
              <a:rPr sz="1700">
                <a:solidFill>
                  <a:srgbClr val="FFFFFF"/>
                </a:solidFill>
              </a:rPr>
              <a:t>  Best Actress — Halle Berry</a:t>
            </a:r>
          </a:p>
          <a:p>
            <a:pPr>
              <a:spcBef>
                <a:spcPts val="700"/>
              </a:spcBef>
            </a:pPr>
            <a:r>
              <a:rPr sz="1700">
                <a:solidFill>
                  <a:srgbClr val="FFFFFF"/>
                </a:solidFill>
              </a:rPr>
              <a:t>    Multiracial · 2002</a:t>
            </a:r>
          </a:p>
          <a:p>
            <a:pPr>
              <a:spcBef>
                <a:spcPts val="700"/>
              </a:spcBef>
            </a:pPr>
            <a:r>
              <a:rPr sz="1700">
                <a:solidFill>
                  <a:srgbClr val="FFFFFF"/>
                </a:solidFill>
              </a:rPr>
              <a:t>  Best Director — Ang Lee</a:t>
            </a:r>
          </a:p>
          <a:p>
            <a:pPr>
              <a:spcBef>
                <a:spcPts val="700"/>
              </a:spcBef>
            </a:pPr>
            <a:r>
              <a:rPr sz="1700">
                <a:solidFill>
                  <a:srgbClr val="FFFFFF"/>
                </a:solidFill>
              </a:rPr>
              <a:t>    Asian · 2006</a:t>
            </a:r>
          </a:p>
          <a:p>
            <a:pPr>
              <a:spcBef>
                <a:spcPts val="700"/>
              </a:spcBef>
            </a:pPr>
            <a:endParaRPr sz="1700">
              <a:solidFill>
                <a:srgbClr val="FFFFFF"/>
              </a:solidFill>
            </a:endParaRPr>
          </a:p>
          <a:p>
            <a:pPr>
              <a:spcBef>
                <a:spcPts val="700"/>
              </a:spcBef>
            </a:pPr>
            <a:r>
              <a:rPr sz="1700">
                <a:solidFill>
                  <a:srgbClr val="FFFFFF"/>
                </a:solidFill>
              </a:rPr>
              <a:t>Técnica: CTE + ROW_NUMBER()</a:t>
            </a:r>
          </a:p>
          <a:p>
            <a:pPr>
              <a:spcBef>
                <a:spcPts val="700"/>
              </a:spcBef>
            </a:pPr>
            <a:r>
              <a:rPr sz="1700">
                <a:solidFill>
                  <a:srgbClr val="FFFFFF"/>
                </a:solidFill>
              </a:rPr>
              <a:t>OVER (PARTITION BY categoria)</a:t>
            </a:r>
          </a:p>
          <a:p>
            <a:pPr>
              <a:spcBef>
                <a:spcPts val="700"/>
              </a:spcBef>
            </a:pPr>
            <a:r>
              <a:rPr sz="1700">
                <a:solidFill>
                  <a:srgbClr val="FFFFFF"/>
                </a:solidFill>
              </a:rPr>
              <a:t>para isolar o primeiro de cada.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40680" y="1170432"/>
            <a:ext cx="19050" cy="5093208"/>
          </a:xfrm>
          <a:prstGeom prst="rect">
            <a:avLst/>
          </a:prstGeom>
          <a:solidFill>
            <a:srgbClr val="C8A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1" name="Picture 10" descr="grafico_p5_primeira_vitoria_nao_branc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05272" y="1170432"/>
            <a:ext cx="6355080" cy="5093208"/>
          </a:xfrm>
          <a:prstGeom prst="rect">
            <a:avLst/>
          </a:prstGeom>
        </p:spPr>
      </p:pic>
      <p:sp>
        <p:nvSpPr>
          <p:cNvPr id="12" name="Rectangle 11"/>
          <p:cNvSpPr/>
          <p:nvPr/>
        </p:nvSpPr>
        <p:spPr>
          <a:xfrm>
            <a:off x="548640" y="5989320"/>
            <a:ext cx="11365992" cy="566928"/>
          </a:xfrm>
          <a:prstGeom prst="rect">
            <a:avLst/>
          </a:prstGeom>
          <a:solidFill>
            <a:srgbClr val="C8A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40080" y="6007608"/>
            <a:ext cx="11183112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1A1A1A"/>
                </a:solidFill>
              </a:rPr>
              <a:t>Best Director esperou 79 anos para ter um vencedor não-branco — quase o dobro da vida humana média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F3F616-26D8-049D-774E-2D2C209FF6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AABEF0E2-5FF5-EF22-6A62-D3BF695BF230}"/>
              </a:ext>
            </a:extLst>
          </p:cNvPr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6F7A25F5-0573-3A6B-214D-CEA17D53038A}"/>
              </a:ext>
            </a:extLst>
          </p:cNvPr>
          <p:cNvSpPr/>
          <p:nvPr/>
        </p:nvSpPr>
        <p:spPr>
          <a:xfrm>
            <a:off x="0" y="0"/>
            <a:ext cx="347472" cy="6858000"/>
          </a:xfrm>
          <a:prstGeom prst="rect">
            <a:avLst/>
          </a:prstGeom>
          <a:solidFill>
            <a:srgbClr val="C8A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F4E52F68-7487-2985-3285-C803E9705DD0}"/>
              </a:ext>
            </a:extLst>
          </p:cNvPr>
          <p:cNvSpPr/>
          <p:nvPr/>
        </p:nvSpPr>
        <p:spPr>
          <a:xfrm>
            <a:off x="0" y="6739128"/>
            <a:ext cx="12188952" cy="118872"/>
          </a:xfrm>
          <a:prstGeom prst="rect">
            <a:avLst/>
          </a:prstGeom>
          <a:solidFill>
            <a:srgbClr val="C8A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85A841BE-7CBF-8474-BB96-ED2E6A5149FE}"/>
              </a:ext>
            </a:extLst>
          </p:cNvPr>
          <p:cNvSpPr/>
          <p:nvPr/>
        </p:nvSpPr>
        <p:spPr>
          <a:xfrm>
            <a:off x="548640" y="1115568"/>
            <a:ext cx="11365992" cy="19050"/>
          </a:xfrm>
          <a:prstGeom prst="rect">
            <a:avLst/>
          </a:prstGeom>
          <a:solidFill>
            <a:srgbClr val="C8A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B40E0D7-4F6E-2C6D-B7B2-447E63E6B273}"/>
              </a:ext>
            </a:extLst>
          </p:cNvPr>
          <p:cNvSpPr txBox="1"/>
          <p:nvPr/>
        </p:nvSpPr>
        <p:spPr>
          <a:xfrm>
            <a:off x="548640" y="228600"/>
            <a:ext cx="11365992" cy="4924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 dirty="0">
                <a:solidFill>
                  <a:srgbClr val="C8A000"/>
                </a:solidFill>
              </a:rPr>
              <a:t>P</a:t>
            </a:r>
            <a:r>
              <a:rPr lang="pt-BR" sz="2600" b="1" i="0" dirty="0">
                <a:solidFill>
                  <a:srgbClr val="C8A000"/>
                </a:solidFill>
              </a:rPr>
              <a:t>6</a:t>
            </a:r>
            <a:r>
              <a:rPr sz="2600" b="1" i="0" dirty="0">
                <a:solidFill>
                  <a:srgbClr val="C8A000"/>
                </a:solidFill>
              </a:rPr>
              <a:t> — </a:t>
            </a:r>
            <a:r>
              <a:rPr lang="pt-BR" sz="2600" b="1" i="0" dirty="0">
                <a:solidFill>
                  <a:srgbClr val="C8A000"/>
                </a:solidFill>
              </a:rPr>
              <a:t>Número de prêmios por país</a:t>
            </a:r>
            <a:endParaRPr sz="2600" b="1" i="0" dirty="0">
              <a:solidFill>
                <a:srgbClr val="C8A000"/>
              </a:solidFill>
            </a:endParaRPr>
          </a:p>
        </p:txBody>
      </p:sp>
      <p:pic>
        <p:nvPicPr>
          <p:cNvPr id="15" name="Imagem 14" descr="Gráfico, Gráfico de caixa estreita&#10;&#10;O conteúdo gerado por IA pode estar incorreto.">
            <a:extLst>
              <a:ext uri="{FF2B5EF4-FFF2-40B4-BE49-F238E27FC236}">
                <a16:creationId xmlns:a16="http://schemas.microsoft.com/office/drawing/2014/main" id="{B49D1E5B-309F-7ECD-F647-83F1E2FA0B4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078141"/>
            <a:ext cx="5051430" cy="3664291"/>
          </a:xfrm>
          <a:prstGeom prst="rect">
            <a:avLst/>
          </a:prstGeom>
        </p:spPr>
      </p:pic>
      <p:pic>
        <p:nvPicPr>
          <p:cNvPr id="17" name="Imagem 16" descr="Gráfico, Gráfico de barras&#10;&#10;O conteúdo gerado por IA pode estar incorreto.">
            <a:extLst>
              <a:ext uri="{FF2B5EF4-FFF2-40B4-BE49-F238E27FC236}">
                <a16:creationId xmlns:a16="http://schemas.microsoft.com/office/drawing/2014/main" id="{C2ED814B-9AC3-BD70-2AB4-1395F194E6B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81129" y="1170432"/>
            <a:ext cx="6076352" cy="54494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6139585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107489"/>
    </mc:Choice>
    <mc:Fallback xmlns="">
      <p:transition spd="slow" advTm="107489"/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47472" cy="6858000"/>
          </a:xfrm>
          <a:prstGeom prst="rect">
            <a:avLst/>
          </a:prstGeom>
          <a:solidFill>
            <a:srgbClr val="C8A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6739128"/>
            <a:ext cx="12188952" cy="118872"/>
          </a:xfrm>
          <a:prstGeom prst="rect">
            <a:avLst/>
          </a:prstGeom>
          <a:solidFill>
            <a:srgbClr val="C8A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548640" y="1115568"/>
            <a:ext cx="11365992" cy="19050"/>
          </a:xfrm>
          <a:prstGeom prst="rect">
            <a:avLst/>
          </a:prstGeom>
          <a:solidFill>
            <a:srgbClr val="C8A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48640" y="228600"/>
            <a:ext cx="11365992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C8A000"/>
                </a:solidFill>
              </a:rPr>
              <a:t>8  Conclusão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207008"/>
            <a:ext cx="1136599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1">
                <a:solidFill>
                  <a:srgbClr val="BBBBBB"/>
                </a:solidFill>
              </a:rPr>
              <a:t>O projeto entregou o ciclo completo de um banco de dados relacional, unindo rigor técnico com uma análise que tem algo real a dizer sobre representatividade.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1828800"/>
            <a:ext cx="5614416" cy="2286000"/>
          </a:xfrm>
          <a:prstGeom prst="rect">
            <a:avLst/>
          </a:prstGeom>
          <a:solidFill>
            <a:srgbClr val="262626"/>
          </a:solidFill>
          <a:ln w="9525">
            <a:solidFill>
              <a:srgbClr val="C8A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85800" y="1901952"/>
            <a:ext cx="5340096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C8A000"/>
                </a:solidFill>
              </a:rPr>
              <a:t>Ciclo técnico completo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2267712"/>
            <a:ext cx="5340096" cy="1783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500"/>
              </a:spcBef>
            </a:pPr>
            <a:r>
              <a:rPr sz="1300">
                <a:solidFill>
                  <a:srgbClr val="FFFFFF"/>
                </a:solidFill>
              </a:rPr>
              <a:t>ER → Relacional → 3FN → DDL</a:t>
            </a:r>
          </a:p>
          <a:p>
            <a:pPr>
              <a:spcBef>
                <a:spcPts val="500"/>
              </a:spcBef>
            </a:pPr>
            <a:r>
              <a:rPr sz="1300">
                <a:solidFill>
                  <a:srgbClr val="FFFFFF"/>
                </a:solidFill>
              </a:rPr>
              <a:t>Pipeline com tratamento de NULLs e deduplicação</a:t>
            </a:r>
          </a:p>
          <a:p>
            <a:pPr>
              <a:spcBef>
                <a:spcPts val="500"/>
              </a:spcBef>
            </a:pPr>
            <a:r>
              <a:rPr sz="1300">
                <a:solidFill>
                  <a:srgbClr val="FFFFFF"/>
                </a:solidFill>
              </a:rPr>
              <a:t>Validação com 8 checks SQL</a:t>
            </a:r>
          </a:p>
          <a:p>
            <a:pPr>
              <a:spcBef>
                <a:spcPts val="500"/>
              </a:spcBef>
            </a:pPr>
            <a:r>
              <a:rPr sz="1300">
                <a:solidFill>
                  <a:srgbClr val="FFFFFF"/>
                </a:solidFill>
              </a:rPr>
              <a:t>5 consultas com técnicas avançadas</a:t>
            </a:r>
          </a:p>
          <a:p>
            <a:pPr>
              <a:spcBef>
                <a:spcPts val="500"/>
              </a:spcBef>
            </a:pPr>
            <a:r>
              <a:rPr sz="1300">
                <a:solidFill>
                  <a:srgbClr val="FFFFFF"/>
                </a:solidFill>
              </a:rPr>
              <a:t>5 gráficos gerados diretamente do banco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00216" y="1828800"/>
            <a:ext cx="5614416" cy="2286000"/>
          </a:xfrm>
          <a:prstGeom prst="rect">
            <a:avLst/>
          </a:prstGeom>
          <a:solidFill>
            <a:srgbClr val="262626"/>
          </a:solidFill>
          <a:ln w="9525">
            <a:solidFill>
              <a:srgbClr val="C8A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437376" y="1901952"/>
            <a:ext cx="5340096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C8A000"/>
                </a:solidFill>
              </a:rPr>
              <a:t>Achados mais impactantes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37376" y="2267712"/>
            <a:ext cx="5340096" cy="1783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500"/>
              </a:spcBef>
            </a:pPr>
            <a:r>
              <a:rPr sz="1300">
                <a:solidFill>
                  <a:srgbClr val="FFFFFF"/>
                </a:solidFill>
              </a:rPr>
              <a:t>79 anos para o 1° diretor não-branco (Ang Lee, 2006)</a:t>
            </a:r>
          </a:p>
          <a:p>
            <a:pPr>
              <a:spcBef>
                <a:spcPts val="500"/>
              </a:spcBef>
            </a:pPr>
            <a:r>
              <a:rPr sz="1300">
                <a:solidFill>
                  <a:srgbClr val="FFFFFF"/>
                </a:solidFill>
              </a:rPr>
              <a:t>Em 2014 apenas ~19% dos premiados eram não-brancos</a:t>
            </a:r>
          </a:p>
          <a:p>
            <a:pPr>
              <a:spcBef>
                <a:spcPts val="500"/>
              </a:spcBef>
            </a:pPr>
            <a:r>
              <a:rPr sz="1300">
                <a:solidFill>
                  <a:srgbClr val="FFFFFF"/>
                </a:solidFill>
              </a:rPr>
              <a:t>Helen Hayes: 39 anos entre a 1ª e a 2ª vitória</a:t>
            </a:r>
          </a:p>
          <a:p>
            <a:pPr>
              <a:spcBef>
                <a:spcPts val="500"/>
              </a:spcBef>
            </a:pPr>
            <a:r>
              <a:rPr sz="1300">
                <a:solidFill>
                  <a:srgbClr val="FFFFFF"/>
                </a:solidFill>
              </a:rPr>
              <a:t>60 filmes dominaram 2+ categorias na mesma cerimônia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4251960"/>
            <a:ext cx="11365992" cy="1508760"/>
          </a:xfrm>
          <a:prstGeom prst="rect">
            <a:avLst/>
          </a:prstGeom>
          <a:solidFill>
            <a:srgbClr val="352A00"/>
          </a:solidFill>
          <a:ln w="9525">
            <a:solidFill>
              <a:srgbClr val="C8A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85800" y="4315968"/>
            <a:ext cx="1109167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C8A000"/>
                </a:solidFill>
              </a:rPr>
              <a:t>Decisões de design que fizeram diferença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" y="4663440"/>
            <a:ext cx="11091672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500"/>
              </a:spcBef>
            </a:pPr>
            <a:r>
              <a:rPr sz="1200">
                <a:solidFill>
                  <a:srgbClr val="BBBBBB"/>
                </a:solidFill>
              </a:rPr>
              <a:t>→  PREMIO como entidade associativa captura a granularidade exata do dataset</a:t>
            </a:r>
          </a:p>
          <a:p>
            <a:pPr>
              <a:spcBef>
                <a:spcPts val="500"/>
              </a:spcBef>
            </a:pPr>
            <a:r>
              <a:rPr sz="1200">
                <a:solidFill>
                  <a:srgbClr val="BBBBBB"/>
                </a:solidFill>
              </a:rPr>
              <a:t>→  UNIQUE (vencedor, categoria, edição) — o banco impede dados impossíveis por construção</a:t>
            </a:r>
          </a:p>
          <a:p>
            <a:pPr>
              <a:spcBef>
                <a:spcPts val="500"/>
              </a:spcBef>
            </a:pPr>
            <a:r>
              <a:rPr sz="1200">
                <a:solidFill>
                  <a:srgbClr val="BBBBBB"/>
                </a:solidFill>
              </a:rPr>
              <a:t>→  "Na" tratado como NULL desde a carga  ·  ano_nascimento preservado sem violar 3FN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5989320"/>
            <a:ext cx="11365992" cy="566928"/>
          </a:xfrm>
          <a:prstGeom prst="rect">
            <a:avLst/>
          </a:prstGeom>
          <a:solidFill>
            <a:srgbClr val="C8A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40080" y="6007608"/>
            <a:ext cx="11183112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1A1A1A"/>
                </a:solidFill>
              </a:rPr>
              <a:t>415 linhas de CSV  →  5 tabelas  →  5 gráficos  →  1 história sobre representatividade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240"/>
    </mc:Choice>
    <mc:Fallback xmlns="">
      <p:transition spd="slow" advTm="2240"/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47472" cy="6858000"/>
          </a:xfrm>
          <a:prstGeom prst="rect">
            <a:avLst/>
          </a:prstGeom>
          <a:solidFill>
            <a:srgbClr val="C8A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6739128"/>
            <a:ext cx="12188952" cy="118872"/>
          </a:xfrm>
          <a:prstGeom prst="rect">
            <a:avLst/>
          </a:prstGeom>
          <a:solidFill>
            <a:srgbClr val="C8A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48640" y="228600"/>
            <a:ext cx="11365992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C8A000"/>
                </a:solidFill>
              </a:rPr>
              <a:t>Vídeo 1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115568"/>
            <a:ext cx="11365992" cy="19050"/>
          </a:xfrm>
          <a:prstGeom prst="rect">
            <a:avLst/>
          </a:prstGeom>
          <a:solidFill>
            <a:srgbClr val="C8A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548640" y="1280160"/>
            <a:ext cx="11365992" cy="5074920"/>
          </a:xfrm>
          <a:prstGeom prst="rect">
            <a:avLst/>
          </a:prstGeom>
          <a:solidFill>
            <a:srgbClr val="2A2A2A"/>
          </a:solidFill>
          <a:ln w="19050">
            <a:solidFill>
              <a:srgbClr val="C8A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48640" y="2743200"/>
            <a:ext cx="11365992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200" b="0" i="0">
                <a:solidFill>
                  <a:srgbClr val="C8A000"/>
                </a:solidFill>
              </a:rPr>
              <a:t>▶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4023360"/>
            <a:ext cx="11365992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888888"/>
                </a:solidFill>
              </a:rPr>
              <a:t>Insira o vídeo aqui  —  Inserir → Vídeo → Este Dispositivo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47472" cy="6858000"/>
          </a:xfrm>
          <a:prstGeom prst="rect">
            <a:avLst/>
          </a:prstGeom>
          <a:solidFill>
            <a:srgbClr val="C8A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6739128"/>
            <a:ext cx="12188952" cy="118872"/>
          </a:xfrm>
          <a:prstGeom prst="rect">
            <a:avLst/>
          </a:prstGeom>
          <a:solidFill>
            <a:srgbClr val="C8A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48640" y="228600"/>
            <a:ext cx="11365992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C8A000"/>
                </a:solidFill>
              </a:rPr>
              <a:t>Vídeo 2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115568"/>
            <a:ext cx="11365992" cy="19050"/>
          </a:xfrm>
          <a:prstGeom prst="rect">
            <a:avLst/>
          </a:prstGeom>
          <a:solidFill>
            <a:srgbClr val="C8A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548640" y="1280160"/>
            <a:ext cx="11365992" cy="5074920"/>
          </a:xfrm>
          <a:prstGeom prst="rect">
            <a:avLst/>
          </a:prstGeom>
          <a:solidFill>
            <a:srgbClr val="2A2A2A"/>
          </a:solidFill>
          <a:ln w="19050">
            <a:solidFill>
              <a:srgbClr val="C8A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48640" y="2743200"/>
            <a:ext cx="11365992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200" b="0" i="0">
                <a:solidFill>
                  <a:srgbClr val="C8A000"/>
                </a:solidFill>
              </a:rPr>
              <a:t>▶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4023360"/>
            <a:ext cx="11365992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888888"/>
                </a:solidFill>
              </a:rPr>
              <a:t>Insira o vídeo aqui  —  Inserir → Vídeo → Este Dispositivo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47472" cy="6858000"/>
          </a:xfrm>
          <a:prstGeom prst="rect">
            <a:avLst/>
          </a:prstGeom>
          <a:solidFill>
            <a:srgbClr val="C8A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6739128"/>
            <a:ext cx="12188952" cy="118872"/>
          </a:xfrm>
          <a:prstGeom prst="rect">
            <a:avLst/>
          </a:prstGeom>
          <a:solidFill>
            <a:srgbClr val="C8A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48640" y="228600"/>
            <a:ext cx="11365992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C8A000"/>
                </a:solidFill>
              </a:rPr>
              <a:t>Vídeo 3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115568"/>
            <a:ext cx="11365992" cy="19050"/>
          </a:xfrm>
          <a:prstGeom prst="rect">
            <a:avLst/>
          </a:prstGeom>
          <a:solidFill>
            <a:srgbClr val="C8A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548640" y="1280160"/>
            <a:ext cx="11365992" cy="5074920"/>
          </a:xfrm>
          <a:prstGeom prst="rect">
            <a:avLst/>
          </a:prstGeom>
          <a:solidFill>
            <a:srgbClr val="2A2A2A"/>
          </a:solidFill>
          <a:ln w="19050">
            <a:solidFill>
              <a:srgbClr val="C8A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48640" y="2743200"/>
            <a:ext cx="11365992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200" b="0" i="0">
                <a:solidFill>
                  <a:srgbClr val="C8A000"/>
                </a:solidFill>
              </a:rPr>
              <a:t>▶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4023360"/>
            <a:ext cx="11365992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888888"/>
                </a:solidFill>
              </a:rPr>
              <a:t>Insira o vídeo aqui  —  Inserir → Vídeo → Este Dispositivo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47472" cy="6858000"/>
          </a:xfrm>
          <a:prstGeom prst="rect">
            <a:avLst/>
          </a:prstGeom>
          <a:solidFill>
            <a:srgbClr val="C8A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6739128"/>
            <a:ext cx="12188952" cy="118872"/>
          </a:xfrm>
          <a:prstGeom prst="rect">
            <a:avLst/>
          </a:prstGeom>
          <a:solidFill>
            <a:srgbClr val="C8A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48640" y="228600"/>
            <a:ext cx="11365992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C8A000"/>
                </a:solidFill>
              </a:rPr>
              <a:t>Vídeo 4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115568"/>
            <a:ext cx="11365992" cy="19050"/>
          </a:xfrm>
          <a:prstGeom prst="rect">
            <a:avLst/>
          </a:prstGeom>
          <a:solidFill>
            <a:srgbClr val="C8A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548640" y="1280160"/>
            <a:ext cx="11365992" cy="5074920"/>
          </a:xfrm>
          <a:prstGeom prst="rect">
            <a:avLst/>
          </a:prstGeom>
          <a:solidFill>
            <a:srgbClr val="2A2A2A"/>
          </a:solidFill>
          <a:ln w="19050">
            <a:solidFill>
              <a:srgbClr val="C8A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48640" y="2743200"/>
            <a:ext cx="11365992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200" b="0" i="0">
                <a:solidFill>
                  <a:srgbClr val="C8A000"/>
                </a:solidFill>
              </a:rPr>
              <a:t>▶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4023360"/>
            <a:ext cx="11365992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888888"/>
                </a:solidFill>
              </a:rPr>
              <a:t>Insira o vídeo aqui  —  Inserir → Vídeo → Este Dispositivo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47472" cy="6858000"/>
          </a:xfrm>
          <a:prstGeom prst="rect">
            <a:avLst/>
          </a:prstGeom>
          <a:solidFill>
            <a:srgbClr val="C8A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6739128"/>
            <a:ext cx="12188952" cy="118872"/>
          </a:xfrm>
          <a:prstGeom prst="rect">
            <a:avLst/>
          </a:prstGeom>
          <a:solidFill>
            <a:srgbClr val="C8A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48640" y="1920240"/>
            <a:ext cx="11365992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C8A000"/>
                </a:solidFill>
              </a:rPr>
              <a:t>Obrigado!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114800"/>
            <a:ext cx="11365992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FFFFFF"/>
                </a:solidFill>
              </a:rPr>
              <a:t>Dúvidas?
Oscar AMPAS  ·  DCC/UFMG  ·  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62</TotalTime>
  <Words>1841</Words>
  <Application>Microsoft Office PowerPoint</Application>
  <PresentationFormat>Personalizar</PresentationFormat>
  <Paragraphs>317</Paragraphs>
  <Slides>23</Slides>
  <Notes>2</Notes>
  <HiddenSlides>0</HiddenSlides>
  <MMClips>0</MMClips>
  <ScaleCrop>false</ScaleCrop>
  <HeadingPairs>
    <vt:vector size="6" baseType="variant">
      <vt:variant>
        <vt:lpstr>Fontes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23</vt:i4>
      </vt:variant>
    </vt:vector>
  </HeadingPairs>
  <TitlesOfParts>
    <vt:vector size="27" baseType="lpstr">
      <vt:lpstr>Aptos</vt:lpstr>
      <vt:lpstr>Arial</vt:lpstr>
      <vt:lpstr>Calibri</vt:lpstr>
      <vt:lpstr>Office Theme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Felipe Muniz</cp:lastModifiedBy>
  <cp:revision>3</cp:revision>
  <dcterms:created xsi:type="dcterms:W3CDTF">2013-01-27T09:14:16Z</dcterms:created>
  <dcterms:modified xsi:type="dcterms:W3CDTF">2026-06-26T02:45:11Z</dcterms:modified>
  <cp:category/>
</cp:coreProperties>
</file>
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5" r:id="rId6"/>
    <p:sldId id="276" r:id="rId7"/>
    <p:sldId id="277" r:id="rId8"/>
    <p:sldId id="261" r:id="rId9"/>
    <p:sldId id="262" r:id="rId10"/>
    <p:sldId id="278" r:id="rId11"/>
    <p:sldId id="263" r:id="rId12"/>
    <p:sldId id="264" r:id="rId13"/>
    <p:sldId id="265" r:id="rId14"/>
    <p:sldId id="266" r:id="rId15"/>
    <p:sldId id="267" r:id="rId16"/>
    <p:sldId id="268" r:id="rId17"/>
    <p:sldId id="279" r:id="rId18"/>
    <p:sldId id="269" r:id="rId19"/>
    <p:sldId id="270" r:id="rId20"/>
    <p:sldId id="271" r:id="rId21"/>
    <p:sldId id="272" r:id="rId22"/>
    <p:sldId id="273" r:id="rId23"/>
    <p:sldId id="274" r:id="rId24"/>
  </p:sldIdLst>
  <p:sldSz cx="12188825" cy="6858000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158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745A4E-32B8-4BDE-BC03-B1A435597FBA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74675" y="1336675"/>
            <a:ext cx="64103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F48F83-24C4-4F39-B6DC-DE786290CE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6820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308695-53E6-4105-9283-1F26C694780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6895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61630E-0AAC-4B48-97F8-5FBB87A782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11D4A0-3A26-4DF4-A6E9-8E89CF14AB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764F6E-6676-40EF-B332-8824ED280E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849A71-0E3D-4816-9BED-362AFE991F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19DF6C-0619-4D88-A343-9142382B7D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9DDFAB-715D-4694-B450-C86C3D2B2E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7E769A-ADF0-41B6-926D-ABB64D4D51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1E0C60-6941-43F1-860C-1E85AD7291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366E27-A665-4DB2-A029-B1E8A9FCC2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C589BE-EA3E-4D1F-B804-2E711FCFFB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FFD981-93F8-4901-9B8D-782BF592F0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6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548640" y="1920240"/>
            <a:ext cx="11365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Oscar AMPAS — Winner Demographics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548640" y="4114800"/>
            <a:ext cx="11365560" cy="26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spAutoFit/>
          </a:bodyPr>
          <a:lstStyle/>
          <a:p>
            <a:pPr algn="ctr"/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Projeto Final de Banco de Dados  |  DCC/UFMG  |  Prof. Pedro H. Barros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2026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Lucas Samuel Fernandes Andrade Oliveira,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Felipe Ribas Muniz,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Iury Alves Bicalho 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Bruno dos Santos Lopes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Agenda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O projeto percorre o ciclo completo de um banco de dados relacional, da escolha do dataset até a análise exploratória com visualizações.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7"/>
          <p:cNvSpPr/>
          <p:nvPr/>
        </p:nvSpPr>
        <p:spPr>
          <a:xfrm>
            <a:off x="548640" y="192024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548640" y="199332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1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603360" y="235908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Dataset e Motivação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10"/>
          <p:cNvSpPr/>
          <p:nvPr/>
        </p:nvSpPr>
        <p:spPr>
          <a:xfrm>
            <a:off x="3413160" y="192024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3413160" y="199332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2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3467880" y="235908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Modelo ER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13"/>
          <p:cNvSpPr/>
          <p:nvPr/>
        </p:nvSpPr>
        <p:spPr>
          <a:xfrm>
            <a:off x="6277320" y="192024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6277320" y="199332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3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5"/>
          <p:cNvSpPr/>
          <p:nvPr/>
        </p:nvSpPr>
        <p:spPr>
          <a:xfrm>
            <a:off x="6332400" y="235908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Modelo Relacional e 3FN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16"/>
          <p:cNvSpPr/>
          <p:nvPr/>
        </p:nvSpPr>
        <p:spPr>
          <a:xfrm>
            <a:off x="9141840" y="192024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7"/>
          <p:cNvSpPr/>
          <p:nvPr/>
        </p:nvSpPr>
        <p:spPr>
          <a:xfrm>
            <a:off x="9141840" y="199332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4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8"/>
          <p:cNvSpPr/>
          <p:nvPr/>
        </p:nvSpPr>
        <p:spPr>
          <a:xfrm>
            <a:off x="9196560" y="235908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Implementação Física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19"/>
          <p:cNvSpPr/>
          <p:nvPr/>
        </p:nvSpPr>
        <p:spPr>
          <a:xfrm>
            <a:off x="548640" y="301752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548640" y="309060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5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1"/>
          <p:cNvSpPr/>
          <p:nvPr/>
        </p:nvSpPr>
        <p:spPr>
          <a:xfrm>
            <a:off x="603360" y="345636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Pipeline de Carga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22"/>
          <p:cNvSpPr/>
          <p:nvPr/>
        </p:nvSpPr>
        <p:spPr>
          <a:xfrm>
            <a:off x="3413160" y="301752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3"/>
          <p:cNvSpPr/>
          <p:nvPr/>
        </p:nvSpPr>
        <p:spPr>
          <a:xfrm>
            <a:off x="3413160" y="309060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6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4"/>
          <p:cNvSpPr/>
          <p:nvPr/>
        </p:nvSpPr>
        <p:spPr>
          <a:xfrm>
            <a:off x="3467880" y="345636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Análise — 5 Perguntas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25"/>
          <p:cNvSpPr/>
          <p:nvPr/>
        </p:nvSpPr>
        <p:spPr>
          <a:xfrm>
            <a:off x="6277320" y="301752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6"/>
          <p:cNvSpPr/>
          <p:nvPr/>
        </p:nvSpPr>
        <p:spPr>
          <a:xfrm>
            <a:off x="6277320" y="309060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7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7"/>
          <p:cNvSpPr/>
          <p:nvPr/>
        </p:nvSpPr>
        <p:spPr>
          <a:xfrm>
            <a:off x="6332400" y="3456360"/>
            <a:ext cx="2662920" cy="28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Resultados P1–P6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28"/>
          <p:cNvSpPr/>
          <p:nvPr/>
        </p:nvSpPr>
        <p:spPr>
          <a:xfrm>
            <a:off x="9141840" y="3017520"/>
            <a:ext cx="2772720" cy="100548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9"/>
          <p:cNvSpPr/>
          <p:nvPr/>
        </p:nvSpPr>
        <p:spPr>
          <a:xfrm>
            <a:off x="9141840" y="3090600"/>
            <a:ext cx="27727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8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0"/>
          <p:cNvSpPr/>
          <p:nvPr/>
        </p:nvSpPr>
        <p:spPr>
          <a:xfrm>
            <a:off x="9196560" y="3456360"/>
            <a:ext cx="2662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1  Dataset — Oscar AMPAS Winner Demographics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Dados demográficos dos vencedores do Oscar entre 1927 e 2014 — 87 anos de cinema organizados em 5 tabelas relacionais.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7"/>
          <p:cNvSpPr/>
          <p:nvPr/>
        </p:nvSpPr>
        <p:spPr>
          <a:xfrm>
            <a:off x="548640" y="1810440"/>
            <a:ext cx="2758680" cy="84096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8"/>
          <p:cNvSpPr/>
          <p:nvPr/>
        </p:nvSpPr>
        <p:spPr>
          <a:xfrm>
            <a:off x="548640" y="1874520"/>
            <a:ext cx="2758680" cy="46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415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548640" y="2247840"/>
            <a:ext cx="2758680" cy="40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prêmios registrados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3417480" y="1810440"/>
            <a:ext cx="2758680" cy="84096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1"/>
          <p:cNvSpPr/>
          <p:nvPr/>
        </p:nvSpPr>
        <p:spPr>
          <a:xfrm>
            <a:off x="3417480" y="1874520"/>
            <a:ext cx="2758680" cy="46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87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2"/>
          <p:cNvSpPr/>
          <p:nvPr/>
        </p:nvSpPr>
        <p:spPr>
          <a:xfrm>
            <a:off x="3417480" y="2247840"/>
            <a:ext cx="2758680" cy="40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edições  (1927–2014)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13"/>
          <p:cNvSpPr/>
          <p:nvPr/>
        </p:nvSpPr>
        <p:spPr>
          <a:xfrm>
            <a:off x="6286680" y="1810440"/>
            <a:ext cx="2758680" cy="84096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14"/>
          <p:cNvSpPr/>
          <p:nvPr/>
        </p:nvSpPr>
        <p:spPr>
          <a:xfrm>
            <a:off x="6286680" y="1874520"/>
            <a:ext cx="2758680" cy="46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348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6286680" y="2247840"/>
            <a:ext cx="2758680" cy="40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vencedores únicos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16"/>
          <p:cNvSpPr/>
          <p:nvPr/>
        </p:nvSpPr>
        <p:spPr>
          <a:xfrm>
            <a:off x="9155520" y="1810440"/>
            <a:ext cx="2758680" cy="84096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7"/>
          <p:cNvSpPr/>
          <p:nvPr/>
        </p:nvSpPr>
        <p:spPr>
          <a:xfrm>
            <a:off x="9155520" y="1874520"/>
            <a:ext cx="2758680" cy="46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5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8"/>
          <p:cNvSpPr/>
          <p:nvPr/>
        </p:nvSpPr>
        <p:spPr>
          <a:xfrm>
            <a:off x="9155520" y="2247840"/>
            <a:ext cx="2758680" cy="40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categorias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19"/>
          <p:cNvSpPr/>
          <p:nvPr/>
        </p:nvSpPr>
        <p:spPr>
          <a:xfrm>
            <a:off x="548640" y="2788920"/>
            <a:ext cx="2954880" cy="3304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0"/>
          <p:cNvSpPr/>
          <p:nvPr/>
        </p:nvSpPr>
        <p:spPr>
          <a:xfrm>
            <a:off x="621720" y="282564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Coluna do CSV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21"/>
          <p:cNvSpPr/>
          <p:nvPr/>
        </p:nvSpPr>
        <p:spPr>
          <a:xfrm>
            <a:off x="3503880" y="2788920"/>
            <a:ext cx="8410320" cy="3304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2"/>
          <p:cNvSpPr/>
          <p:nvPr/>
        </p:nvSpPr>
        <p:spPr>
          <a:xfrm>
            <a:off x="3576960" y="282564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Conteúdo / observação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23"/>
          <p:cNvSpPr/>
          <p:nvPr/>
        </p:nvSpPr>
        <p:spPr>
          <a:xfrm>
            <a:off x="548640" y="3119760"/>
            <a:ext cx="295488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4"/>
          <p:cNvSpPr/>
          <p:nvPr/>
        </p:nvSpPr>
        <p:spPr>
          <a:xfrm>
            <a:off x="621720" y="315648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name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25"/>
          <p:cNvSpPr/>
          <p:nvPr/>
        </p:nvSpPr>
        <p:spPr>
          <a:xfrm>
            <a:off x="3503880" y="3119760"/>
            <a:ext cx="841032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26"/>
          <p:cNvSpPr/>
          <p:nvPr/>
        </p:nvSpPr>
        <p:spPr>
          <a:xfrm>
            <a:off x="3576960" y="315648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Nome do vencedor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27"/>
          <p:cNvSpPr/>
          <p:nvPr/>
        </p:nvSpPr>
        <p:spPr>
          <a:xfrm>
            <a:off x="548640" y="3450960"/>
            <a:ext cx="295488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8"/>
          <p:cNvSpPr/>
          <p:nvPr/>
        </p:nvSpPr>
        <p:spPr>
          <a:xfrm>
            <a:off x="621720" y="348768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birth_year / birth_date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29"/>
          <p:cNvSpPr/>
          <p:nvPr/>
        </p:nvSpPr>
        <p:spPr>
          <a:xfrm>
            <a:off x="3503880" y="3450960"/>
            <a:ext cx="841032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30"/>
          <p:cNvSpPr/>
          <p:nvPr/>
        </p:nvSpPr>
        <p:spPr>
          <a:xfrm>
            <a:off x="3576960" y="348768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Ano e data de nascimento — 1 caso só tem o ano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31"/>
          <p:cNvSpPr/>
          <p:nvPr/>
        </p:nvSpPr>
        <p:spPr>
          <a:xfrm>
            <a:off x="548640" y="3781800"/>
            <a:ext cx="295488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32"/>
          <p:cNvSpPr/>
          <p:nvPr/>
        </p:nvSpPr>
        <p:spPr>
          <a:xfrm>
            <a:off x="621720" y="381852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birthplace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33"/>
          <p:cNvSpPr/>
          <p:nvPr/>
        </p:nvSpPr>
        <p:spPr>
          <a:xfrm>
            <a:off x="3503880" y="3781800"/>
            <a:ext cx="841032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34"/>
          <p:cNvSpPr/>
          <p:nvPr/>
        </p:nvSpPr>
        <p:spPr>
          <a:xfrm>
            <a:off x="3576960" y="381852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Texto livre — cidade, estado, país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35"/>
          <p:cNvSpPr/>
          <p:nvPr/>
        </p:nvSpPr>
        <p:spPr>
          <a:xfrm>
            <a:off x="548640" y="4113000"/>
            <a:ext cx="295488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36"/>
          <p:cNvSpPr/>
          <p:nvPr/>
        </p:nvSpPr>
        <p:spPr>
          <a:xfrm>
            <a:off x="621720" y="414972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race_ethnicity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37"/>
          <p:cNvSpPr/>
          <p:nvPr/>
        </p:nvSpPr>
        <p:spPr>
          <a:xfrm>
            <a:off x="3503880" y="4113000"/>
            <a:ext cx="841032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38"/>
          <p:cNvSpPr/>
          <p:nvPr/>
        </p:nvSpPr>
        <p:spPr>
          <a:xfrm>
            <a:off x="3576960" y="414972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Etnia — 6 valores: White, Black, Hispanic, Asian, Multiracial, Middle Eastern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39"/>
          <p:cNvSpPr/>
          <p:nvPr/>
        </p:nvSpPr>
        <p:spPr>
          <a:xfrm>
            <a:off x="548640" y="4443840"/>
            <a:ext cx="295488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40"/>
          <p:cNvSpPr/>
          <p:nvPr/>
        </p:nvSpPr>
        <p:spPr>
          <a:xfrm>
            <a:off x="621720" y="448056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religion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41"/>
          <p:cNvSpPr/>
          <p:nvPr/>
        </p:nvSpPr>
        <p:spPr>
          <a:xfrm>
            <a:off x="3503880" y="4443840"/>
            <a:ext cx="841032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42"/>
          <p:cNvSpPr/>
          <p:nvPr/>
        </p:nvSpPr>
        <p:spPr>
          <a:xfrm>
            <a:off x="3576960" y="448056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Religião — 62% ausente (NULL estrutural, dado não coletado historicamente)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43"/>
          <p:cNvSpPr/>
          <p:nvPr/>
        </p:nvSpPr>
        <p:spPr>
          <a:xfrm>
            <a:off x="548640" y="4775040"/>
            <a:ext cx="295488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44"/>
          <p:cNvSpPr/>
          <p:nvPr/>
        </p:nvSpPr>
        <p:spPr>
          <a:xfrm>
            <a:off x="621720" y="481140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sexual_orientation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45"/>
          <p:cNvSpPr/>
          <p:nvPr/>
        </p:nvSpPr>
        <p:spPr>
          <a:xfrm>
            <a:off x="3503880" y="4775040"/>
            <a:ext cx="841032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46"/>
          <p:cNvSpPr/>
          <p:nvPr/>
        </p:nvSpPr>
        <p:spPr>
          <a:xfrm>
            <a:off x="3576960" y="481140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"Na" convertida para NULL real durante a carga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47"/>
          <p:cNvSpPr/>
          <p:nvPr/>
        </p:nvSpPr>
        <p:spPr>
          <a:xfrm>
            <a:off x="548640" y="5105880"/>
            <a:ext cx="295488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48"/>
          <p:cNvSpPr/>
          <p:nvPr/>
        </p:nvSpPr>
        <p:spPr>
          <a:xfrm>
            <a:off x="621720" y="514260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year_edition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49"/>
          <p:cNvSpPr/>
          <p:nvPr/>
        </p:nvSpPr>
        <p:spPr>
          <a:xfrm>
            <a:off x="3503880" y="5105880"/>
            <a:ext cx="841032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50"/>
          <p:cNvSpPr/>
          <p:nvPr/>
        </p:nvSpPr>
        <p:spPr>
          <a:xfrm>
            <a:off x="3576960" y="514260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Ano da cerimônia Oscar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51"/>
          <p:cNvSpPr/>
          <p:nvPr/>
        </p:nvSpPr>
        <p:spPr>
          <a:xfrm>
            <a:off x="548640" y="5437080"/>
            <a:ext cx="295488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52"/>
          <p:cNvSpPr/>
          <p:nvPr/>
        </p:nvSpPr>
        <p:spPr>
          <a:xfrm>
            <a:off x="621720" y="547344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category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53"/>
          <p:cNvSpPr/>
          <p:nvPr/>
        </p:nvSpPr>
        <p:spPr>
          <a:xfrm>
            <a:off x="3503880" y="5437080"/>
            <a:ext cx="8410320" cy="3304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Box 54"/>
          <p:cNvSpPr/>
          <p:nvPr/>
        </p:nvSpPr>
        <p:spPr>
          <a:xfrm>
            <a:off x="3576960" y="547344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Categoria premiada — 5 valores fixos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55"/>
          <p:cNvSpPr/>
          <p:nvPr/>
        </p:nvSpPr>
        <p:spPr>
          <a:xfrm>
            <a:off x="548640" y="5767920"/>
            <a:ext cx="295488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56"/>
          <p:cNvSpPr/>
          <p:nvPr/>
        </p:nvSpPr>
        <p:spPr>
          <a:xfrm>
            <a:off x="621720" y="5804640"/>
            <a:ext cx="28083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movie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57"/>
          <p:cNvSpPr/>
          <p:nvPr/>
        </p:nvSpPr>
        <p:spPr>
          <a:xfrm>
            <a:off x="3503880" y="5767920"/>
            <a:ext cx="8410320" cy="3304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58"/>
          <p:cNvSpPr/>
          <p:nvPr/>
        </p:nvSpPr>
        <p:spPr>
          <a:xfrm>
            <a:off x="3576960" y="5804640"/>
            <a:ext cx="82641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Título do filme premiado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2  Modelo Entidade-Relacionamento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Cada linha do CSV é um prêmio entregue. PREMIO é a entidade associativa central que conecta as quatro dimensões independentes.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 entidades identificadas: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VENCEDOR  — quem ganhou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FILME     — pelo que ganhou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CATEGORIA — em qual premiação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EDICAO    — em qual cerimônia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PREMIO    — o evento em si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PREMIO conecta as 4 dimensões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 4 chaves estrangeiras (FKs).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Todos os relacionamentos são N:1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PREMIO para as dimensões.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48640" y="5989320"/>
            <a:ext cx="11365560" cy="566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40080" y="6007680"/>
            <a:ext cx="1118268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Diagrama da modelagem Entidade-Relacionamento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m 164"/>
          <p:cNvPicPr/>
          <p:nvPr/>
        </p:nvPicPr>
        <p:blipFill>
          <a:blip r:embed="rId2"/>
          <a:stretch/>
        </p:blipFill>
        <p:spPr>
          <a:xfrm>
            <a:off x="5580000" y="1839600"/>
            <a:ext cx="6447960" cy="3323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A7690-5E6F-D2FF-3524-C6AA93DC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AB1C90-153B-3B65-C43A-06D36D6E4408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FCA231-D8C7-6D8D-69CE-68C3822BCDC6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9EB363-1032-B1DC-A83D-96CC505D27B4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A25616-1CD4-E4F0-1384-7D86B65BC0FB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2  Modelo </a:t>
            </a:r>
            <a:r>
              <a:rPr sz="2600" b="1" i="0" dirty="0" err="1">
                <a:solidFill>
                  <a:srgbClr val="C8A000"/>
                </a:solidFill>
              </a:rPr>
              <a:t>Entidade-Relacionamento</a:t>
            </a:r>
            <a:r>
              <a:rPr lang="pt-BR" sz="2600" b="1" i="0" dirty="0">
                <a:solidFill>
                  <a:srgbClr val="C8A000"/>
                </a:solidFill>
              </a:rPr>
              <a:t> – 3FN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623A90-B15E-006B-07C4-FA26F879C10A}"/>
              </a:ext>
            </a:extLst>
          </p:cNvPr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3756E5-18E4-9C32-3C7C-0B71CBDF2911}"/>
              </a:ext>
            </a:extLst>
          </p:cNvPr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  <p:pic>
        <p:nvPicPr>
          <p:cNvPr id="15" name="Imagem 14" descr="Diagrama&#10;&#10;O conteúdo gerado por IA pode estar incorreto.">
            <a:extLst>
              <a:ext uri="{FF2B5EF4-FFF2-40B4-BE49-F238E27FC236}">
                <a16:creationId xmlns:a16="http://schemas.microsoft.com/office/drawing/2014/main" id="{D6ED734D-8E3A-C63D-B7BF-9FDCB78A8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231" y="755412"/>
            <a:ext cx="7189644" cy="514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514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920"/>
    </mc:Choice>
    <mc:Fallback xmlns="">
      <p:transition spd="slow" advTm="3192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9F821-1AF5-AF53-37CA-08385C6B6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BD660-2481-BFF1-85C7-9AB507F07ED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813E40-6E97-1117-1E9B-47D85179852E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95E89-447A-D88B-D930-F8FF85F25089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1A30D6-16E2-BDCC-6ECF-167A37B7E16E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2  Modelo </a:t>
            </a:r>
            <a:r>
              <a:rPr sz="2600" b="1" i="0" dirty="0" err="1">
                <a:solidFill>
                  <a:srgbClr val="C8A000"/>
                </a:solidFill>
              </a:rPr>
              <a:t>Entidade-Relacionamento</a:t>
            </a:r>
            <a:r>
              <a:rPr lang="pt-BR" sz="2600" b="1" i="0" dirty="0">
                <a:solidFill>
                  <a:srgbClr val="C8A000"/>
                </a:solidFill>
              </a:rPr>
              <a:t> – 3FN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A4986-3541-7354-A344-DD7F4C318DC7}"/>
              </a:ext>
            </a:extLst>
          </p:cNvPr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4E0D91-C262-A22E-B2AA-7E73D8861E57}"/>
              </a:ext>
            </a:extLst>
          </p:cNvPr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  <p:pic>
        <p:nvPicPr>
          <p:cNvPr id="7" name="Imagem 6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44903CA-384D-9522-6E2B-C7A3A54E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477" y="739331"/>
            <a:ext cx="9072053" cy="508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522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740"/>
    </mc:Choice>
    <mc:Fallback xmlns="">
      <p:transition spd="slow" advTm="5674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3  Modelo Relacional e Normalização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diagrama ER foi mapeado para 5 tabelas relacionais — todas verificadas em Terceira Forma Normal.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1181404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8470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Tabela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0044" y="1810512"/>
            <a:ext cx="3822192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03196" y="18470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Campos principais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2236" y="1810512"/>
            <a:ext cx="1945843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25388" y="18470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Restrições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247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28904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vencedor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0044" y="225247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03196" y="228904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nome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ano_nasc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etnia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religiao</a:t>
            </a:r>
            <a:r>
              <a:rPr sz="1100" b="0" i="0" dirty="0">
                <a:solidFill>
                  <a:srgbClr val="FFFFFF"/>
                </a:solidFill>
              </a:rPr>
              <a:t> · orient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52236" y="225247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25388" y="228904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etnia NOT NULL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9443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273100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filme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0044" y="269443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03196" y="273100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titulo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552236" y="269443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25388" y="273100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titulo UNIQUE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3639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17296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0044" y="313639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803196" y="317296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nome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552236" y="313639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25388" y="317296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nome UNIQUE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57835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792" y="361492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edicao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044" y="357835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03196" y="3614928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u="sng" dirty="0">
                <a:solidFill>
                  <a:srgbClr val="FFFFFF"/>
                </a:solidFill>
              </a:rPr>
              <a:t>id</a:t>
            </a:r>
            <a:r>
              <a:rPr sz="1100" b="0" i="0" dirty="0">
                <a:solidFill>
                  <a:srgbClr val="FFFFFF"/>
                </a:solidFill>
              </a:rPr>
              <a:t> · </a:t>
            </a:r>
            <a:r>
              <a:rPr sz="1100" b="0" i="0" dirty="0" err="1">
                <a:solidFill>
                  <a:srgbClr val="FFFFFF"/>
                </a:solidFill>
              </a:rPr>
              <a:t>ano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552236" y="357835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25388" y="361492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&gt;= 1927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02031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40568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premio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0044" y="402031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803196" y="40568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id · </a:t>
            </a:r>
            <a:r>
              <a:rPr sz="1100" b="0" i="0" dirty="0" err="1">
                <a:solidFill>
                  <a:srgbClr val="FFFFFF"/>
                </a:solidFill>
              </a:rPr>
              <a:t>id_vencedor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id_filme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id_categoria</a:t>
            </a:r>
            <a:r>
              <a:rPr sz="1100" b="0" i="0" dirty="0">
                <a:solidFill>
                  <a:srgbClr val="FFFFFF"/>
                </a:solidFill>
              </a:rPr>
              <a:t> FK · </a:t>
            </a:r>
            <a:r>
              <a:rPr sz="1100" b="0" i="0" dirty="0" err="1">
                <a:solidFill>
                  <a:srgbClr val="FFFFFF"/>
                </a:solidFill>
              </a:rPr>
              <a:t>id_edicao</a:t>
            </a:r>
            <a:r>
              <a:rPr sz="1100" b="0" i="0" dirty="0">
                <a:solidFill>
                  <a:srgbClr val="FFFFFF"/>
                </a:solidFill>
              </a:rPr>
              <a:t> FK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52236" y="402031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25388" y="40568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2672" y="1170432"/>
            <a:ext cx="19050" cy="420624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845552" y="1828800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55280" y="1920240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1FN 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80" y="2286000"/>
            <a:ext cx="39227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Valores </a:t>
            </a:r>
            <a:r>
              <a:rPr sz="1100" b="0" i="0" dirty="0" err="1">
                <a:solidFill>
                  <a:srgbClr val="BBBBBB"/>
                </a:solidFill>
              </a:rPr>
              <a:t>atômicos</a:t>
            </a:r>
            <a:r>
              <a:rPr lang="pt-BR" sz="1100" b="0" i="0" dirty="0">
                <a:solidFill>
                  <a:srgbClr val="BBBBBB"/>
                </a:solidFill>
              </a:rPr>
              <a:t>: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sem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listas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ou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grupos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repetidos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em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nenhum</a:t>
            </a:r>
            <a:r>
              <a:rPr sz="1100" b="0" i="0" dirty="0">
                <a:solidFill>
                  <a:srgbClr val="BBBBBB"/>
                </a:solidFill>
              </a:rPr>
              <a:t> campo</a:t>
            </a:r>
            <a:r>
              <a:rPr lang="pt-BR" sz="1100" b="0" i="0" dirty="0">
                <a:solidFill>
                  <a:srgbClr val="BBBBBB"/>
                </a:solidFill>
              </a:rPr>
              <a:t> após o tratamento do atributo endereço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845552" y="3127248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55280" y="3218688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2FN 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584448"/>
            <a:ext cx="39227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PKs simple</a:t>
            </a:r>
            <a:r>
              <a:rPr lang="pt-BR" sz="1100" dirty="0">
                <a:solidFill>
                  <a:srgbClr val="BBBBBB"/>
                </a:solidFill>
              </a:rPr>
              <a:t>s em todas as tabelas. A tabela premio tem chave candidata composta {</a:t>
            </a:r>
            <a:r>
              <a:rPr lang="pt-BR" sz="1100" dirty="0" err="1">
                <a:solidFill>
                  <a:srgbClr val="BBBBBB"/>
                </a:solidFill>
              </a:rPr>
              <a:t>id_vencedor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id_filme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id_categoria</a:t>
            </a:r>
            <a:r>
              <a:rPr lang="pt-BR" sz="1100" dirty="0">
                <a:solidFill>
                  <a:srgbClr val="BBBBBB"/>
                </a:solidFill>
              </a:rPr>
              <a:t>, </a:t>
            </a:r>
            <a:r>
              <a:rPr lang="pt-BR" sz="1100" dirty="0" err="1">
                <a:solidFill>
                  <a:srgbClr val="BBBBBB"/>
                </a:solidFill>
              </a:rPr>
              <a:t>id_edicao</a:t>
            </a:r>
            <a:r>
              <a:rPr lang="pt-BR" sz="1100" dirty="0">
                <a:solidFill>
                  <a:srgbClr val="BBBBBB"/>
                </a:solidFill>
              </a:rPr>
              <a:t>}, mas não tem nenhum atributo além delas, então não há dependência parcial possível.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845552" y="4425696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55280" y="4517136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3FN 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4882896"/>
            <a:ext cx="39227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BBBBBB"/>
                </a:solidFill>
              </a:rPr>
              <a:t>Sem </a:t>
            </a:r>
            <a:r>
              <a:rPr sz="1100" b="0" i="0" dirty="0" err="1">
                <a:solidFill>
                  <a:srgbClr val="BBBBBB"/>
                </a:solidFill>
              </a:rPr>
              <a:t>dependências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transitivas</a:t>
            </a:r>
            <a:r>
              <a:rPr lang="pt-BR" sz="1100" dirty="0">
                <a:solidFill>
                  <a:srgbClr val="BBBBBB"/>
                </a:solidFill>
              </a:rPr>
              <a:t>; </a:t>
            </a:r>
            <a:r>
              <a:rPr sz="1100" b="0" i="0" dirty="0" err="1">
                <a:solidFill>
                  <a:srgbClr val="BBBBBB"/>
                </a:solidFill>
              </a:rPr>
              <a:t>cada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lang="pt-BR" sz="1100" b="0" i="0" dirty="0">
                <a:solidFill>
                  <a:srgbClr val="BBBBBB"/>
                </a:solidFill>
              </a:rPr>
              <a:t>atributo não-primo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depende</a:t>
            </a:r>
            <a:r>
              <a:rPr sz="1100" b="0" i="0" dirty="0">
                <a:solidFill>
                  <a:srgbClr val="BBBBBB"/>
                </a:solidFill>
              </a:rPr>
              <a:t> </a:t>
            </a:r>
            <a:r>
              <a:rPr sz="1100" b="0" i="0" dirty="0" err="1">
                <a:solidFill>
                  <a:srgbClr val="BBBBBB"/>
                </a:solidFill>
              </a:rPr>
              <a:t>somente</a:t>
            </a:r>
            <a:r>
              <a:rPr sz="1100" b="0" i="0" dirty="0">
                <a:solidFill>
                  <a:srgbClr val="BBBBBB"/>
                </a:solidFill>
              </a:rPr>
              <a:t> da PK</a:t>
            </a:r>
            <a:r>
              <a:rPr lang="pt-BR" sz="1100" b="0" i="0" dirty="0">
                <a:solidFill>
                  <a:srgbClr val="BBBBBB"/>
                </a:solidFill>
              </a:rPr>
              <a:t>.</a:t>
            </a:r>
            <a:endParaRPr sz="1100" b="0" i="0" dirty="0">
              <a:solidFill>
                <a:srgbClr val="BBBBBB"/>
              </a:solidFill>
            </a:endParaRPr>
          </a:p>
        </p:txBody>
      </p:sp>
      <p:sp>
        <p:nvSpPr>
          <p:cNvPr id="62" name="Rectangle 31">
            <a:extLst>
              <a:ext uri="{FF2B5EF4-FFF2-40B4-BE49-F238E27FC236}">
                <a16:creationId xmlns:a16="http://schemas.microsoft.com/office/drawing/2014/main" id="{37FABE8D-856E-E8D1-DBA1-B84034936303}"/>
              </a:ext>
            </a:extLst>
          </p:cNvPr>
          <p:cNvSpPr/>
          <p:nvPr/>
        </p:nvSpPr>
        <p:spPr>
          <a:xfrm>
            <a:off x="548640" y="4456176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2">
            <a:extLst>
              <a:ext uri="{FF2B5EF4-FFF2-40B4-BE49-F238E27FC236}">
                <a16:creationId xmlns:a16="http://schemas.microsoft.com/office/drawing/2014/main" id="{B59C236B-F3A9-B607-8776-E72A9AB4329D}"/>
              </a:ext>
            </a:extLst>
          </p:cNvPr>
          <p:cNvSpPr txBox="1"/>
          <p:nvPr/>
        </p:nvSpPr>
        <p:spPr>
          <a:xfrm>
            <a:off x="621792" y="449275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etnia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64" name="Rectangle 33">
            <a:extLst>
              <a:ext uri="{FF2B5EF4-FFF2-40B4-BE49-F238E27FC236}">
                <a16:creationId xmlns:a16="http://schemas.microsoft.com/office/drawing/2014/main" id="{5E286F76-0C69-A403-76FD-512BB4AF1DEF}"/>
              </a:ext>
            </a:extLst>
          </p:cNvPr>
          <p:cNvSpPr/>
          <p:nvPr/>
        </p:nvSpPr>
        <p:spPr>
          <a:xfrm>
            <a:off x="1730044" y="4456176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4">
            <a:extLst>
              <a:ext uri="{FF2B5EF4-FFF2-40B4-BE49-F238E27FC236}">
                <a16:creationId xmlns:a16="http://schemas.microsoft.com/office/drawing/2014/main" id="{366E44A2-2369-8140-9B7D-C28325A32F08}"/>
              </a:ext>
            </a:extLst>
          </p:cNvPr>
          <p:cNvSpPr txBox="1"/>
          <p:nvPr/>
        </p:nvSpPr>
        <p:spPr>
          <a:xfrm>
            <a:off x="1803196" y="449275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nome_etnia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66" name="Rectangle 35">
            <a:extLst>
              <a:ext uri="{FF2B5EF4-FFF2-40B4-BE49-F238E27FC236}">
                <a16:creationId xmlns:a16="http://schemas.microsoft.com/office/drawing/2014/main" id="{DB517952-6CD6-5BBD-2FC1-450598E0A75A}"/>
              </a:ext>
            </a:extLst>
          </p:cNvPr>
          <p:cNvSpPr/>
          <p:nvPr/>
        </p:nvSpPr>
        <p:spPr>
          <a:xfrm>
            <a:off x="5552236" y="4456176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6">
            <a:extLst>
              <a:ext uri="{FF2B5EF4-FFF2-40B4-BE49-F238E27FC236}">
                <a16:creationId xmlns:a16="http://schemas.microsoft.com/office/drawing/2014/main" id="{9ECA4729-4C02-3DCC-800B-5B2DCB76625C}"/>
              </a:ext>
            </a:extLst>
          </p:cNvPr>
          <p:cNvSpPr txBox="1"/>
          <p:nvPr/>
        </p:nvSpPr>
        <p:spPr>
          <a:xfrm>
            <a:off x="5625388" y="449275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nome_etnia</a:t>
            </a:r>
            <a:r>
              <a:rPr lang="pt-BR" sz="1100" b="0" i="0" dirty="0">
                <a:solidFill>
                  <a:srgbClr val="FFFFFF"/>
                </a:solidFill>
              </a:rPr>
              <a:t> UNIQUE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68" name="Rectangle 31">
            <a:extLst>
              <a:ext uri="{FF2B5EF4-FFF2-40B4-BE49-F238E27FC236}">
                <a16:creationId xmlns:a16="http://schemas.microsoft.com/office/drawing/2014/main" id="{70CD947A-9028-4AE4-6C6D-52F218036C75}"/>
              </a:ext>
            </a:extLst>
          </p:cNvPr>
          <p:cNvSpPr/>
          <p:nvPr/>
        </p:nvSpPr>
        <p:spPr>
          <a:xfrm>
            <a:off x="548640" y="5340096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32">
            <a:extLst>
              <a:ext uri="{FF2B5EF4-FFF2-40B4-BE49-F238E27FC236}">
                <a16:creationId xmlns:a16="http://schemas.microsoft.com/office/drawing/2014/main" id="{E6863B2E-FE2F-3F07-8852-17E24003DE4D}"/>
              </a:ext>
            </a:extLst>
          </p:cNvPr>
          <p:cNvSpPr txBox="1"/>
          <p:nvPr/>
        </p:nvSpPr>
        <p:spPr>
          <a:xfrm>
            <a:off x="621792" y="537667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pais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0" name="Rectangle 33">
            <a:extLst>
              <a:ext uri="{FF2B5EF4-FFF2-40B4-BE49-F238E27FC236}">
                <a16:creationId xmlns:a16="http://schemas.microsoft.com/office/drawing/2014/main" id="{7D5C7BEA-F6F9-AEED-315E-49CD9B53A252}"/>
              </a:ext>
            </a:extLst>
          </p:cNvPr>
          <p:cNvSpPr/>
          <p:nvPr/>
        </p:nvSpPr>
        <p:spPr>
          <a:xfrm>
            <a:off x="1730044" y="5340096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34">
            <a:extLst>
              <a:ext uri="{FF2B5EF4-FFF2-40B4-BE49-F238E27FC236}">
                <a16:creationId xmlns:a16="http://schemas.microsoft.com/office/drawing/2014/main" id="{3A305D6A-8C76-B719-C0AF-1F10367D6AF2}"/>
              </a:ext>
            </a:extLst>
          </p:cNvPr>
          <p:cNvSpPr txBox="1"/>
          <p:nvPr/>
        </p:nvSpPr>
        <p:spPr>
          <a:xfrm>
            <a:off x="1803196" y="537667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nome_pais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72" name="Rectangle 35">
            <a:extLst>
              <a:ext uri="{FF2B5EF4-FFF2-40B4-BE49-F238E27FC236}">
                <a16:creationId xmlns:a16="http://schemas.microsoft.com/office/drawing/2014/main" id="{1D548468-90B4-325E-0885-B85FC38A0EA2}"/>
              </a:ext>
            </a:extLst>
          </p:cNvPr>
          <p:cNvSpPr/>
          <p:nvPr/>
        </p:nvSpPr>
        <p:spPr>
          <a:xfrm>
            <a:off x="5552236" y="5340096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36">
            <a:extLst>
              <a:ext uri="{FF2B5EF4-FFF2-40B4-BE49-F238E27FC236}">
                <a16:creationId xmlns:a16="http://schemas.microsoft.com/office/drawing/2014/main" id="{4B9728AE-F606-C38E-25DC-F5F612C0E859}"/>
              </a:ext>
            </a:extLst>
          </p:cNvPr>
          <p:cNvSpPr txBox="1"/>
          <p:nvPr/>
        </p:nvSpPr>
        <p:spPr>
          <a:xfrm>
            <a:off x="5625388" y="537667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UNIQUE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4" name="Rectangle 37">
            <a:extLst>
              <a:ext uri="{FF2B5EF4-FFF2-40B4-BE49-F238E27FC236}">
                <a16:creationId xmlns:a16="http://schemas.microsoft.com/office/drawing/2014/main" id="{EB61D514-FB91-A422-3D8B-29B6CD496BDD}"/>
              </a:ext>
            </a:extLst>
          </p:cNvPr>
          <p:cNvSpPr/>
          <p:nvPr/>
        </p:nvSpPr>
        <p:spPr>
          <a:xfrm>
            <a:off x="548640" y="5782056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38">
            <a:extLst>
              <a:ext uri="{FF2B5EF4-FFF2-40B4-BE49-F238E27FC236}">
                <a16:creationId xmlns:a16="http://schemas.microsoft.com/office/drawing/2014/main" id="{EC2AF68F-0425-4C67-4E58-8528E5559945}"/>
              </a:ext>
            </a:extLst>
          </p:cNvPr>
          <p:cNvSpPr txBox="1"/>
          <p:nvPr/>
        </p:nvSpPr>
        <p:spPr>
          <a:xfrm>
            <a:off x="621792" y="581863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religiao</a:t>
            </a:r>
            <a:r>
              <a:rPr lang="pt-BR" sz="1100" b="0" i="0" dirty="0">
                <a:solidFill>
                  <a:srgbClr val="FFFFFF"/>
                </a:solidFill>
              </a:rPr>
              <a:t>	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76" name="Rectangle 39">
            <a:extLst>
              <a:ext uri="{FF2B5EF4-FFF2-40B4-BE49-F238E27FC236}">
                <a16:creationId xmlns:a16="http://schemas.microsoft.com/office/drawing/2014/main" id="{01E50267-944B-EAAF-B0D6-BC235EB97197}"/>
              </a:ext>
            </a:extLst>
          </p:cNvPr>
          <p:cNvSpPr/>
          <p:nvPr/>
        </p:nvSpPr>
        <p:spPr>
          <a:xfrm>
            <a:off x="1730044" y="5782056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40">
            <a:extLst>
              <a:ext uri="{FF2B5EF4-FFF2-40B4-BE49-F238E27FC236}">
                <a16:creationId xmlns:a16="http://schemas.microsoft.com/office/drawing/2014/main" id="{7FB59E82-F42A-8B35-B683-8FFAD468C712}"/>
              </a:ext>
            </a:extLst>
          </p:cNvPr>
          <p:cNvSpPr txBox="1"/>
          <p:nvPr/>
        </p:nvSpPr>
        <p:spPr>
          <a:xfrm>
            <a:off x="1803196" y="581863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nome_religiao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78" name="Rectangle 41">
            <a:extLst>
              <a:ext uri="{FF2B5EF4-FFF2-40B4-BE49-F238E27FC236}">
                <a16:creationId xmlns:a16="http://schemas.microsoft.com/office/drawing/2014/main" id="{28206C83-71C5-C18A-CD36-1A9D9D7A3DA6}"/>
              </a:ext>
            </a:extLst>
          </p:cNvPr>
          <p:cNvSpPr/>
          <p:nvPr/>
        </p:nvSpPr>
        <p:spPr>
          <a:xfrm>
            <a:off x="5552236" y="5782056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42">
            <a:extLst>
              <a:ext uri="{FF2B5EF4-FFF2-40B4-BE49-F238E27FC236}">
                <a16:creationId xmlns:a16="http://schemas.microsoft.com/office/drawing/2014/main" id="{042DDF02-2FDA-44FB-0059-2AE7D426EB88}"/>
              </a:ext>
            </a:extLst>
          </p:cNvPr>
          <p:cNvSpPr txBox="1"/>
          <p:nvPr/>
        </p:nvSpPr>
        <p:spPr>
          <a:xfrm>
            <a:off x="5625388" y="5818632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80" name="Rectangle 37">
            <a:extLst>
              <a:ext uri="{FF2B5EF4-FFF2-40B4-BE49-F238E27FC236}">
                <a16:creationId xmlns:a16="http://schemas.microsoft.com/office/drawing/2014/main" id="{B85A71C3-73F5-9203-0B3F-36E7A4CA8171}"/>
              </a:ext>
            </a:extLst>
          </p:cNvPr>
          <p:cNvSpPr/>
          <p:nvPr/>
        </p:nvSpPr>
        <p:spPr>
          <a:xfrm>
            <a:off x="554736" y="4905756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38">
            <a:extLst>
              <a:ext uri="{FF2B5EF4-FFF2-40B4-BE49-F238E27FC236}">
                <a16:creationId xmlns:a16="http://schemas.microsoft.com/office/drawing/2014/main" id="{EF135895-3FDF-02F2-C2B1-243A6F5A656E}"/>
              </a:ext>
            </a:extLst>
          </p:cNvPr>
          <p:cNvSpPr txBox="1"/>
          <p:nvPr/>
        </p:nvSpPr>
        <p:spPr>
          <a:xfrm>
            <a:off x="627888" y="4942332"/>
            <a:ext cx="103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 err="1">
                <a:solidFill>
                  <a:srgbClr val="FFFFFF"/>
                </a:solidFill>
              </a:rPr>
              <a:t>orient_sexual</a:t>
            </a:r>
            <a:endParaRPr sz="1100" b="0" i="0" dirty="0">
              <a:solidFill>
                <a:srgbClr val="FFFFFF"/>
              </a:solidFill>
            </a:endParaRPr>
          </a:p>
        </p:txBody>
      </p:sp>
      <p:sp>
        <p:nvSpPr>
          <p:cNvPr id="82" name="Rectangle 39">
            <a:extLst>
              <a:ext uri="{FF2B5EF4-FFF2-40B4-BE49-F238E27FC236}">
                <a16:creationId xmlns:a16="http://schemas.microsoft.com/office/drawing/2014/main" id="{E819E13F-9AC6-CC82-01AF-75FE62055935}"/>
              </a:ext>
            </a:extLst>
          </p:cNvPr>
          <p:cNvSpPr/>
          <p:nvPr/>
        </p:nvSpPr>
        <p:spPr>
          <a:xfrm>
            <a:off x="1736140" y="4905756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40">
            <a:extLst>
              <a:ext uri="{FF2B5EF4-FFF2-40B4-BE49-F238E27FC236}">
                <a16:creationId xmlns:a16="http://schemas.microsoft.com/office/drawing/2014/main" id="{2E2FED19-A233-E289-5A78-2C25492F2F46}"/>
              </a:ext>
            </a:extLst>
          </p:cNvPr>
          <p:cNvSpPr txBox="1"/>
          <p:nvPr/>
        </p:nvSpPr>
        <p:spPr>
          <a:xfrm>
            <a:off x="1809292" y="4942332"/>
            <a:ext cx="3675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u="sng" dirty="0" err="1">
                <a:solidFill>
                  <a:srgbClr val="FFFFFF"/>
                </a:solidFill>
              </a:rPr>
              <a:t>nome_orient</a:t>
            </a:r>
            <a:endParaRPr sz="1100" b="0" i="0" u="sng" dirty="0">
              <a:solidFill>
                <a:srgbClr val="FFFFFF"/>
              </a:solidFill>
            </a:endParaRPr>
          </a:p>
        </p:txBody>
      </p:sp>
      <p:sp>
        <p:nvSpPr>
          <p:cNvPr id="84" name="Rectangle 41">
            <a:extLst>
              <a:ext uri="{FF2B5EF4-FFF2-40B4-BE49-F238E27FC236}">
                <a16:creationId xmlns:a16="http://schemas.microsoft.com/office/drawing/2014/main" id="{9E63DF6A-4840-F49C-8611-0A7B979C409C}"/>
              </a:ext>
            </a:extLst>
          </p:cNvPr>
          <p:cNvSpPr/>
          <p:nvPr/>
        </p:nvSpPr>
        <p:spPr>
          <a:xfrm>
            <a:off x="5558332" y="4905756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42">
            <a:extLst>
              <a:ext uri="{FF2B5EF4-FFF2-40B4-BE49-F238E27FC236}">
                <a16:creationId xmlns:a16="http://schemas.microsoft.com/office/drawing/2014/main" id="{213E20DE-6A90-32B6-8908-B5B75597E602}"/>
              </a:ext>
            </a:extLst>
          </p:cNvPr>
          <p:cNvSpPr txBox="1"/>
          <p:nvPr/>
        </p:nvSpPr>
        <p:spPr>
          <a:xfrm>
            <a:off x="5631484" y="4942332"/>
            <a:ext cx="17995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i="0" dirty="0">
                <a:solidFill>
                  <a:srgbClr val="FFFFFF"/>
                </a:solidFill>
              </a:rPr>
              <a:t>UNIQUE </a:t>
            </a:r>
            <a:r>
              <a:rPr lang="pt-BR" sz="1100" b="0" i="0" dirty="0" err="1">
                <a:solidFill>
                  <a:srgbClr val="FFFFFF"/>
                </a:solidFill>
              </a:rPr>
              <a:t>nome_orient</a:t>
            </a:r>
            <a:endParaRPr sz="1100" b="0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185"/>
    </mc:Choice>
    <mc:Fallback xmlns="">
      <p:transition spd="slow" advTm="97185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4  Implementação Física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PostgreSQL 16 via Docker com constraints que garantem integridade de domínio, referencial e de negócio desde o momento da inserção.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7"/>
          <p:cNvSpPr/>
          <p:nvPr/>
        </p:nvSpPr>
        <p:spPr>
          <a:xfrm>
            <a:off x="548640" y="1810440"/>
            <a:ext cx="3715200" cy="77688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8"/>
          <p:cNvSpPr/>
          <p:nvPr/>
        </p:nvSpPr>
        <p:spPr>
          <a:xfrm>
            <a:off x="548640" y="1874520"/>
            <a:ext cx="371520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PostgreSQL 16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9"/>
          <p:cNvSpPr/>
          <p:nvPr/>
        </p:nvSpPr>
        <p:spPr>
          <a:xfrm>
            <a:off x="548640" y="2214720"/>
            <a:ext cx="3715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SGBD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10"/>
          <p:cNvSpPr/>
          <p:nvPr/>
        </p:nvSpPr>
        <p:spPr>
          <a:xfrm>
            <a:off x="4374000" y="1810440"/>
            <a:ext cx="3715200" cy="77688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Box 11"/>
          <p:cNvSpPr/>
          <p:nvPr/>
        </p:nvSpPr>
        <p:spPr>
          <a:xfrm>
            <a:off x="4374000" y="1874520"/>
            <a:ext cx="371520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oscar-db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2"/>
          <p:cNvSpPr/>
          <p:nvPr/>
        </p:nvSpPr>
        <p:spPr>
          <a:xfrm>
            <a:off x="4374000" y="2214720"/>
            <a:ext cx="3715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container Docker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3"/>
          <p:cNvSpPr/>
          <p:nvPr/>
        </p:nvSpPr>
        <p:spPr>
          <a:xfrm>
            <a:off x="8199000" y="1810440"/>
            <a:ext cx="3715200" cy="77688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14"/>
          <p:cNvSpPr/>
          <p:nvPr/>
        </p:nvSpPr>
        <p:spPr>
          <a:xfrm>
            <a:off x="8199000" y="1874520"/>
            <a:ext cx="371520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oscar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5"/>
          <p:cNvSpPr/>
          <p:nvPr/>
        </p:nvSpPr>
        <p:spPr>
          <a:xfrm>
            <a:off x="8199000" y="2214720"/>
            <a:ext cx="3715200" cy="37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nome do banco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16"/>
          <p:cNvSpPr/>
          <p:nvPr/>
        </p:nvSpPr>
        <p:spPr>
          <a:xfrm>
            <a:off x="548640" y="2724840"/>
            <a:ext cx="2727360" cy="3578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17"/>
          <p:cNvSpPr/>
          <p:nvPr/>
        </p:nvSpPr>
        <p:spPr>
          <a:xfrm>
            <a:off x="621720" y="276156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Constraint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18"/>
          <p:cNvSpPr/>
          <p:nvPr/>
        </p:nvSpPr>
        <p:spPr>
          <a:xfrm>
            <a:off x="3276360" y="2724840"/>
            <a:ext cx="5227920" cy="3578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9"/>
          <p:cNvSpPr/>
          <p:nvPr/>
        </p:nvSpPr>
        <p:spPr>
          <a:xfrm>
            <a:off x="3349800" y="276156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Regra implementada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20"/>
          <p:cNvSpPr/>
          <p:nvPr/>
        </p:nvSpPr>
        <p:spPr>
          <a:xfrm>
            <a:off x="8505000" y="2724840"/>
            <a:ext cx="3409560" cy="3578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21"/>
          <p:cNvSpPr/>
          <p:nvPr/>
        </p:nvSpPr>
        <p:spPr>
          <a:xfrm>
            <a:off x="8578080" y="276156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Motivação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22"/>
          <p:cNvSpPr/>
          <p:nvPr/>
        </p:nvSpPr>
        <p:spPr>
          <a:xfrm>
            <a:off x="548640" y="3083040"/>
            <a:ext cx="27273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23"/>
          <p:cNvSpPr/>
          <p:nvPr/>
        </p:nvSpPr>
        <p:spPr>
          <a:xfrm>
            <a:off x="621720" y="311976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etnia NOT NULL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ectangle 24"/>
          <p:cNvSpPr/>
          <p:nvPr/>
        </p:nvSpPr>
        <p:spPr>
          <a:xfrm>
            <a:off x="3276360" y="3083040"/>
            <a:ext cx="522792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25"/>
          <p:cNvSpPr/>
          <p:nvPr/>
        </p:nvSpPr>
        <p:spPr>
          <a:xfrm>
            <a:off x="3349800" y="311976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Campo demográfico obrigatório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26"/>
          <p:cNvSpPr/>
          <p:nvPr/>
        </p:nvSpPr>
        <p:spPr>
          <a:xfrm>
            <a:off x="8505000" y="3083040"/>
            <a:ext cx="34095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27"/>
          <p:cNvSpPr/>
          <p:nvPr/>
        </p:nvSpPr>
        <p:spPr>
          <a:xfrm>
            <a:off x="8578080" y="311976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Dado central da análise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28"/>
          <p:cNvSpPr/>
          <p:nvPr/>
        </p:nvSpPr>
        <p:spPr>
          <a:xfrm>
            <a:off x="548640" y="3441240"/>
            <a:ext cx="272736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9"/>
          <p:cNvSpPr/>
          <p:nvPr/>
        </p:nvSpPr>
        <p:spPr>
          <a:xfrm>
            <a:off x="621720" y="347760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ano &gt;= 1927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30"/>
          <p:cNvSpPr/>
          <p:nvPr/>
        </p:nvSpPr>
        <p:spPr>
          <a:xfrm>
            <a:off x="3276360" y="3441240"/>
            <a:ext cx="522792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Box 31"/>
          <p:cNvSpPr/>
          <p:nvPr/>
        </p:nvSpPr>
        <p:spPr>
          <a:xfrm>
            <a:off x="3349800" y="347760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Oscar não existia antes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32"/>
          <p:cNvSpPr/>
          <p:nvPr/>
        </p:nvSpPr>
        <p:spPr>
          <a:xfrm>
            <a:off x="8505000" y="3441240"/>
            <a:ext cx="340956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33"/>
          <p:cNvSpPr/>
          <p:nvPr/>
        </p:nvSpPr>
        <p:spPr>
          <a:xfrm>
            <a:off x="8578080" y="347760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Integridade de domínio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34"/>
          <p:cNvSpPr/>
          <p:nvPr/>
        </p:nvSpPr>
        <p:spPr>
          <a:xfrm>
            <a:off x="548640" y="3799440"/>
            <a:ext cx="27273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35"/>
          <p:cNvSpPr/>
          <p:nvPr/>
        </p:nvSpPr>
        <p:spPr>
          <a:xfrm>
            <a:off x="621720" y="383580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titulo UNIQUE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36"/>
          <p:cNvSpPr/>
          <p:nvPr/>
        </p:nvSpPr>
        <p:spPr>
          <a:xfrm>
            <a:off x="3276360" y="3799440"/>
            <a:ext cx="522792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37"/>
          <p:cNvSpPr/>
          <p:nvPr/>
        </p:nvSpPr>
        <p:spPr>
          <a:xfrm>
            <a:off x="3349800" y="383580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Cada filme é único no catálogo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38"/>
          <p:cNvSpPr/>
          <p:nvPr/>
        </p:nvSpPr>
        <p:spPr>
          <a:xfrm>
            <a:off x="8505000" y="3799440"/>
            <a:ext cx="34095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39"/>
          <p:cNvSpPr/>
          <p:nvPr/>
        </p:nvSpPr>
        <p:spPr>
          <a:xfrm>
            <a:off x="8578080" y="383580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Evitar duplicatas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40"/>
          <p:cNvSpPr/>
          <p:nvPr/>
        </p:nvSpPr>
        <p:spPr>
          <a:xfrm>
            <a:off x="548640" y="4157640"/>
            <a:ext cx="272736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41"/>
          <p:cNvSpPr/>
          <p:nvPr/>
        </p:nvSpPr>
        <p:spPr>
          <a:xfrm>
            <a:off x="621720" y="419400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FK ON DELETE RESTRICT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42"/>
          <p:cNvSpPr/>
          <p:nvPr/>
        </p:nvSpPr>
        <p:spPr>
          <a:xfrm>
            <a:off x="3276360" y="4157640"/>
            <a:ext cx="522792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43"/>
          <p:cNvSpPr/>
          <p:nvPr/>
        </p:nvSpPr>
        <p:spPr>
          <a:xfrm>
            <a:off x="3349800" y="419400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Impede remoção de dimensão em uso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44"/>
          <p:cNvSpPr/>
          <p:nvPr/>
        </p:nvSpPr>
        <p:spPr>
          <a:xfrm>
            <a:off x="8505000" y="4157640"/>
            <a:ext cx="3409560" cy="3578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45"/>
          <p:cNvSpPr/>
          <p:nvPr/>
        </p:nvSpPr>
        <p:spPr>
          <a:xfrm>
            <a:off x="8578080" y="419400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Integridade referencial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46"/>
          <p:cNvSpPr/>
          <p:nvPr/>
        </p:nvSpPr>
        <p:spPr>
          <a:xfrm>
            <a:off x="548640" y="4515480"/>
            <a:ext cx="27273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47"/>
          <p:cNvSpPr/>
          <p:nvPr/>
        </p:nvSpPr>
        <p:spPr>
          <a:xfrm>
            <a:off x="621720" y="4552200"/>
            <a:ext cx="258120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UNIQUE (v, c, e)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48"/>
          <p:cNvSpPr/>
          <p:nvPr/>
        </p:nvSpPr>
        <p:spPr>
          <a:xfrm>
            <a:off x="3276360" y="4515480"/>
            <a:ext cx="522792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49"/>
          <p:cNvSpPr/>
          <p:nvPr/>
        </p:nvSpPr>
        <p:spPr>
          <a:xfrm>
            <a:off x="3349800" y="4552200"/>
            <a:ext cx="508176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pessoa não ganha a mesma categoria 2× na mesma edição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Rectangle 50"/>
          <p:cNvSpPr/>
          <p:nvPr/>
        </p:nvSpPr>
        <p:spPr>
          <a:xfrm>
            <a:off x="8505000" y="4515480"/>
            <a:ext cx="3409560" cy="3578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51"/>
          <p:cNvSpPr/>
          <p:nvPr/>
        </p:nvSpPr>
        <p:spPr>
          <a:xfrm>
            <a:off x="8578080" y="4552200"/>
            <a:ext cx="3263040" cy="28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Regra de negócio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52"/>
          <p:cNvSpPr/>
          <p:nvPr/>
        </p:nvSpPr>
        <p:spPr>
          <a:xfrm>
            <a:off x="548640" y="4956120"/>
            <a:ext cx="113655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Índices em premio para acelerar JOINs analíticos: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53"/>
          <p:cNvSpPr/>
          <p:nvPr/>
        </p:nvSpPr>
        <p:spPr>
          <a:xfrm>
            <a:off x="548640" y="5321880"/>
            <a:ext cx="2772720" cy="38376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54"/>
          <p:cNvSpPr/>
          <p:nvPr/>
        </p:nvSpPr>
        <p:spPr>
          <a:xfrm>
            <a:off x="594360" y="5358240"/>
            <a:ext cx="2681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idx_premio_vencedor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55"/>
          <p:cNvSpPr/>
          <p:nvPr/>
        </p:nvSpPr>
        <p:spPr>
          <a:xfrm>
            <a:off x="3413160" y="5321880"/>
            <a:ext cx="2772720" cy="38376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56"/>
          <p:cNvSpPr/>
          <p:nvPr/>
        </p:nvSpPr>
        <p:spPr>
          <a:xfrm>
            <a:off x="3458880" y="5358240"/>
            <a:ext cx="2681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idx_premio_filme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57"/>
          <p:cNvSpPr/>
          <p:nvPr/>
        </p:nvSpPr>
        <p:spPr>
          <a:xfrm>
            <a:off x="6277320" y="5321880"/>
            <a:ext cx="2772720" cy="38376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58"/>
          <p:cNvSpPr/>
          <p:nvPr/>
        </p:nvSpPr>
        <p:spPr>
          <a:xfrm>
            <a:off x="6323040" y="5358240"/>
            <a:ext cx="2681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idx_premio_categoria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59"/>
          <p:cNvSpPr/>
          <p:nvPr/>
        </p:nvSpPr>
        <p:spPr>
          <a:xfrm>
            <a:off x="9141840" y="5321880"/>
            <a:ext cx="2772720" cy="38376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60"/>
          <p:cNvSpPr/>
          <p:nvPr/>
        </p:nvSpPr>
        <p:spPr>
          <a:xfrm>
            <a:off x="9187560" y="5358240"/>
            <a:ext cx="2681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idx_premio_edicao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5  Pipeline de Carga e Validação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pandas lê e limpa o CSV — psycopg2 insere em batch — cada tabela é commitada antes da próxima para garantir a integridade das chaves estrangeiras.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7"/>
          <p:cNvSpPr/>
          <p:nvPr/>
        </p:nvSpPr>
        <p:spPr>
          <a:xfrm>
            <a:off x="548640" y="1874520"/>
            <a:ext cx="2199600" cy="25142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8"/>
          <p:cNvSpPr/>
          <p:nvPr/>
        </p:nvSpPr>
        <p:spPr>
          <a:xfrm>
            <a:off x="548640" y="1929240"/>
            <a:ext cx="2199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1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9"/>
          <p:cNvSpPr/>
          <p:nvPr/>
        </p:nvSpPr>
        <p:spPr>
          <a:xfrm>
            <a:off x="658440" y="2258640"/>
            <a:ext cx="1980360" cy="122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10"/>
          <p:cNvSpPr/>
          <p:nvPr/>
        </p:nvSpPr>
        <p:spPr>
          <a:xfrm>
            <a:off x="603360" y="2304360"/>
            <a:ext cx="20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edicao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11"/>
          <p:cNvSpPr/>
          <p:nvPr/>
        </p:nvSpPr>
        <p:spPr>
          <a:xfrm>
            <a:off x="603360" y="2807280"/>
            <a:ext cx="2089800" cy="152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87 registros  anos únicos de cerimônia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12"/>
          <p:cNvSpPr/>
          <p:nvPr/>
        </p:nvSpPr>
        <p:spPr>
          <a:xfrm>
            <a:off x="2840040" y="1874520"/>
            <a:ext cx="2199600" cy="25142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13"/>
          <p:cNvSpPr/>
          <p:nvPr/>
        </p:nvSpPr>
        <p:spPr>
          <a:xfrm>
            <a:off x="2840040" y="1929240"/>
            <a:ext cx="2199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2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4"/>
          <p:cNvSpPr/>
          <p:nvPr/>
        </p:nvSpPr>
        <p:spPr>
          <a:xfrm>
            <a:off x="2949840" y="2258640"/>
            <a:ext cx="1980360" cy="122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15"/>
          <p:cNvSpPr/>
          <p:nvPr/>
        </p:nvSpPr>
        <p:spPr>
          <a:xfrm>
            <a:off x="2895120" y="2304360"/>
            <a:ext cx="20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categoria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6"/>
          <p:cNvSpPr/>
          <p:nvPr/>
        </p:nvSpPr>
        <p:spPr>
          <a:xfrm>
            <a:off x="2895120" y="2807280"/>
            <a:ext cx="2089800" cy="152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5 registros  categorias fixas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ectangle 17"/>
          <p:cNvSpPr/>
          <p:nvPr/>
        </p:nvSpPr>
        <p:spPr>
          <a:xfrm>
            <a:off x="5131440" y="1874520"/>
            <a:ext cx="2199600" cy="25142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18"/>
          <p:cNvSpPr/>
          <p:nvPr/>
        </p:nvSpPr>
        <p:spPr>
          <a:xfrm>
            <a:off x="5131440" y="1929240"/>
            <a:ext cx="2199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3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ctangle 19"/>
          <p:cNvSpPr/>
          <p:nvPr/>
        </p:nvSpPr>
        <p:spPr>
          <a:xfrm>
            <a:off x="5241240" y="2258640"/>
            <a:ext cx="1980360" cy="122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20"/>
          <p:cNvSpPr/>
          <p:nvPr/>
        </p:nvSpPr>
        <p:spPr>
          <a:xfrm>
            <a:off x="5186520" y="2304360"/>
            <a:ext cx="20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filme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21"/>
          <p:cNvSpPr/>
          <p:nvPr/>
        </p:nvSpPr>
        <p:spPr>
          <a:xfrm>
            <a:off x="5186520" y="2807280"/>
            <a:ext cx="2089800" cy="152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335 registros  títulos únicos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ctangle 22"/>
          <p:cNvSpPr/>
          <p:nvPr/>
        </p:nvSpPr>
        <p:spPr>
          <a:xfrm>
            <a:off x="7423200" y="1874520"/>
            <a:ext cx="2199600" cy="25142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23"/>
          <p:cNvSpPr/>
          <p:nvPr/>
        </p:nvSpPr>
        <p:spPr>
          <a:xfrm>
            <a:off x="7423200" y="1929240"/>
            <a:ext cx="2199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4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ctangle 24"/>
          <p:cNvSpPr/>
          <p:nvPr/>
        </p:nvSpPr>
        <p:spPr>
          <a:xfrm>
            <a:off x="7533000" y="2258640"/>
            <a:ext cx="1980360" cy="122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25"/>
          <p:cNvSpPr/>
          <p:nvPr/>
        </p:nvSpPr>
        <p:spPr>
          <a:xfrm>
            <a:off x="7477920" y="2304360"/>
            <a:ext cx="20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vencedor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6"/>
          <p:cNvSpPr/>
          <p:nvPr/>
        </p:nvSpPr>
        <p:spPr>
          <a:xfrm>
            <a:off x="7477920" y="2807280"/>
            <a:ext cx="2089800" cy="152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348 registros  deduplicados por nome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27"/>
          <p:cNvSpPr/>
          <p:nvPr/>
        </p:nvSpPr>
        <p:spPr>
          <a:xfrm>
            <a:off x="9714600" y="1874520"/>
            <a:ext cx="2199600" cy="25142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9714600" y="1929240"/>
            <a:ext cx="21996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5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ctangle 29"/>
          <p:cNvSpPr/>
          <p:nvPr/>
        </p:nvSpPr>
        <p:spPr>
          <a:xfrm>
            <a:off x="9824400" y="2258640"/>
            <a:ext cx="1980360" cy="122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30"/>
          <p:cNvSpPr/>
          <p:nvPr/>
        </p:nvSpPr>
        <p:spPr>
          <a:xfrm>
            <a:off x="9769320" y="2304360"/>
            <a:ext cx="20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premio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31"/>
          <p:cNvSpPr/>
          <p:nvPr/>
        </p:nvSpPr>
        <p:spPr>
          <a:xfrm>
            <a:off x="9769320" y="2807280"/>
            <a:ext cx="2089800" cy="152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415 registros  4× FK resolvidas por dicionário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32"/>
          <p:cNvSpPr/>
          <p:nvPr/>
        </p:nvSpPr>
        <p:spPr>
          <a:xfrm>
            <a:off x="548640" y="4572000"/>
            <a:ext cx="11365560" cy="107856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33"/>
          <p:cNvSpPr/>
          <p:nvPr/>
        </p:nvSpPr>
        <p:spPr>
          <a:xfrm>
            <a:off x="685800" y="4626720"/>
            <a:ext cx="1109124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Validação pós-carga — 8 checks SQL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34"/>
          <p:cNvSpPr/>
          <p:nvPr/>
        </p:nvSpPr>
        <p:spPr>
          <a:xfrm>
            <a:off x="685800" y="4956120"/>
            <a:ext cx="11091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✔  Zero registros órfãos em FKs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✔  Sem duplicatas na constraint UNIQUE(vencedor, categoria, edição)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✔  30 edições com menos de 5 prêmios — estrutural (primeiras décadas do Oscar)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5FBD-C9A1-685C-A4C7-E328F9E4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C3AFF5-579B-6429-F839-3A43270F573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059251-2889-44D8-40CC-8D3AFF50265F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7A2B46-FFB2-92C2-5B27-13A341836A1C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B5445-239F-B549-A694-6B2D2F41487F}"/>
              </a:ext>
            </a:extLst>
          </p:cNvPr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8146F6-4CAD-D882-E1D9-A2D2D8883357}"/>
              </a:ext>
            </a:extLst>
          </p:cNvPr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5  Pipeline de Carga e </a:t>
            </a:r>
            <a:r>
              <a:rPr sz="2600" b="1" i="0" dirty="0" err="1">
                <a:solidFill>
                  <a:srgbClr val="C8A000"/>
                </a:solidFill>
              </a:rPr>
              <a:t>Validação</a:t>
            </a:r>
            <a:endParaRPr sz="2600" b="1" i="0" dirty="0">
              <a:solidFill>
                <a:srgbClr val="C8A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BA1047-EC7D-FE03-66D9-BD4B9A4CA4F4}"/>
              </a:ext>
            </a:extLst>
          </p:cNvPr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 dirty="0">
                <a:solidFill>
                  <a:srgbClr val="BBBBBB"/>
                </a:solidFill>
              </a:rPr>
              <a:t>pandas </a:t>
            </a:r>
            <a:r>
              <a:rPr sz="1500" b="0" i="1" dirty="0" err="1">
                <a:solidFill>
                  <a:srgbClr val="BBBBBB"/>
                </a:solidFill>
              </a:rPr>
              <a:t>lê</a:t>
            </a:r>
            <a:r>
              <a:rPr sz="1500" b="0" i="1" dirty="0">
                <a:solidFill>
                  <a:srgbClr val="BBBBBB"/>
                </a:solidFill>
              </a:rPr>
              <a:t> e limpa o CSV — psycopg2 </a:t>
            </a:r>
            <a:r>
              <a:rPr sz="1500" b="0" i="1" dirty="0" err="1">
                <a:solidFill>
                  <a:srgbClr val="BBBBBB"/>
                </a:solidFill>
              </a:rPr>
              <a:t>insere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em</a:t>
            </a:r>
            <a:r>
              <a:rPr sz="1500" b="0" i="1" dirty="0">
                <a:solidFill>
                  <a:srgbClr val="BBBBBB"/>
                </a:solidFill>
              </a:rPr>
              <a:t> batch — </a:t>
            </a:r>
            <a:r>
              <a:rPr sz="1500" b="0" i="1" dirty="0" err="1">
                <a:solidFill>
                  <a:srgbClr val="BBBBBB"/>
                </a:solidFill>
              </a:rPr>
              <a:t>cada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tabela</a:t>
            </a:r>
            <a:r>
              <a:rPr sz="1500" b="0" i="1" dirty="0">
                <a:solidFill>
                  <a:srgbClr val="BBBBBB"/>
                </a:solidFill>
              </a:rPr>
              <a:t> é </a:t>
            </a:r>
            <a:r>
              <a:rPr sz="1500" b="0" i="1" dirty="0" err="1">
                <a:solidFill>
                  <a:srgbClr val="BBBBBB"/>
                </a:solidFill>
              </a:rPr>
              <a:t>commitada</a:t>
            </a:r>
            <a:r>
              <a:rPr sz="1500" b="0" i="1" dirty="0">
                <a:solidFill>
                  <a:srgbClr val="BBBBBB"/>
                </a:solidFill>
              </a:rPr>
              <a:t> antes da </a:t>
            </a:r>
            <a:r>
              <a:rPr sz="1500" b="0" i="1" dirty="0" err="1">
                <a:solidFill>
                  <a:srgbClr val="BBBBBB"/>
                </a:solidFill>
              </a:rPr>
              <a:t>próxima</a:t>
            </a:r>
            <a:r>
              <a:rPr sz="1500" b="0" i="1" dirty="0">
                <a:solidFill>
                  <a:srgbClr val="BBBBBB"/>
                </a:solidFill>
              </a:rPr>
              <a:t> para </a:t>
            </a:r>
            <a:r>
              <a:rPr sz="1500" b="0" i="1" dirty="0" err="1">
                <a:solidFill>
                  <a:srgbClr val="BBBBBB"/>
                </a:solidFill>
              </a:rPr>
              <a:t>garantir</a:t>
            </a:r>
            <a:r>
              <a:rPr sz="1500" b="0" i="1" dirty="0">
                <a:solidFill>
                  <a:srgbClr val="BBBBBB"/>
                </a:solidFill>
              </a:rPr>
              <a:t> a </a:t>
            </a:r>
            <a:r>
              <a:rPr sz="1500" b="0" i="1" dirty="0" err="1">
                <a:solidFill>
                  <a:srgbClr val="BBBBBB"/>
                </a:solidFill>
              </a:rPr>
              <a:t>integridade</a:t>
            </a:r>
            <a:r>
              <a:rPr sz="1500" b="0" i="1" dirty="0">
                <a:solidFill>
                  <a:srgbClr val="BBBBBB"/>
                </a:solidFill>
              </a:rPr>
              <a:t> das </a:t>
            </a:r>
            <a:r>
              <a:rPr sz="1500" b="0" i="1" dirty="0" err="1">
                <a:solidFill>
                  <a:srgbClr val="BBBBBB"/>
                </a:solidFill>
              </a:rPr>
              <a:t>chaves</a:t>
            </a:r>
            <a:r>
              <a:rPr sz="1500" b="0" i="1" dirty="0">
                <a:solidFill>
                  <a:srgbClr val="BBBBBB"/>
                </a:solidFill>
              </a:rPr>
              <a:t> </a:t>
            </a:r>
            <a:r>
              <a:rPr sz="1500" b="0" i="1" dirty="0" err="1">
                <a:solidFill>
                  <a:srgbClr val="BBBBBB"/>
                </a:solidFill>
              </a:rPr>
              <a:t>estrangeiras</a:t>
            </a:r>
            <a:r>
              <a:rPr sz="1500" b="0" i="1" dirty="0">
                <a:solidFill>
                  <a:srgbClr val="BBBBBB"/>
                </a:solidFill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469788-9E44-92B7-DE2A-2230EDE5B966}"/>
              </a:ext>
            </a:extLst>
          </p:cNvPr>
          <p:cNvSpPr/>
          <p:nvPr/>
        </p:nvSpPr>
        <p:spPr>
          <a:xfrm>
            <a:off x="548640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EB3A3F-2044-DE91-088F-D8412EB96A75}"/>
              </a:ext>
            </a:extLst>
          </p:cNvPr>
          <p:cNvSpPr txBox="1"/>
          <p:nvPr/>
        </p:nvSpPr>
        <p:spPr>
          <a:xfrm>
            <a:off x="548640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6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B27D37-EC88-8091-050E-7C203738BAD3}"/>
              </a:ext>
            </a:extLst>
          </p:cNvPr>
          <p:cNvSpPr/>
          <p:nvPr/>
        </p:nvSpPr>
        <p:spPr>
          <a:xfrm>
            <a:off x="658368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743E65-E3E9-3A6D-8D65-47DB98724709}"/>
              </a:ext>
            </a:extLst>
          </p:cNvPr>
          <p:cNvSpPr txBox="1"/>
          <p:nvPr/>
        </p:nvSpPr>
        <p:spPr>
          <a:xfrm>
            <a:off x="603504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>
                <a:solidFill>
                  <a:srgbClr val="FFFFFF"/>
                </a:solidFill>
              </a:rPr>
              <a:t>etnia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F8D49-8CCE-45FD-999C-8B6FF495B581}"/>
              </a:ext>
            </a:extLst>
          </p:cNvPr>
          <p:cNvSpPr txBox="1"/>
          <p:nvPr/>
        </p:nvSpPr>
        <p:spPr>
          <a:xfrm>
            <a:off x="603504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6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registros</a:t>
            </a:r>
            <a:r>
              <a:rPr sz="1000" b="0" i="0" dirty="0">
                <a:solidFill>
                  <a:srgbClr val="BBBBBB"/>
                </a:solidFill>
              </a:rPr>
              <a:t>  </a:t>
            </a:r>
            <a:endParaRPr lang="pt-BR" sz="1000" b="0" i="0" dirty="0">
              <a:solidFill>
                <a:srgbClr val="BBBBBB"/>
              </a:solidFill>
            </a:endParaRPr>
          </a:p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etnias únicas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E89D64-7915-3DBE-B5DF-A07D8A4A5AF4}"/>
              </a:ext>
            </a:extLst>
          </p:cNvPr>
          <p:cNvSpPr/>
          <p:nvPr/>
        </p:nvSpPr>
        <p:spPr>
          <a:xfrm>
            <a:off x="2840126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39110A-142A-4921-E1DC-A9FBFD04B847}"/>
              </a:ext>
            </a:extLst>
          </p:cNvPr>
          <p:cNvSpPr txBox="1"/>
          <p:nvPr/>
        </p:nvSpPr>
        <p:spPr>
          <a:xfrm>
            <a:off x="2840126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7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FD2C-F825-2367-15E5-F02B8266D26B}"/>
              </a:ext>
            </a:extLst>
          </p:cNvPr>
          <p:cNvSpPr/>
          <p:nvPr/>
        </p:nvSpPr>
        <p:spPr>
          <a:xfrm>
            <a:off x="2949854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F6CD6-238F-5785-4BD8-F6C7FD25F392}"/>
              </a:ext>
            </a:extLst>
          </p:cNvPr>
          <p:cNvSpPr txBox="1"/>
          <p:nvPr/>
        </p:nvSpPr>
        <p:spPr>
          <a:xfrm>
            <a:off x="2894990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 err="1">
                <a:solidFill>
                  <a:srgbClr val="FFFFFF"/>
                </a:solidFill>
              </a:rPr>
              <a:t>orient_sexual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82F883-FA69-BDBD-57D0-7B81F71ED2D4}"/>
              </a:ext>
            </a:extLst>
          </p:cNvPr>
          <p:cNvSpPr txBox="1"/>
          <p:nvPr/>
        </p:nvSpPr>
        <p:spPr>
          <a:xfrm>
            <a:off x="2894990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BBBBBB"/>
                </a:solidFill>
              </a:rPr>
              <a:t>5 </a:t>
            </a:r>
            <a:r>
              <a:rPr sz="1000" b="0" i="0" dirty="0" err="1">
                <a:solidFill>
                  <a:srgbClr val="BBBBBB"/>
                </a:solidFill>
              </a:rPr>
              <a:t>registros</a:t>
            </a:r>
            <a:r>
              <a:rPr sz="1000" b="0" i="0" dirty="0">
                <a:solidFill>
                  <a:srgbClr val="BBBBBB"/>
                </a:solidFill>
              </a:rPr>
              <a:t>  </a:t>
            </a:r>
            <a:endParaRPr lang="pt-BR" sz="1000" b="0" i="0" dirty="0">
              <a:solidFill>
                <a:srgbClr val="BBBBBB"/>
              </a:solidFill>
            </a:endParaRPr>
          </a:p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orientações sexuais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8556E1-D222-1283-DC21-CEB12C10D7C5}"/>
              </a:ext>
            </a:extLst>
          </p:cNvPr>
          <p:cNvSpPr/>
          <p:nvPr/>
        </p:nvSpPr>
        <p:spPr>
          <a:xfrm>
            <a:off x="5131612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5D5E03-611E-6F85-CD07-D63AC74CA5A3}"/>
              </a:ext>
            </a:extLst>
          </p:cNvPr>
          <p:cNvSpPr txBox="1"/>
          <p:nvPr/>
        </p:nvSpPr>
        <p:spPr>
          <a:xfrm>
            <a:off x="5131612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8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EF8B66-B856-D0CE-C04C-D4F914511FF0}"/>
              </a:ext>
            </a:extLst>
          </p:cNvPr>
          <p:cNvSpPr/>
          <p:nvPr/>
        </p:nvSpPr>
        <p:spPr>
          <a:xfrm>
            <a:off x="5241340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059C6C-C47A-1142-2DBB-3F48895BB8CF}"/>
              </a:ext>
            </a:extLst>
          </p:cNvPr>
          <p:cNvSpPr txBox="1"/>
          <p:nvPr/>
        </p:nvSpPr>
        <p:spPr>
          <a:xfrm>
            <a:off x="5186476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>
                <a:solidFill>
                  <a:srgbClr val="FFFFFF"/>
                </a:solidFill>
              </a:rPr>
              <a:t>pais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6EF9B-E0B6-6DA4-A33F-D52E71806BBE}"/>
              </a:ext>
            </a:extLst>
          </p:cNvPr>
          <p:cNvSpPr txBox="1"/>
          <p:nvPr/>
        </p:nvSpPr>
        <p:spPr>
          <a:xfrm>
            <a:off x="5186476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34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</a:t>
            </a:r>
            <a:r>
              <a:rPr lang="pt-BR" sz="1000" b="0" i="0" dirty="0">
                <a:solidFill>
                  <a:srgbClr val="BBBBBB"/>
                </a:solidFill>
              </a:rPr>
              <a:t>s</a:t>
            </a:r>
          </a:p>
          <a:p>
            <a:pPr algn="ctr"/>
            <a:r>
              <a:rPr lang="pt-BR" sz="1000" dirty="0">
                <a:solidFill>
                  <a:srgbClr val="BBBBBB"/>
                </a:solidFill>
              </a:rPr>
              <a:t>países únicos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864C51-201B-7278-174A-21FDD76CB805}"/>
              </a:ext>
            </a:extLst>
          </p:cNvPr>
          <p:cNvSpPr/>
          <p:nvPr/>
        </p:nvSpPr>
        <p:spPr>
          <a:xfrm>
            <a:off x="7423099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C5288A-D2B9-3680-00E9-A518E958D17B}"/>
              </a:ext>
            </a:extLst>
          </p:cNvPr>
          <p:cNvSpPr txBox="1"/>
          <p:nvPr/>
        </p:nvSpPr>
        <p:spPr>
          <a:xfrm>
            <a:off x="7423099" y="1929383"/>
            <a:ext cx="22000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1" i="0" dirty="0">
                <a:solidFill>
                  <a:srgbClr val="C8A000"/>
                </a:solidFill>
              </a:rPr>
              <a:t>9</a:t>
            </a:r>
            <a:endParaRPr sz="1600" b="1" i="0" dirty="0">
              <a:solidFill>
                <a:srgbClr val="C8A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43E2CE-A732-8DA2-2843-5FB7C988341B}"/>
              </a:ext>
            </a:extLst>
          </p:cNvPr>
          <p:cNvSpPr/>
          <p:nvPr/>
        </p:nvSpPr>
        <p:spPr>
          <a:xfrm>
            <a:off x="7532827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5C854A-90F4-A099-2DBE-7CC208DB240F}"/>
              </a:ext>
            </a:extLst>
          </p:cNvPr>
          <p:cNvSpPr txBox="1"/>
          <p:nvPr/>
        </p:nvSpPr>
        <p:spPr>
          <a:xfrm>
            <a:off x="7477963" y="2304287"/>
            <a:ext cx="20903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i="0" dirty="0" err="1">
                <a:solidFill>
                  <a:srgbClr val="FFFFFF"/>
                </a:solidFill>
              </a:rPr>
              <a:t>religiao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C9DB7E-CE4E-8D25-0FBA-1FEFCC3757C6}"/>
              </a:ext>
            </a:extLst>
          </p:cNvPr>
          <p:cNvSpPr txBox="1"/>
          <p:nvPr/>
        </p:nvSpPr>
        <p:spPr>
          <a:xfrm>
            <a:off x="7477963" y="2807207"/>
            <a:ext cx="2090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00" b="0" i="0" dirty="0">
                <a:solidFill>
                  <a:srgbClr val="BBBBBB"/>
                </a:solidFill>
              </a:rPr>
              <a:t>21</a:t>
            </a:r>
            <a:r>
              <a:rPr sz="1000" b="0" i="0" dirty="0">
                <a:solidFill>
                  <a:srgbClr val="BBBBBB"/>
                </a:solidFill>
              </a:rPr>
              <a:t> </a:t>
            </a:r>
            <a:r>
              <a:rPr sz="1000" b="0" i="0" dirty="0" err="1">
                <a:solidFill>
                  <a:srgbClr val="BBBBBB"/>
                </a:solidFill>
              </a:rPr>
              <a:t>registro</a:t>
            </a:r>
            <a:r>
              <a:rPr lang="pt-BR" sz="1000" b="0" i="0" dirty="0">
                <a:solidFill>
                  <a:srgbClr val="BBBBBB"/>
                </a:solidFill>
              </a:rPr>
              <a:t>s</a:t>
            </a:r>
          </a:p>
          <a:p>
            <a:pPr algn="ctr"/>
            <a:r>
              <a:rPr lang="pt-BR" sz="1000" dirty="0">
                <a:solidFill>
                  <a:srgbClr val="BBBBBB"/>
                </a:solidFill>
              </a:rPr>
              <a:t>religiões únicas</a:t>
            </a:r>
            <a:endParaRPr sz="1000" b="0" i="0" dirty="0">
              <a:solidFill>
                <a:srgbClr val="BBBBBB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85EC1C-2F41-BEFE-F8AB-9410B0D7AA64}"/>
              </a:ext>
            </a:extLst>
          </p:cNvPr>
          <p:cNvSpPr/>
          <p:nvPr/>
        </p:nvSpPr>
        <p:spPr>
          <a:xfrm>
            <a:off x="548640" y="4572000"/>
            <a:ext cx="11365992" cy="107899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5D334F-9265-116E-C875-23C34D8A7F9A}"/>
              </a:ext>
            </a:extLst>
          </p:cNvPr>
          <p:cNvSpPr txBox="1"/>
          <p:nvPr/>
        </p:nvSpPr>
        <p:spPr>
          <a:xfrm>
            <a:off x="685800" y="4626864"/>
            <a:ext cx="110916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Validação pós-carga — 8 checks SQL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BBC73A-09BE-1762-ADC1-D564743DFF73}"/>
              </a:ext>
            </a:extLst>
          </p:cNvPr>
          <p:cNvSpPr txBox="1"/>
          <p:nvPr/>
        </p:nvSpPr>
        <p:spPr>
          <a:xfrm>
            <a:off x="685800" y="495604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Zero registros órfãos em FKs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Sem duplicatas na constraint UNIQUE(vencedor, categoria, edição)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30 edições com menos de 5 prêmios — estrutural (primeiras décadas do Oscar)</a:t>
            </a:r>
          </a:p>
        </p:txBody>
      </p:sp>
    </p:spTree>
    <p:extLst>
      <p:ext uri="{BB962C8B-B14F-4D97-AF65-F5344CB8AC3E}">
        <p14:creationId xmlns:p14="http://schemas.microsoft.com/office/powerpoint/2010/main" val="3251760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031"/>
    </mc:Choice>
    <mc:Fallback xmlns="">
      <p:transition spd="slow" advTm="4803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6  Análise Exploratória — 5 Perguntas Investigativas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Cada pergunta foi escolhida para cobrir uma técnica SQL diferente e revelar um padrão histórico real nos dados.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 7"/>
          <p:cNvSpPr/>
          <p:nvPr/>
        </p:nvSpPr>
        <p:spPr>
          <a:xfrm>
            <a:off x="548640" y="1847160"/>
            <a:ext cx="681480" cy="6778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Box 8"/>
          <p:cNvSpPr/>
          <p:nvPr/>
        </p:nvSpPr>
        <p:spPr>
          <a:xfrm>
            <a:off x="621720" y="188352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 9"/>
          <p:cNvSpPr/>
          <p:nvPr/>
        </p:nvSpPr>
        <p:spPr>
          <a:xfrm>
            <a:off x="1230480" y="1847160"/>
            <a:ext cx="5455440" cy="6778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TextBox 10"/>
          <p:cNvSpPr/>
          <p:nvPr/>
        </p:nvSpPr>
        <p:spPr>
          <a:xfrm>
            <a:off x="1303920" y="188352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Pergunta investigativa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11"/>
          <p:cNvSpPr/>
          <p:nvPr/>
        </p:nvSpPr>
        <p:spPr>
          <a:xfrm>
            <a:off x="6686280" y="1847160"/>
            <a:ext cx="5227920" cy="6778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12"/>
          <p:cNvSpPr/>
          <p:nvPr/>
        </p:nvSpPr>
        <p:spPr>
          <a:xfrm>
            <a:off x="6759360" y="188352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Técnica SQL principal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13"/>
          <p:cNvSpPr/>
          <p:nvPr/>
        </p:nvSpPr>
        <p:spPr>
          <a:xfrm>
            <a:off x="548640" y="2525400"/>
            <a:ext cx="68148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621720" y="256176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P1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15"/>
          <p:cNvSpPr/>
          <p:nvPr/>
        </p:nvSpPr>
        <p:spPr>
          <a:xfrm>
            <a:off x="1230480" y="2525400"/>
            <a:ext cx="545544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16"/>
          <p:cNvSpPr/>
          <p:nvPr/>
        </p:nvSpPr>
        <p:spPr>
          <a:xfrm>
            <a:off x="1303920" y="256176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Filmes com múltiplas vitórias na mesma edição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17"/>
          <p:cNvSpPr/>
          <p:nvPr/>
        </p:nvSpPr>
        <p:spPr>
          <a:xfrm>
            <a:off x="6686280" y="2525400"/>
            <a:ext cx="522792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TextBox 18"/>
          <p:cNvSpPr/>
          <p:nvPr/>
        </p:nvSpPr>
        <p:spPr>
          <a:xfrm>
            <a:off x="6759360" y="256176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JOIN + GROUP BY + HAVING + STRING_AGG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19"/>
          <p:cNvSpPr/>
          <p:nvPr/>
        </p:nvSpPr>
        <p:spPr>
          <a:xfrm>
            <a:off x="548640" y="3203280"/>
            <a:ext cx="68148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TextBox 20"/>
          <p:cNvSpPr/>
          <p:nvPr/>
        </p:nvSpPr>
        <p:spPr>
          <a:xfrm>
            <a:off x="621720" y="324000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P2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Rectangle 21"/>
          <p:cNvSpPr/>
          <p:nvPr/>
        </p:nvSpPr>
        <p:spPr>
          <a:xfrm>
            <a:off x="1230480" y="3203280"/>
            <a:ext cx="545544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Box 22"/>
          <p:cNvSpPr/>
          <p:nvPr/>
        </p:nvSpPr>
        <p:spPr>
          <a:xfrm>
            <a:off x="1303920" y="324000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Evolução da diversidade étnica por década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23"/>
          <p:cNvSpPr/>
          <p:nvPr/>
        </p:nvSpPr>
        <p:spPr>
          <a:xfrm>
            <a:off x="6686280" y="3203280"/>
            <a:ext cx="522792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TextBox 24"/>
          <p:cNvSpPr/>
          <p:nvPr/>
        </p:nvSpPr>
        <p:spPr>
          <a:xfrm>
            <a:off x="6759360" y="324000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GROUP BY + FILTER + percentual em SQL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ectangle 25"/>
          <p:cNvSpPr/>
          <p:nvPr/>
        </p:nvSpPr>
        <p:spPr>
          <a:xfrm>
            <a:off x="548640" y="3881520"/>
            <a:ext cx="68148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26"/>
          <p:cNvSpPr/>
          <p:nvPr/>
        </p:nvSpPr>
        <p:spPr>
          <a:xfrm>
            <a:off x="621720" y="391824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Rectangle 27"/>
          <p:cNvSpPr/>
          <p:nvPr/>
        </p:nvSpPr>
        <p:spPr>
          <a:xfrm>
            <a:off x="1230480" y="3881520"/>
            <a:ext cx="545544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Box 28"/>
          <p:cNvSpPr/>
          <p:nvPr/>
        </p:nvSpPr>
        <p:spPr>
          <a:xfrm>
            <a:off x="1303920" y="391824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Idade dos vencedores por categoria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 29"/>
          <p:cNvSpPr/>
          <p:nvPr/>
        </p:nvSpPr>
        <p:spPr>
          <a:xfrm>
            <a:off x="6686280" y="3881520"/>
            <a:ext cx="522792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30"/>
          <p:cNvSpPr/>
          <p:nvPr/>
        </p:nvSpPr>
        <p:spPr>
          <a:xfrm>
            <a:off x="6759360" y="391824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AVG / MIN / MAX + UNION ALL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Rectangle 31"/>
          <p:cNvSpPr/>
          <p:nvPr/>
        </p:nvSpPr>
        <p:spPr>
          <a:xfrm>
            <a:off x="548640" y="4559760"/>
            <a:ext cx="68148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32"/>
          <p:cNvSpPr/>
          <p:nvPr/>
        </p:nvSpPr>
        <p:spPr>
          <a:xfrm>
            <a:off x="621720" y="459648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P4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33"/>
          <p:cNvSpPr/>
          <p:nvPr/>
        </p:nvSpPr>
        <p:spPr>
          <a:xfrm>
            <a:off x="1230480" y="4559760"/>
            <a:ext cx="545544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34"/>
          <p:cNvSpPr/>
          <p:nvPr/>
        </p:nvSpPr>
        <p:spPr>
          <a:xfrm>
            <a:off x="1303920" y="459648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Maior intervalo entre vitórias consecutivas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ectangle 35"/>
          <p:cNvSpPr/>
          <p:nvPr/>
        </p:nvSpPr>
        <p:spPr>
          <a:xfrm>
            <a:off x="6686280" y="4559760"/>
            <a:ext cx="5227920" cy="6778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36"/>
          <p:cNvSpPr/>
          <p:nvPr/>
        </p:nvSpPr>
        <p:spPr>
          <a:xfrm>
            <a:off x="6759360" y="459648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CTE + window function LAG()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37"/>
          <p:cNvSpPr/>
          <p:nvPr/>
        </p:nvSpPr>
        <p:spPr>
          <a:xfrm>
            <a:off x="548640" y="5238000"/>
            <a:ext cx="68148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38"/>
          <p:cNvSpPr/>
          <p:nvPr/>
        </p:nvSpPr>
        <p:spPr>
          <a:xfrm>
            <a:off x="621720" y="5274720"/>
            <a:ext cx="5353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P5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39"/>
          <p:cNvSpPr/>
          <p:nvPr/>
        </p:nvSpPr>
        <p:spPr>
          <a:xfrm>
            <a:off x="1230480" y="5238000"/>
            <a:ext cx="545544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40"/>
          <p:cNvSpPr/>
          <p:nvPr/>
        </p:nvSpPr>
        <p:spPr>
          <a:xfrm>
            <a:off x="1303920" y="5274720"/>
            <a:ext cx="530892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Primeiro vencedor não-branco por categoria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41"/>
          <p:cNvSpPr/>
          <p:nvPr/>
        </p:nvSpPr>
        <p:spPr>
          <a:xfrm>
            <a:off x="6686280" y="5238000"/>
            <a:ext cx="5227920" cy="6778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42"/>
          <p:cNvSpPr/>
          <p:nvPr/>
        </p:nvSpPr>
        <p:spPr>
          <a:xfrm>
            <a:off x="6759360" y="5274720"/>
            <a:ext cx="5081760" cy="60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CTE + ROW_NUMBER() OVER (PARTITION BY)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P1 — Filmes com múltiplas vitórias na mesma edição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Alguns filmes dominaram a noite inteira do Oscar, vencendo mais de uma categoria na mesma cerimônia — revelando o prestígio absoluto de certas obras.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Top 3 — 3 categorias cada: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It Happened One Night (1935)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Gone with the Wind (1940)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Going My Way (1945)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60 filmes no total venceram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2+ categorias na mesma edição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ao longo dos 87 anos.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Técnica SQL: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GROUP BY filme + edição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HAVING COUNT(*) &gt; 1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STRING_AGG lista as categorias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vencidas na mesma noite.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65" name="Picture 10" descr="grafico_p1_filmes_multivencedores.png"/>
          <p:cNvPicPr/>
          <p:nvPr/>
        </p:nvPicPr>
        <p:blipFill>
          <a:blip r:embed="rId2"/>
          <a:stretch/>
        </p:blipFill>
        <p:spPr>
          <a:xfrm>
            <a:off x="5605200" y="1170360"/>
            <a:ext cx="6354720" cy="5092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P2 — Diversidade étnica por década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Esta é a pergunta central do projeto. Os dados mostram com precisão quando — e em que ritmo — a Academia começou a reconhecer artistas não-brancos.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Evolução da representatividade: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1927–1969:  ~0% não-brancos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1970–1989:  primeiros sinais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2000–2014:  ~19%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Para comparar: negros e hispânicos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somam +30% da pop. americana —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 Oscar ainda estava muito abaixo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disso ao fim do período analisado.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Técnica: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GROUP BY com cálculo de década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+ COUNT FILTER + divisão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percentual diretamente em SQL.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75" name="Picture 10" descr="grafico_p2_diversidade_decada.png"/>
          <p:cNvPicPr/>
          <p:nvPr/>
        </p:nvPicPr>
        <p:blipFill>
          <a:blip r:embed="rId2"/>
          <a:stretch/>
        </p:blipFill>
        <p:spPr>
          <a:xfrm>
            <a:off x="5605200" y="1170360"/>
            <a:ext cx="6354720" cy="509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Rectangle 11"/>
          <p:cNvSpPr/>
          <p:nvPr/>
        </p:nvSpPr>
        <p:spPr>
          <a:xfrm>
            <a:off x="548640" y="5989320"/>
            <a:ext cx="11365560" cy="566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12"/>
          <p:cNvSpPr/>
          <p:nvPr/>
        </p:nvSpPr>
        <p:spPr>
          <a:xfrm>
            <a:off x="640080" y="6007680"/>
            <a:ext cx="1118268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Achado central — o gráfico confirma com dados o que o debate #OscarsSoWhite já apontava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P3 — Idade dos vencedores por categoria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A idade no momento da premiação varia bastante entre categorias, revelando perfis de carreira distintos por função no cinema.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Casos extremos do dataset: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Mais jovem: Tatum O'Neal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11 anos — Supp. Actress (1974)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Mais velho: Christopher Plummer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83 anos — Supp. Actor (2012)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Médias por categoria: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Actress       ~37 anos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Actor         ~43 anos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Director      ~48 anos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Supp. Actor   ~51 anos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Técnica: AVG / MIN / MAX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agrupado por categoria.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7" name="Picture 10" descr="grafico_p3_idade_categoria.png"/>
          <p:cNvPicPr/>
          <p:nvPr/>
        </p:nvPicPr>
        <p:blipFill>
          <a:blip r:embed="rId2"/>
          <a:stretch/>
        </p:blipFill>
        <p:spPr>
          <a:xfrm>
            <a:off x="5605200" y="1170360"/>
            <a:ext cx="6354720" cy="5092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P4 — Maior intervalo entre vitórias consecutivas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Entre quem ganhou mais de um Oscar, alguns artistas esperaram décadas pelo retorno ao palco — evidência de carreiras longas e resilientes.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Maiores intervalos registrados: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Helen Hayes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1932 → 1971  (39 anos de espera)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Katharine Hepburn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1934 → 1968  (34 anos)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Esses números revelam que 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reconhecimento pode ser tardio —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mas também que certas carreiras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atravessam gerações.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Técnica: LAG() compara cada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vitória com a anterior do mesmo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artista (PARTITION BY vencedor).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97" name="Picture 10" descr="grafico_p4_intervalo_vitorias.png"/>
          <p:cNvPicPr/>
          <p:nvPr/>
        </p:nvPicPr>
        <p:blipFill>
          <a:blip r:embed="rId2"/>
          <a:stretch/>
        </p:blipFill>
        <p:spPr>
          <a:xfrm>
            <a:off x="5605200" y="1170360"/>
            <a:ext cx="6354720" cy="5092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9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2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P5 — Primeiro vencedor não-branco por categoria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Rectangle 6"/>
          <p:cNvSpPr/>
          <p:nvPr/>
        </p:nvSpPr>
        <p:spPr>
          <a:xfrm>
            <a:off x="502920" y="1170360"/>
            <a:ext cx="4845960" cy="5092920"/>
          </a:xfrm>
          <a:prstGeom prst="rect">
            <a:avLst/>
          </a:prstGeom>
          <a:solidFill>
            <a:srgbClr val="26262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Box 7"/>
          <p:cNvSpPr/>
          <p:nvPr/>
        </p:nvSpPr>
        <p:spPr>
          <a:xfrm>
            <a:off x="548640" y="1225440"/>
            <a:ext cx="4754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Esta consulta marca momentos históricos concretos: o ano exato em que cada categoria foi vencida pela primeira vez por um artista não-branco.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8"/>
          <p:cNvSpPr/>
          <p:nvPr/>
        </p:nvSpPr>
        <p:spPr>
          <a:xfrm>
            <a:off x="548640" y="1801440"/>
            <a:ext cx="47545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Primeiras vitórias não-brancas: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Supp. Actress — Hattie McDaniel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Black · 1940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Actor — Jose Ferrer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Hispanic · 1951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Supp. Actor — Anthony Quinn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Hispanic · 1953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Actress — Halle Berry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Multiracial · 2002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Best Director — Ang Lee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Asian · 2006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Técnica: CTE + ROW_NUMBER()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OVER (PARTITION BY categoria)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00"/>
              </a:spcBef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para isolar o primeiro de cada.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ectangle 9"/>
          <p:cNvSpPr/>
          <p:nvPr/>
        </p:nvSpPr>
        <p:spPr>
          <a:xfrm>
            <a:off x="5440680" y="1170360"/>
            <a:ext cx="18720" cy="50929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7" name="Picture 10" descr="grafico_p5_primeira_vitoria_nao_branca.png"/>
          <p:cNvPicPr/>
          <p:nvPr/>
        </p:nvPicPr>
        <p:blipFill>
          <a:blip r:embed="rId2"/>
          <a:stretch/>
        </p:blipFill>
        <p:spPr>
          <a:xfrm>
            <a:off x="5605200" y="1170360"/>
            <a:ext cx="6354720" cy="509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Rectangle 11"/>
          <p:cNvSpPr/>
          <p:nvPr/>
        </p:nvSpPr>
        <p:spPr>
          <a:xfrm>
            <a:off x="548640" y="5989320"/>
            <a:ext cx="11365560" cy="566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TextBox 12"/>
          <p:cNvSpPr/>
          <p:nvPr/>
        </p:nvSpPr>
        <p:spPr>
          <a:xfrm>
            <a:off x="640080" y="6007680"/>
            <a:ext cx="1118268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Best Director esperou 79 anos para ter um vencedor não-branco — quase o dobro da vida humana média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616-26D8-049D-774E-2D2C209F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ABEF0E2-5FF5-EF22-6A62-D3BF695BF23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7A25F5-0573-3A6B-214D-CEA17D53038A}"/>
              </a:ext>
            </a:extLst>
          </p:cNvPr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E52F68-7487-2985-3285-C803E9705DD0}"/>
              </a:ext>
            </a:extLst>
          </p:cNvPr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A841BE-7CBF-8474-BB96-ED2E6A5149FE}"/>
              </a:ext>
            </a:extLst>
          </p:cNvPr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0E0D7-4F6E-2C6D-B7B2-447E63E6B273}"/>
              </a:ext>
            </a:extLst>
          </p:cNvPr>
          <p:cNvSpPr txBox="1"/>
          <p:nvPr/>
        </p:nvSpPr>
        <p:spPr>
          <a:xfrm>
            <a:off x="548640" y="228600"/>
            <a:ext cx="1136599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C8A000"/>
                </a:solidFill>
              </a:rPr>
              <a:t>P</a:t>
            </a:r>
            <a:r>
              <a:rPr lang="pt-BR" sz="2600" b="1" i="0" dirty="0">
                <a:solidFill>
                  <a:srgbClr val="C8A000"/>
                </a:solidFill>
              </a:rPr>
              <a:t>6</a:t>
            </a:r>
            <a:r>
              <a:rPr sz="2600" b="1" i="0" dirty="0">
                <a:solidFill>
                  <a:srgbClr val="C8A000"/>
                </a:solidFill>
              </a:rPr>
              <a:t> — </a:t>
            </a:r>
            <a:r>
              <a:rPr lang="pt-BR" sz="2600" b="1" i="0" dirty="0">
                <a:solidFill>
                  <a:srgbClr val="C8A000"/>
                </a:solidFill>
              </a:rPr>
              <a:t>Número de prêmios por país</a:t>
            </a:r>
            <a:endParaRPr sz="2600" b="1" i="0" dirty="0">
              <a:solidFill>
                <a:srgbClr val="C8A000"/>
              </a:solidFill>
            </a:endParaRPr>
          </a:p>
        </p:txBody>
      </p:sp>
      <p:pic>
        <p:nvPicPr>
          <p:cNvPr id="15" name="Imagem 14" descr="Gráfico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B49D1E5B-309F-7ECD-F647-83F1E2FA0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78141"/>
            <a:ext cx="5051430" cy="3664291"/>
          </a:xfrm>
          <a:prstGeom prst="rect">
            <a:avLst/>
          </a:prstGeom>
        </p:spPr>
      </p:pic>
      <p:pic>
        <p:nvPicPr>
          <p:cNvPr id="17" name="Imagem 16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C2ED814B-9AC3-BD70-2AB4-1395F194E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129" y="1170432"/>
            <a:ext cx="6076352" cy="544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395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7489"/>
    </mc:Choice>
    <mc:Fallback xmlns="">
      <p:transition spd="slow" advTm="107489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Rectangle 4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Box 5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8  Conclusão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6"/>
          <p:cNvSpPr/>
          <p:nvPr/>
        </p:nvSpPr>
        <p:spPr>
          <a:xfrm>
            <a:off x="548640" y="1207080"/>
            <a:ext cx="11365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O projeto entregou o ciclo completo de um banco de dados relacional, unindo rigor técnico com uma análise que tem algo real a dizer sobre representatividade.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ectangle 7"/>
          <p:cNvSpPr/>
          <p:nvPr/>
        </p:nvSpPr>
        <p:spPr>
          <a:xfrm>
            <a:off x="548640" y="1828800"/>
            <a:ext cx="5614200" cy="22856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Box 8"/>
          <p:cNvSpPr/>
          <p:nvPr/>
        </p:nvSpPr>
        <p:spPr>
          <a:xfrm>
            <a:off x="685800" y="1901880"/>
            <a:ext cx="53398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Ciclo técnico completo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9"/>
          <p:cNvSpPr/>
          <p:nvPr/>
        </p:nvSpPr>
        <p:spPr>
          <a:xfrm>
            <a:off x="685800" y="2267640"/>
            <a:ext cx="5339880" cy="178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 → Relacional → 3FN → DDL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Pipeline com tratamento de NULLs e deduplicação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Validação com 8 checks SQL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 consultas com técnicas avançadas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 gráficos gerados diretamente do banco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Rectangle 10"/>
          <p:cNvSpPr/>
          <p:nvPr/>
        </p:nvSpPr>
        <p:spPr>
          <a:xfrm>
            <a:off x="6300360" y="1828800"/>
            <a:ext cx="5614200" cy="2285640"/>
          </a:xfrm>
          <a:prstGeom prst="rect">
            <a:avLst/>
          </a:prstGeom>
          <a:solidFill>
            <a:srgbClr val="262626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Box 11"/>
          <p:cNvSpPr/>
          <p:nvPr/>
        </p:nvSpPr>
        <p:spPr>
          <a:xfrm>
            <a:off x="6437520" y="1901880"/>
            <a:ext cx="53398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Achados mais impactantes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12"/>
          <p:cNvSpPr/>
          <p:nvPr/>
        </p:nvSpPr>
        <p:spPr>
          <a:xfrm>
            <a:off x="6437520" y="2267640"/>
            <a:ext cx="5339880" cy="178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79 anos para o 1° diretor não-branco (Ang Lee, 2006)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Em 2014 apenas ~19% dos premiados eram não-brancos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Helen Hayes: 39 anos entre a 1ª e a 2ª vitória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60 filmes dominaram 2+ categorias na mesma cerimônia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ectangle 13"/>
          <p:cNvSpPr/>
          <p:nvPr/>
        </p:nvSpPr>
        <p:spPr>
          <a:xfrm>
            <a:off x="548640" y="4251960"/>
            <a:ext cx="11365560" cy="1508400"/>
          </a:xfrm>
          <a:prstGeom prst="rect">
            <a:avLst/>
          </a:prstGeom>
          <a:solidFill>
            <a:srgbClr val="352A00"/>
          </a:solidFill>
          <a:ln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14"/>
          <p:cNvSpPr/>
          <p:nvPr/>
        </p:nvSpPr>
        <p:spPr>
          <a:xfrm>
            <a:off x="685800" y="4316040"/>
            <a:ext cx="110912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Decisões de design que fizeram diferença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5"/>
          <p:cNvSpPr/>
          <p:nvPr/>
        </p:nvSpPr>
        <p:spPr>
          <a:xfrm>
            <a:off x="685800" y="4663440"/>
            <a:ext cx="1109124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→  PREMIO como entidade associativa captura a granularidade exata do dataset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→  UNIQUE (vencedor, categoria, edição) — o banco impede dados impossíveis por construção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</a:pPr>
            <a:r>
              <a:rPr lang="en-US" sz="1200" b="0" u="none" strike="noStrike">
                <a:solidFill>
                  <a:srgbClr val="BBBBBB"/>
                </a:solidFill>
                <a:effectLst/>
                <a:uFillTx/>
                <a:latin typeface="Calibri"/>
              </a:rPr>
              <a:t>→  "Na" tratado como NULL desde a carga  ·  ano_nascimento preservado sem violar 3FN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Rectangle 16"/>
          <p:cNvSpPr/>
          <p:nvPr/>
        </p:nvSpPr>
        <p:spPr>
          <a:xfrm>
            <a:off x="548640" y="5989320"/>
            <a:ext cx="11365560" cy="566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TextBox 17"/>
          <p:cNvSpPr/>
          <p:nvPr/>
        </p:nvSpPr>
        <p:spPr>
          <a:xfrm>
            <a:off x="640080" y="6007680"/>
            <a:ext cx="1118268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1A"/>
                </a:solidFill>
                <a:effectLst/>
                <a:uFillTx/>
                <a:latin typeface="Calibri"/>
              </a:rPr>
              <a:t>415 linhas de CSV  →  5 tabelas  →  5 gráficos  →  1 história sobre representatividade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0" name="TextBox 4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Vídeo 1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Rectangle 5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Rectangle 6"/>
          <p:cNvSpPr/>
          <p:nvPr/>
        </p:nvSpPr>
        <p:spPr>
          <a:xfrm>
            <a:off x="548640" y="1280160"/>
            <a:ext cx="11365560" cy="507456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TextBox 7"/>
          <p:cNvSpPr/>
          <p:nvPr/>
        </p:nvSpPr>
        <p:spPr>
          <a:xfrm>
            <a:off x="548640" y="2743200"/>
            <a:ext cx="113655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5200" b="0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▶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8"/>
          <p:cNvSpPr/>
          <p:nvPr/>
        </p:nvSpPr>
        <p:spPr>
          <a:xfrm>
            <a:off x="548640" y="4023360"/>
            <a:ext cx="11365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Insira o vídeo aqui  —  Inserir → Vídeo → Este Dispositivo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4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Vídeo 2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Rectangle 5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Rectangle 6"/>
          <p:cNvSpPr/>
          <p:nvPr/>
        </p:nvSpPr>
        <p:spPr>
          <a:xfrm>
            <a:off x="548640" y="1280160"/>
            <a:ext cx="11365560" cy="507456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Box 7"/>
          <p:cNvSpPr/>
          <p:nvPr/>
        </p:nvSpPr>
        <p:spPr>
          <a:xfrm>
            <a:off x="548640" y="2743200"/>
            <a:ext cx="113655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5200" b="0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▶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8"/>
          <p:cNvSpPr/>
          <p:nvPr/>
        </p:nvSpPr>
        <p:spPr>
          <a:xfrm>
            <a:off x="548640" y="4023360"/>
            <a:ext cx="11365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Insira o vídeo aqui  —  Inserir → Vídeo → Este Dispositivo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TextBox 4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Vídeo 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Rectangle 5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Rectangle 6"/>
          <p:cNvSpPr/>
          <p:nvPr/>
        </p:nvSpPr>
        <p:spPr>
          <a:xfrm>
            <a:off x="548640" y="1280160"/>
            <a:ext cx="11365560" cy="507456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7"/>
          <p:cNvSpPr/>
          <p:nvPr/>
        </p:nvSpPr>
        <p:spPr>
          <a:xfrm>
            <a:off x="548640" y="2743200"/>
            <a:ext cx="113655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5200" b="0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▶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8"/>
          <p:cNvSpPr/>
          <p:nvPr/>
        </p:nvSpPr>
        <p:spPr>
          <a:xfrm>
            <a:off x="548640" y="4023360"/>
            <a:ext cx="11365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Insira o vídeo aqui  —  Inserir → Vídeo → Este Dispositivo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TextBox 4"/>
          <p:cNvSpPr/>
          <p:nvPr/>
        </p:nvSpPr>
        <p:spPr>
          <a:xfrm>
            <a:off x="548640" y="228600"/>
            <a:ext cx="11365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Vídeo 4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548640" y="1115640"/>
            <a:ext cx="11365560" cy="1872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548640" y="1280160"/>
            <a:ext cx="11365560" cy="507456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7"/>
          <p:cNvSpPr/>
          <p:nvPr/>
        </p:nvSpPr>
        <p:spPr>
          <a:xfrm>
            <a:off x="548640" y="2743200"/>
            <a:ext cx="113655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5200" b="0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▶</a:t>
            </a:r>
            <a:endParaRPr lang="pt-BR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8"/>
          <p:cNvSpPr/>
          <p:nvPr/>
        </p:nvSpPr>
        <p:spPr>
          <a:xfrm>
            <a:off x="548640" y="4023360"/>
            <a:ext cx="11365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Insira o vídeo aqui  —  Inserir → Vídeo → Este Dispositivo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0" name="Rectangle 2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1" name="Rectangle 3"/>
          <p:cNvSpPr/>
          <p:nvPr/>
        </p:nvSpPr>
        <p:spPr>
          <a:xfrm>
            <a:off x="0" y="6739200"/>
            <a:ext cx="12188520" cy="118440"/>
          </a:xfrm>
          <a:prstGeom prst="rect">
            <a:avLst/>
          </a:prstGeom>
          <a:solidFill>
            <a:srgbClr val="C8A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2" name="TextBox 4"/>
          <p:cNvSpPr/>
          <p:nvPr/>
        </p:nvSpPr>
        <p:spPr>
          <a:xfrm>
            <a:off x="548640" y="1920240"/>
            <a:ext cx="11365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C8A000"/>
                </a:solidFill>
                <a:effectLst/>
                <a:uFillTx/>
                <a:latin typeface="Calibri"/>
              </a:rPr>
              <a:t>Obrigado!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5"/>
          <p:cNvSpPr/>
          <p:nvPr/>
        </p:nvSpPr>
        <p:spPr>
          <a:xfrm>
            <a:off x="548640" y="4114800"/>
            <a:ext cx="1136556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Dúvidas?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Oscar AMPAS  ·  DCC/UFMG  ·  2026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1845</Words>
  <Application>Microsoft Office PowerPoint</Application>
  <PresentationFormat>Personalizar</PresentationFormat>
  <Paragraphs>324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Felipe Muniz</cp:lastModifiedBy>
  <cp:revision>3</cp:revision>
  <dcterms:created xsi:type="dcterms:W3CDTF">2013-01-27T09:14:16Z</dcterms:created>
  <dcterms:modified xsi:type="dcterms:W3CDTF">2026-06-26T18:17:55Z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
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88825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E61630E-0AAC-4B48-97F8-5FBB87A7825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011D4A0-3A26-4DF4-A6E9-8E89CF14AB9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0764F6E-6676-40EF-B332-8824ED280E9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E849A71-0E3D-4816-9BED-362AFE991F9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419DF6C-0619-4D88-A343-9142382B7DA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59DDFAB-715D-4694-B450-C86C3D2B2E7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37E769A-ADF0-41B6-926D-ABB64D4D512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71E0C60-6941-43F1-860C-1E85AD7291C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0366E27-A665-4DB2-A029-B1E8A9FCC24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do texto do título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3C589BE-EA3E-4D1F-B804-2E711FCFFB8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5FFD981-93F8-4901-9B8D-782BF592F0A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1a1a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0" y="0"/>
            <a:ext cx="347040" cy="685764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Rectangle 3"/>
          <p:cNvSpPr/>
          <p:nvPr/>
        </p:nvSpPr>
        <p:spPr>
          <a:xfrm>
            <a:off x="0" y="6739200"/>
            <a:ext cx="12188520" cy="11844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548640" y="1920240"/>
            <a:ext cx="1136556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c8a000"/>
                </a:solidFill>
                <a:effectLst/>
                <a:uFillTx/>
                <a:latin typeface="Calibri"/>
              </a:rPr>
              <a:t>Oscar AMPAS — Winner Demographics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548640" y="4114800"/>
            <a:ext cx="11365560" cy="26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/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Projeto Final de Banco de Dados  |  DCC/UFMG  |  Prof. Pedro H. Barros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2026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Lucas Samuel Fernandes Andrade Oliveira,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Felipe Ribas Muniz,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Iury Alves Bicalho e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Bruno dos Santos Lopes 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1a1a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Rectangle 2"/>
          <p:cNvSpPr/>
          <p:nvPr/>
        </p:nvSpPr>
        <p:spPr>
          <a:xfrm>
            <a:off x="0" y="0"/>
            <a:ext cx="347040" cy="685764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Rectangle 3"/>
          <p:cNvSpPr/>
          <p:nvPr/>
        </p:nvSpPr>
        <p:spPr>
          <a:xfrm>
            <a:off x="0" y="6739200"/>
            <a:ext cx="12188520" cy="11844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Rectangle 4"/>
          <p:cNvSpPr/>
          <p:nvPr/>
        </p:nvSpPr>
        <p:spPr>
          <a:xfrm>
            <a:off x="548640" y="1115640"/>
            <a:ext cx="11365560" cy="1872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Box 5"/>
          <p:cNvSpPr/>
          <p:nvPr/>
        </p:nvSpPr>
        <p:spPr>
          <a:xfrm>
            <a:off x="548640" y="228600"/>
            <a:ext cx="11365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c8a000"/>
                </a:solidFill>
                <a:effectLst/>
                <a:uFillTx/>
                <a:latin typeface="Calibri"/>
              </a:rPr>
              <a:t>Agenda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6"/>
          <p:cNvSpPr/>
          <p:nvPr/>
        </p:nvSpPr>
        <p:spPr>
          <a:xfrm>
            <a:off x="548640" y="1207080"/>
            <a:ext cx="11365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i="1" u="none" strike="noStrike">
                <a:solidFill>
                  <a:srgbClr val="bbbbbb"/>
                </a:solidFill>
                <a:effectLst/>
                <a:uFillTx/>
                <a:latin typeface="Calibri"/>
              </a:rPr>
              <a:t>O projeto percorre o ciclo completo de um banco de dados relacional, da escolha do dataset até a análise exploratória com visualizações.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Rectangle 7"/>
          <p:cNvSpPr/>
          <p:nvPr/>
        </p:nvSpPr>
        <p:spPr>
          <a:xfrm>
            <a:off x="548640" y="1920240"/>
            <a:ext cx="2772720" cy="1005480"/>
          </a:xfrm>
          <a:prstGeom prst="rect">
            <a:avLst/>
          </a:prstGeom>
          <a:solidFill>
            <a:srgbClr val="262626"/>
          </a:solidFill>
          <a:ln>
            <a:solidFill>
              <a:srgbClr val="c8a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Box 8"/>
          <p:cNvSpPr/>
          <p:nvPr/>
        </p:nvSpPr>
        <p:spPr>
          <a:xfrm>
            <a:off x="548640" y="1993320"/>
            <a:ext cx="2772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c8a000"/>
                </a:solidFill>
                <a:effectLst/>
                <a:uFillTx/>
                <a:latin typeface="Calibri"/>
              </a:rPr>
              <a:t>1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9"/>
          <p:cNvSpPr/>
          <p:nvPr/>
        </p:nvSpPr>
        <p:spPr>
          <a:xfrm>
            <a:off x="603360" y="2359080"/>
            <a:ext cx="2662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Dataset e Motivação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Rectangle 10"/>
          <p:cNvSpPr/>
          <p:nvPr/>
        </p:nvSpPr>
        <p:spPr>
          <a:xfrm>
            <a:off x="3413160" y="1920240"/>
            <a:ext cx="2772720" cy="1005480"/>
          </a:xfrm>
          <a:prstGeom prst="rect">
            <a:avLst/>
          </a:prstGeom>
          <a:solidFill>
            <a:srgbClr val="262626"/>
          </a:solidFill>
          <a:ln>
            <a:solidFill>
              <a:srgbClr val="c8a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Box 11"/>
          <p:cNvSpPr/>
          <p:nvPr/>
        </p:nvSpPr>
        <p:spPr>
          <a:xfrm>
            <a:off x="3413160" y="1993320"/>
            <a:ext cx="2772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c8a000"/>
                </a:solidFill>
                <a:effectLst/>
                <a:uFillTx/>
                <a:latin typeface="Calibri"/>
              </a:rPr>
              <a:t>2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12"/>
          <p:cNvSpPr/>
          <p:nvPr/>
        </p:nvSpPr>
        <p:spPr>
          <a:xfrm>
            <a:off x="3467880" y="2359080"/>
            <a:ext cx="2662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Modelo ER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ectangle 13"/>
          <p:cNvSpPr/>
          <p:nvPr/>
        </p:nvSpPr>
        <p:spPr>
          <a:xfrm>
            <a:off x="6277320" y="1920240"/>
            <a:ext cx="2772720" cy="1005480"/>
          </a:xfrm>
          <a:prstGeom prst="rect">
            <a:avLst/>
          </a:prstGeom>
          <a:solidFill>
            <a:srgbClr val="262626"/>
          </a:solidFill>
          <a:ln>
            <a:solidFill>
              <a:srgbClr val="c8a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TextBox 14"/>
          <p:cNvSpPr/>
          <p:nvPr/>
        </p:nvSpPr>
        <p:spPr>
          <a:xfrm>
            <a:off x="6277320" y="1993320"/>
            <a:ext cx="2772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c8a000"/>
                </a:solidFill>
                <a:effectLst/>
                <a:uFillTx/>
                <a:latin typeface="Calibri"/>
              </a:rPr>
              <a:t>3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15"/>
          <p:cNvSpPr/>
          <p:nvPr/>
        </p:nvSpPr>
        <p:spPr>
          <a:xfrm>
            <a:off x="6332400" y="2359080"/>
            <a:ext cx="2662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Modelo Relacional e 3FN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Rectangle 16"/>
          <p:cNvSpPr/>
          <p:nvPr/>
        </p:nvSpPr>
        <p:spPr>
          <a:xfrm>
            <a:off x="9141840" y="1920240"/>
            <a:ext cx="2772720" cy="1005480"/>
          </a:xfrm>
          <a:prstGeom prst="rect">
            <a:avLst/>
          </a:prstGeom>
          <a:solidFill>
            <a:srgbClr val="262626"/>
          </a:solidFill>
          <a:ln>
            <a:solidFill>
              <a:srgbClr val="c8a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Box 17"/>
          <p:cNvSpPr/>
          <p:nvPr/>
        </p:nvSpPr>
        <p:spPr>
          <a:xfrm>
            <a:off x="9141840" y="1993320"/>
            <a:ext cx="2772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c8a000"/>
                </a:solidFill>
                <a:effectLst/>
                <a:uFillTx/>
                <a:latin typeface="Calibri"/>
              </a:rPr>
              <a:t>4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18"/>
          <p:cNvSpPr/>
          <p:nvPr/>
        </p:nvSpPr>
        <p:spPr>
          <a:xfrm>
            <a:off x="9196560" y="2359080"/>
            <a:ext cx="2662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Implementação Física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Rectangle 19"/>
          <p:cNvSpPr/>
          <p:nvPr/>
        </p:nvSpPr>
        <p:spPr>
          <a:xfrm>
            <a:off x="548640" y="3017520"/>
            <a:ext cx="2772720" cy="1005480"/>
          </a:xfrm>
          <a:prstGeom prst="rect">
            <a:avLst/>
          </a:prstGeom>
          <a:solidFill>
            <a:srgbClr val="262626"/>
          </a:solidFill>
          <a:ln>
            <a:solidFill>
              <a:srgbClr val="c8a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20"/>
          <p:cNvSpPr/>
          <p:nvPr/>
        </p:nvSpPr>
        <p:spPr>
          <a:xfrm>
            <a:off x="548640" y="3090600"/>
            <a:ext cx="2772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c8a000"/>
                </a:solidFill>
                <a:effectLst/>
                <a:uFillTx/>
                <a:latin typeface="Calibri"/>
              </a:rPr>
              <a:t>5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21"/>
          <p:cNvSpPr/>
          <p:nvPr/>
        </p:nvSpPr>
        <p:spPr>
          <a:xfrm>
            <a:off x="603360" y="3456360"/>
            <a:ext cx="2662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Pipeline de Carga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Rectangle 22"/>
          <p:cNvSpPr/>
          <p:nvPr/>
        </p:nvSpPr>
        <p:spPr>
          <a:xfrm>
            <a:off x="3413160" y="3017520"/>
            <a:ext cx="2772720" cy="1005480"/>
          </a:xfrm>
          <a:prstGeom prst="rect">
            <a:avLst/>
          </a:prstGeom>
          <a:solidFill>
            <a:srgbClr val="262626"/>
          </a:solidFill>
          <a:ln>
            <a:solidFill>
              <a:srgbClr val="c8a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Box 23"/>
          <p:cNvSpPr/>
          <p:nvPr/>
        </p:nvSpPr>
        <p:spPr>
          <a:xfrm>
            <a:off x="3413160" y="3090600"/>
            <a:ext cx="2772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c8a000"/>
                </a:solidFill>
                <a:effectLst/>
                <a:uFillTx/>
                <a:latin typeface="Calibri"/>
              </a:rPr>
              <a:t>6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24"/>
          <p:cNvSpPr/>
          <p:nvPr/>
        </p:nvSpPr>
        <p:spPr>
          <a:xfrm>
            <a:off x="3467880" y="3456360"/>
            <a:ext cx="2662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Análise — 5 Perguntas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Rectangle 25"/>
          <p:cNvSpPr/>
          <p:nvPr/>
        </p:nvSpPr>
        <p:spPr>
          <a:xfrm>
            <a:off x="6277320" y="3017520"/>
            <a:ext cx="2772720" cy="1005480"/>
          </a:xfrm>
          <a:prstGeom prst="rect">
            <a:avLst/>
          </a:prstGeom>
          <a:solidFill>
            <a:srgbClr val="262626"/>
          </a:solidFill>
          <a:ln>
            <a:solidFill>
              <a:srgbClr val="c8a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TextBox 26"/>
          <p:cNvSpPr/>
          <p:nvPr/>
        </p:nvSpPr>
        <p:spPr>
          <a:xfrm>
            <a:off x="6277320" y="3090600"/>
            <a:ext cx="2772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c8a000"/>
                </a:solidFill>
                <a:effectLst/>
                <a:uFillTx/>
                <a:latin typeface="Calibri"/>
              </a:rPr>
              <a:t>7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27"/>
          <p:cNvSpPr/>
          <p:nvPr/>
        </p:nvSpPr>
        <p:spPr>
          <a:xfrm>
            <a:off x="6332400" y="3456360"/>
            <a:ext cx="2662920" cy="2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Resultados P1–P6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ectangle 28"/>
          <p:cNvSpPr/>
          <p:nvPr/>
        </p:nvSpPr>
        <p:spPr>
          <a:xfrm>
            <a:off x="9141840" y="3017520"/>
            <a:ext cx="2772720" cy="1005480"/>
          </a:xfrm>
          <a:prstGeom prst="rect">
            <a:avLst/>
          </a:prstGeom>
          <a:solidFill>
            <a:srgbClr val="262626"/>
          </a:solidFill>
          <a:ln>
            <a:solidFill>
              <a:srgbClr val="c8a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Box 29"/>
          <p:cNvSpPr/>
          <p:nvPr/>
        </p:nvSpPr>
        <p:spPr>
          <a:xfrm>
            <a:off x="9141840" y="3090600"/>
            <a:ext cx="2772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c8a000"/>
                </a:solidFill>
                <a:effectLst/>
                <a:uFillTx/>
                <a:latin typeface="Calibri"/>
              </a:rPr>
              <a:t>8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30"/>
          <p:cNvSpPr/>
          <p:nvPr/>
        </p:nvSpPr>
        <p:spPr>
          <a:xfrm>
            <a:off x="9196560" y="3456360"/>
            <a:ext cx="2662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Conclusão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1a1a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Rectangle 2"/>
          <p:cNvSpPr/>
          <p:nvPr/>
        </p:nvSpPr>
        <p:spPr>
          <a:xfrm>
            <a:off x="0" y="0"/>
            <a:ext cx="347040" cy="685764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Rectangle 3"/>
          <p:cNvSpPr/>
          <p:nvPr/>
        </p:nvSpPr>
        <p:spPr>
          <a:xfrm>
            <a:off x="0" y="6739200"/>
            <a:ext cx="12188520" cy="11844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Rectangle 4"/>
          <p:cNvSpPr/>
          <p:nvPr/>
        </p:nvSpPr>
        <p:spPr>
          <a:xfrm>
            <a:off x="548640" y="1115640"/>
            <a:ext cx="11365560" cy="1872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TextBox 5"/>
          <p:cNvSpPr/>
          <p:nvPr/>
        </p:nvSpPr>
        <p:spPr>
          <a:xfrm>
            <a:off x="548640" y="228600"/>
            <a:ext cx="11365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c8a000"/>
                </a:solidFill>
                <a:effectLst/>
                <a:uFillTx/>
                <a:latin typeface="Calibri"/>
              </a:rPr>
              <a:t>1  Dataset — Oscar AMPAS Winner Demographics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6"/>
          <p:cNvSpPr/>
          <p:nvPr/>
        </p:nvSpPr>
        <p:spPr>
          <a:xfrm>
            <a:off x="548640" y="1207080"/>
            <a:ext cx="11365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i="1" u="none" strike="noStrike">
                <a:solidFill>
                  <a:srgbClr val="bbbbbb"/>
                </a:solidFill>
                <a:effectLst/>
                <a:uFillTx/>
                <a:latin typeface="Calibri"/>
              </a:rPr>
              <a:t>Dados demográficos dos vencedores do Oscar entre 1927 e 2014 — 87 anos de cinema organizados em 5 tabelas relacionais.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Rectangle 7"/>
          <p:cNvSpPr/>
          <p:nvPr/>
        </p:nvSpPr>
        <p:spPr>
          <a:xfrm>
            <a:off x="548640" y="1810440"/>
            <a:ext cx="2758680" cy="840960"/>
          </a:xfrm>
          <a:prstGeom prst="rect">
            <a:avLst/>
          </a:prstGeom>
          <a:solidFill>
            <a:srgbClr val="352a00"/>
          </a:solidFill>
          <a:ln>
            <a:solidFill>
              <a:srgbClr val="c8a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TextBox 8"/>
          <p:cNvSpPr/>
          <p:nvPr/>
        </p:nvSpPr>
        <p:spPr>
          <a:xfrm>
            <a:off x="548640" y="1874520"/>
            <a:ext cx="2758680" cy="46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c8a000"/>
                </a:solidFill>
                <a:effectLst/>
                <a:uFillTx/>
                <a:latin typeface="Calibri"/>
              </a:rPr>
              <a:t>415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9"/>
          <p:cNvSpPr/>
          <p:nvPr/>
        </p:nvSpPr>
        <p:spPr>
          <a:xfrm>
            <a:off x="548640" y="2247840"/>
            <a:ext cx="2758680" cy="40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bbbbbb"/>
                </a:solidFill>
                <a:effectLst/>
                <a:uFillTx/>
                <a:latin typeface="Calibri"/>
              </a:rPr>
              <a:t>prêmios registrados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Rectangle 10"/>
          <p:cNvSpPr/>
          <p:nvPr/>
        </p:nvSpPr>
        <p:spPr>
          <a:xfrm>
            <a:off x="3417480" y="1810440"/>
            <a:ext cx="2758680" cy="840960"/>
          </a:xfrm>
          <a:prstGeom prst="rect">
            <a:avLst/>
          </a:prstGeom>
          <a:solidFill>
            <a:srgbClr val="352a00"/>
          </a:solidFill>
          <a:ln>
            <a:solidFill>
              <a:srgbClr val="c8a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TextBox 11"/>
          <p:cNvSpPr/>
          <p:nvPr/>
        </p:nvSpPr>
        <p:spPr>
          <a:xfrm>
            <a:off x="3417480" y="1874520"/>
            <a:ext cx="2758680" cy="46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c8a000"/>
                </a:solidFill>
                <a:effectLst/>
                <a:uFillTx/>
                <a:latin typeface="Calibri"/>
              </a:rPr>
              <a:t>87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12"/>
          <p:cNvSpPr/>
          <p:nvPr/>
        </p:nvSpPr>
        <p:spPr>
          <a:xfrm>
            <a:off x="3417480" y="2247840"/>
            <a:ext cx="2758680" cy="40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bbbbbb"/>
                </a:solidFill>
                <a:effectLst/>
                <a:uFillTx/>
                <a:latin typeface="Calibri"/>
              </a:rPr>
              <a:t>edições  (1927–2014)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ectangle 13"/>
          <p:cNvSpPr/>
          <p:nvPr/>
        </p:nvSpPr>
        <p:spPr>
          <a:xfrm>
            <a:off x="6286680" y="1810440"/>
            <a:ext cx="2758680" cy="840960"/>
          </a:xfrm>
          <a:prstGeom prst="rect">
            <a:avLst/>
          </a:prstGeom>
          <a:solidFill>
            <a:srgbClr val="352a00"/>
          </a:solidFill>
          <a:ln>
            <a:solidFill>
              <a:srgbClr val="c8a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TextBox 14"/>
          <p:cNvSpPr/>
          <p:nvPr/>
        </p:nvSpPr>
        <p:spPr>
          <a:xfrm>
            <a:off x="6286680" y="1874520"/>
            <a:ext cx="2758680" cy="46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c8a000"/>
                </a:solidFill>
                <a:effectLst/>
                <a:uFillTx/>
                <a:latin typeface="Calibri"/>
              </a:rPr>
              <a:t>348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15"/>
          <p:cNvSpPr/>
          <p:nvPr/>
        </p:nvSpPr>
        <p:spPr>
          <a:xfrm>
            <a:off x="6286680" y="2247840"/>
            <a:ext cx="2758680" cy="40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bbbbbb"/>
                </a:solidFill>
                <a:effectLst/>
                <a:uFillTx/>
                <a:latin typeface="Calibri"/>
              </a:rPr>
              <a:t>vencedores únicos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Rectangle 16"/>
          <p:cNvSpPr/>
          <p:nvPr/>
        </p:nvSpPr>
        <p:spPr>
          <a:xfrm>
            <a:off x="9155520" y="1810440"/>
            <a:ext cx="2758680" cy="840960"/>
          </a:xfrm>
          <a:prstGeom prst="rect">
            <a:avLst/>
          </a:prstGeom>
          <a:solidFill>
            <a:srgbClr val="352a00"/>
          </a:solidFill>
          <a:ln>
            <a:solidFill>
              <a:srgbClr val="c8a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Box 17"/>
          <p:cNvSpPr/>
          <p:nvPr/>
        </p:nvSpPr>
        <p:spPr>
          <a:xfrm>
            <a:off x="9155520" y="1874520"/>
            <a:ext cx="2758680" cy="46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c8a000"/>
                </a:solidFill>
                <a:effectLst/>
                <a:uFillTx/>
                <a:latin typeface="Calibri"/>
              </a:rPr>
              <a:t>5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18"/>
          <p:cNvSpPr/>
          <p:nvPr/>
        </p:nvSpPr>
        <p:spPr>
          <a:xfrm>
            <a:off x="9155520" y="2247840"/>
            <a:ext cx="2758680" cy="40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bbbbbb"/>
                </a:solidFill>
                <a:effectLst/>
                <a:uFillTx/>
                <a:latin typeface="Calibri"/>
              </a:rPr>
              <a:t>categorias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Rectangle 19"/>
          <p:cNvSpPr/>
          <p:nvPr/>
        </p:nvSpPr>
        <p:spPr>
          <a:xfrm>
            <a:off x="548640" y="2788920"/>
            <a:ext cx="2954880" cy="330480"/>
          </a:xfrm>
          <a:prstGeom prst="rect">
            <a:avLst/>
          </a:prstGeom>
          <a:solidFill>
            <a:srgbClr val="c8a000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Box 20"/>
          <p:cNvSpPr/>
          <p:nvPr/>
        </p:nvSpPr>
        <p:spPr>
          <a:xfrm>
            <a:off x="621720" y="2825640"/>
            <a:ext cx="28083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Coluna do CSV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Rectangle 21"/>
          <p:cNvSpPr/>
          <p:nvPr/>
        </p:nvSpPr>
        <p:spPr>
          <a:xfrm>
            <a:off x="3503880" y="2788920"/>
            <a:ext cx="8410320" cy="330480"/>
          </a:xfrm>
          <a:prstGeom prst="rect">
            <a:avLst/>
          </a:prstGeom>
          <a:solidFill>
            <a:srgbClr val="c8a000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TextBox 22"/>
          <p:cNvSpPr/>
          <p:nvPr/>
        </p:nvSpPr>
        <p:spPr>
          <a:xfrm>
            <a:off x="3576960" y="2825640"/>
            <a:ext cx="82641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Conteúdo / observação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Rectangle 23"/>
          <p:cNvSpPr/>
          <p:nvPr/>
        </p:nvSpPr>
        <p:spPr>
          <a:xfrm>
            <a:off x="548640" y="3119760"/>
            <a:ext cx="2954880" cy="330480"/>
          </a:xfrm>
          <a:prstGeom prst="rect">
            <a:avLst/>
          </a:prstGeom>
          <a:solidFill>
            <a:srgbClr val="262626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TextBox 24"/>
          <p:cNvSpPr/>
          <p:nvPr/>
        </p:nvSpPr>
        <p:spPr>
          <a:xfrm>
            <a:off x="621720" y="3156480"/>
            <a:ext cx="28083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name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Rectangle 25"/>
          <p:cNvSpPr/>
          <p:nvPr/>
        </p:nvSpPr>
        <p:spPr>
          <a:xfrm>
            <a:off x="3503880" y="3119760"/>
            <a:ext cx="8410320" cy="330480"/>
          </a:xfrm>
          <a:prstGeom prst="rect">
            <a:avLst/>
          </a:prstGeom>
          <a:solidFill>
            <a:srgbClr val="262626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TextBox 26"/>
          <p:cNvSpPr/>
          <p:nvPr/>
        </p:nvSpPr>
        <p:spPr>
          <a:xfrm>
            <a:off x="3576960" y="3156480"/>
            <a:ext cx="82641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Nome do vencedor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Rectangle 27"/>
          <p:cNvSpPr/>
          <p:nvPr/>
        </p:nvSpPr>
        <p:spPr>
          <a:xfrm>
            <a:off x="548640" y="3450960"/>
            <a:ext cx="2954880" cy="330480"/>
          </a:xfrm>
          <a:prstGeom prst="rect">
            <a:avLst/>
          </a:prstGeom>
          <a:solidFill>
            <a:srgbClr val="303030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TextBox 28"/>
          <p:cNvSpPr/>
          <p:nvPr/>
        </p:nvSpPr>
        <p:spPr>
          <a:xfrm>
            <a:off x="621720" y="3487680"/>
            <a:ext cx="28083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birth_year / birth_date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Rectangle 29"/>
          <p:cNvSpPr/>
          <p:nvPr/>
        </p:nvSpPr>
        <p:spPr>
          <a:xfrm>
            <a:off x="3503880" y="3450960"/>
            <a:ext cx="8410320" cy="330480"/>
          </a:xfrm>
          <a:prstGeom prst="rect">
            <a:avLst/>
          </a:prstGeom>
          <a:solidFill>
            <a:srgbClr val="303030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TextBox 30"/>
          <p:cNvSpPr/>
          <p:nvPr/>
        </p:nvSpPr>
        <p:spPr>
          <a:xfrm>
            <a:off x="3576960" y="3487680"/>
            <a:ext cx="82641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Ano e data de nascimento — 1 caso só tem o ano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Rectangle 31"/>
          <p:cNvSpPr/>
          <p:nvPr/>
        </p:nvSpPr>
        <p:spPr>
          <a:xfrm>
            <a:off x="548640" y="3781800"/>
            <a:ext cx="2954880" cy="330480"/>
          </a:xfrm>
          <a:prstGeom prst="rect">
            <a:avLst/>
          </a:prstGeom>
          <a:solidFill>
            <a:srgbClr val="262626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TextBox 32"/>
          <p:cNvSpPr/>
          <p:nvPr/>
        </p:nvSpPr>
        <p:spPr>
          <a:xfrm>
            <a:off x="621720" y="3818520"/>
            <a:ext cx="28083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birthplace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Rectangle 33"/>
          <p:cNvSpPr/>
          <p:nvPr/>
        </p:nvSpPr>
        <p:spPr>
          <a:xfrm>
            <a:off x="3503880" y="3781800"/>
            <a:ext cx="8410320" cy="330480"/>
          </a:xfrm>
          <a:prstGeom prst="rect">
            <a:avLst/>
          </a:prstGeom>
          <a:solidFill>
            <a:srgbClr val="262626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TextBox 34"/>
          <p:cNvSpPr/>
          <p:nvPr/>
        </p:nvSpPr>
        <p:spPr>
          <a:xfrm>
            <a:off x="3576960" y="3818520"/>
            <a:ext cx="82641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Texto livre — cidade, estado, país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Rectangle 35"/>
          <p:cNvSpPr/>
          <p:nvPr/>
        </p:nvSpPr>
        <p:spPr>
          <a:xfrm>
            <a:off x="548640" y="4113000"/>
            <a:ext cx="2954880" cy="330480"/>
          </a:xfrm>
          <a:prstGeom prst="rect">
            <a:avLst/>
          </a:prstGeom>
          <a:solidFill>
            <a:srgbClr val="303030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TextBox 36"/>
          <p:cNvSpPr/>
          <p:nvPr/>
        </p:nvSpPr>
        <p:spPr>
          <a:xfrm>
            <a:off x="621720" y="4149720"/>
            <a:ext cx="28083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race_ethnicity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Rectangle 37"/>
          <p:cNvSpPr/>
          <p:nvPr/>
        </p:nvSpPr>
        <p:spPr>
          <a:xfrm>
            <a:off x="3503880" y="4113000"/>
            <a:ext cx="8410320" cy="330480"/>
          </a:xfrm>
          <a:prstGeom prst="rect">
            <a:avLst/>
          </a:prstGeom>
          <a:solidFill>
            <a:srgbClr val="303030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TextBox 38"/>
          <p:cNvSpPr/>
          <p:nvPr/>
        </p:nvSpPr>
        <p:spPr>
          <a:xfrm>
            <a:off x="3576960" y="4149720"/>
            <a:ext cx="82641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Etnia — 6 valores: White, Black, Hispanic, Asian, Multiracial, Middle Eastern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Rectangle 39"/>
          <p:cNvSpPr/>
          <p:nvPr/>
        </p:nvSpPr>
        <p:spPr>
          <a:xfrm>
            <a:off x="548640" y="4443840"/>
            <a:ext cx="2954880" cy="330480"/>
          </a:xfrm>
          <a:prstGeom prst="rect">
            <a:avLst/>
          </a:prstGeom>
          <a:solidFill>
            <a:srgbClr val="262626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" name="TextBox 40"/>
          <p:cNvSpPr/>
          <p:nvPr/>
        </p:nvSpPr>
        <p:spPr>
          <a:xfrm>
            <a:off x="621720" y="4480560"/>
            <a:ext cx="28083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religion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Rectangle 41"/>
          <p:cNvSpPr/>
          <p:nvPr/>
        </p:nvSpPr>
        <p:spPr>
          <a:xfrm>
            <a:off x="3503880" y="4443840"/>
            <a:ext cx="8410320" cy="330480"/>
          </a:xfrm>
          <a:prstGeom prst="rect">
            <a:avLst/>
          </a:prstGeom>
          <a:solidFill>
            <a:srgbClr val="262626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TextBox 42"/>
          <p:cNvSpPr/>
          <p:nvPr/>
        </p:nvSpPr>
        <p:spPr>
          <a:xfrm>
            <a:off x="3576960" y="4480560"/>
            <a:ext cx="82641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Religião — 62% ausente (NULL estrutural, dado não coletado historicamente)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Rectangle 43"/>
          <p:cNvSpPr/>
          <p:nvPr/>
        </p:nvSpPr>
        <p:spPr>
          <a:xfrm>
            <a:off x="548640" y="4775040"/>
            <a:ext cx="2954880" cy="330480"/>
          </a:xfrm>
          <a:prstGeom prst="rect">
            <a:avLst/>
          </a:prstGeom>
          <a:solidFill>
            <a:srgbClr val="303030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TextBox 44"/>
          <p:cNvSpPr/>
          <p:nvPr/>
        </p:nvSpPr>
        <p:spPr>
          <a:xfrm>
            <a:off x="621720" y="4811400"/>
            <a:ext cx="28083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sexual_orientation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Rectangle 45"/>
          <p:cNvSpPr/>
          <p:nvPr/>
        </p:nvSpPr>
        <p:spPr>
          <a:xfrm>
            <a:off x="3503880" y="4775040"/>
            <a:ext cx="8410320" cy="330480"/>
          </a:xfrm>
          <a:prstGeom prst="rect">
            <a:avLst/>
          </a:prstGeom>
          <a:solidFill>
            <a:srgbClr val="303030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" name="TextBox 46"/>
          <p:cNvSpPr/>
          <p:nvPr/>
        </p:nvSpPr>
        <p:spPr>
          <a:xfrm>
            <a:off x="3576960" y="4811400"/>
            <a:ext cx="82641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String "Na" convertida para NULL real durante a carga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Rectangle 47"/>
          <p:cNvSpPr/>
          <p:nvPr/>
        </p:nvSpPr>
        <p:spPr>
          <a:xfrm>
            <a:off x="548640" y="5105880"/>
            <a:ext cx="2954880" cy="330480"/>
          </a:xfrm>
          <a:prstGeom prst="rect">
            <a:avLst/>
          </a:prstGeom>
          <a:solidFill>
            <a:srgbClr val="262626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TextBox 48"/>
          <p:cNvSpPr/>
          <p:nvPr/>
        </p:nvSpPr>
        <p:spPr>
          <a:xfrm>
            <a:off x="621720" y="5142600"/>
            <a:ext cx="28083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year_edition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Rectangle 49"/>
          <p:cNvSpPr/>
          <p:nvPr/>
        </p:nvSpPr>
        <p:spPr>
          <a:xfrm>
            <a:off x="3503880" y="5105880"/>
            <a:ext cx="8410320" cy="330480"/>
          </a:xfrm>
          <a:prstGeom prst="rect">
            <a:avLst/>
          </a:prstGeom>
          <a:solidFill>
            <a:srgbClr val="262626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" name="TextBox 50"/>
          <p:cNvSpPr/>
          <p:nvPr/>
        </p:nvSpPr>
        <p:spPr>
          <a:xfrm>
            <a:off x="3576960" y="5142600"/>
            <a:ext cx="82641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Ano da cerimônia Oscar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Rectangle 51"/>
          <p:cNvSpPr/>
          <p:nvPr/>
        </p:nvSpPr>
        <p:spPr>
          <a:xfrm>
            <a:off x="548640" y="5437080"/>
            <a:ext cx="2954880" cy="330480"/>
          </a:xfrm>
          <a:prstGeom prst="rect">
            <a:avLst/>
          </a:prstGeom>
          <a:solidFill>
            <a:srgbClr val="303030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TextBox 52"/>
          <p:cNvSpPr/>
          <p:nvPr/>
        </p:nvSpPr>
        <p:spPr>
          <a:xfrm>
            <a:off x="621720" y="5473440"/>
            <a:ext cx="28083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category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Rectangle 53"/>
          <p:cNvSpPr/>
          <p:nvPr/>
        </p:nvSpPr>
        <p:spPr>
          <a:xfrm>
            <a:off x="3503880" y="5437080"/>
            <a:ext cx="8410320" cy="330480"/>
          </a:xfrm>
          <a:prstGeom prst="rect">
            <a:avLst/>
          </a:prstGeom>
          <a:solidFill>
            <a:srgbClr val="303030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" name="TextBox 54"/>
          <p:cNvSpPr/>
          <p:nvPr/>
        </p:nvSpPr>
        <p:spPr>
          <a:xfrm>
            <a:off x="3576960" y="5473440"/>
            <a:ext cx="82641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Categoria premiada — 5 valores fixos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Rectangle 55"/>
          <p:cNvSpPr/>
          <p:nvPr/>
        </p:nvSpPr>
        <p:spPr>
          <a:xfrm>
            <a:off x="548640" y="5767920"/>
            <a:ext cx="2954880" cy="330480"/>
          </a:xfrm>
          <a:prstGeom prst="rect">
            <a:avLst/>
          </a:prstGeom>
          <a:solidFill>
            <a:srgbClr val="262626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TextBox 56"/>
          <p:cNvSpPr/>
          <p:nvPr/>
        </p:nvSpPr>
        <p:spPr>
          <a:xfrm>
            <a:off x="621720" y="5804640"/>
            <a:ext cx="28083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movie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Rectangle 57"/>
          <p:cNvSpPr/>
          <p:nvPr/>
        </p:nvSpPr>
        <p:spPr>
          <a:xfrm>
            <a:off x="3503880" y="5767920"/>
            <a:ext cx="8410320" cy="330480"/>
          </a:xfrm>
          <a:prstGeom prst="rect">
            <a:avLst/>
          </a:prstGeom>
          <a:solidFill>
            <a:srgbClr val="262626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TextBox 58"/>
          <p:cNvSpPr/>
          <p:nvPr/>
        </p:nvSpPr>
        <p:spPr>
          <a:xfrm>
            <a:off x="3576960" y="5804640"/>
            <a:ext cx="82641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Título do filme premiado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1a1a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" name="Rectangle 2"/>
          <p:cNvSpPr/>
          <p:nvPr/>
        </p:nvSpPr>
        <p:spPr>
          <a:xfrm>
            <a:off x="0" y="0"/>
            <a:ext cx="347040" cy="685764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Rectangle 3"/>
          <p:cNvSpPr/>
          <p:nvPr/>
        </p:nvSpPr>
        <p:spPr>
          <a:xfrm>
            <a:off x="0" y="6739200"/>
            <a:ext cx="12188520" cy="11844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" name="Rectangle 4"/>
          <p:cNvSpPr/>
          <p:nvPr/>
        </p:nvSpPr>
        <p:spPr>
          <a:xfrm>
            <a:off x="548640" y="1115640"/>
            <a:ext cx="11365560" cy="1872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" name="TextBox 5"/>
          <p:cNvSpPr/>
          <p:nvPr/>
        </p:nvSpPr>
        <p:spPr>
          <a:xfrm>
            <a:off x="548640" y="228600"/>
            <a:ext cx="11365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c8a000"/>
                </a:solidFill>
                <a:effectLst/>
                <a:uFillTx/>
                <a:latin typeface="Calibri"/>
              </a:rPr>
              <a:t>2  Modelo Entidade-Relacionamento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Rectangle 6"/>
          <p:cNvSpPr/>
          <p:nvPr/>
        </p:nvSpPr>
        <p:spPr>
          <a:xfrm>
            <a:off x="502920" y="1170360"/>
            <a:ext cx="4845960" cy="5092920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" name="TextBox 7"/>
          <p:cNvSpPr/>
          <p:nvPr/>
        </p:nvSpPr>
        <p:spPr>
          <a:xfrm>
            <a:off x="548640" y="1225440"/>
            <a:ext cx="4754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bbbbbb"/>
                </a:solidFill>
                <a:effectLst/>
                <a:uFillTx/>
                <a:latin typeface="Calibri"/>
              </a:rPr>
              <a:t>Cada linha do CSV é um prêmio entregue. PREMIO é a entidade associativa central que conecta as quatro dimensões independentes.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8"/>
          <p:cNvSpPr/>
          <p:nvPr/>
        </p:nvSpPr>
        <p:spPr>
          <a:xfrm>
            <a:off x="548640" y="1801440"/>
            <a:ext cx="4754520" cy="420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5 entidades identificadas: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VENCEDOR  — quem ganhou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FILME     — pelo que ganhou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CATEGORIA — em qual premiação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EDICAO    — em qual cerimônia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PREMIO    — o evento em si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PREMIO conecta as 4 dimensões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com 4 chaves estrangeiras (FKs).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Todos os relacionamentos são N:1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 PREMIO para as dimensões.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Rectangle 9"/>
          <p:cNvSpPr/>
          <p:nvPr/>
        </p:nvSpPr>
        <p:spPr>
          <a:xfrm>
            <a:off x="5440680" y="1170360"/>
            <a:ext cx="18720" cy="509292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Rectangle 11"/>
          <p:cNvSpPr/>
          <p:nvPr/>
        </p:nvSpPr>
        <p:spPr>
          <a:xfrm>
            <a:off x="548640" y="5989320"/>
            <a:ext cx="11365560" cy="56664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TextBox 12"/>
          <p:cNvSpPr/>
          <p:nvPr/>
        </p:nvSpPr>
        <p:spPr>
          <a:xfrm>
            <a:off x="640080" y="6007680"/>
            <a:ext cx="1118268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Diagrama da modelagem Entidade-Relacionamento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5" name=""/>
          <p:cNvPicPr/>
          <p:nvPr/>
        </p:nvPicPr>
        <p:blipFill>
          <a:blip r:embed="rId1"/>
          <a:stretch/>
        </p:blipFill>
        <p:spPr>
          <a:xfrm>
            <a:off x="5580000" y="1839600"/>
            <a:ext cx="6447960" cy="3323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1a1a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Rectangle 2"/>
          <p:cNvSpPr/>
          <p:nvPr/>
        </p:nvSpPr>
        <p:spPr>
          <a:xfrm>
            <a:off x="0" y="0"/>
            <a:ext cx="347040" cy="685764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" name="Rectangle 3"/>
          <p:cNvSpPr/>
          <p:nvPr/>
        </p:nvSpPr>
        <p:spPr>
          <a:xfrm>
            <a:off x="0" y="6739200"/>
            <a:ext cx="12188520" cy="11844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Rectangle 4"/>
          <p:cNvSpPr/>
          <p:nvPr/>
        </p:nvSpPr>
        <p:spPr>
          <a:xfrm>
            <a:off x="548640" y="1115640"/>
            <a:ext cx="11365560" cy="1872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0" name="TextBox 5"/>
          <p:cNvSpPr/>
          <p:nvPr/>
        </p:nvSpPr>
        <p:spPr>
          <a:xfrm>
            <a:off x="548640" y="228600"/>
            <a:ext cx="11365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c8a000"/>
                </a:solidFill>
                <a:effectLst/>
                <a:uFillTx/>
                <a:latin typeface="Calibri"/>
              </a:rPr>
              <a:t>3  Modelo Relacional e Normalização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6"/>
          <p:cNvSpPr/>
          <p:nvPr/>
        </p:nvSpPr>
        <p:spPr>
          <a:xfrm>
            <a:off x="548640" y="1207080"/>
            <a:ext cx="11365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i="1" u="none" strike="noStrike">
                <a:solidFill>
                  <a:srgbClr val="bbbbbb"/>
                </a:solidFill>
                <a:effectLst/>
                <a:uFillTx/>
                <a:latin typeface="Calibri"/>
              </a:rPr>
              <a:t>O diagrama ER foi mapeado para 5 tabelas relacionais — todas verificadas em Terceira Forma Normal.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Rectangle 7"/>
          <p:cNvSpPr/>
          <p:nvPr/>
        </p:nvSpPr>
        <p:spPr>
          <a:xfrm>
            <a:off x="548640" y="1810440"/>
            <a:ext cx="1181160" cy="441720"/>
          </a:xfrm>
          <a:prstGeom prst="rect">
            <a:avLst/>
          </a:prstGeom>
          <a:solidFill>
            <a:srgbClr val="c8a000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3" name="TextBox 8"/>
          <p:cNvSpPr/>
          <p:nvPr/>
        </p:nvSpPr>
        <p:spPr>
          <a:xfrm>
            <a:off x="621720" y="1847160"/>
            <a:ext cx="10346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Tabela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Rectangle 9"/>
          <p:cNvSpPr/>
          <p:nvPr/>
        </p:nvSpPr>
        <p:spPr>
          <a:xfrm>
            <a:off x="1730160" y="1810440"/>
            <a:ext cx="3821760" cy="441720"/>
          </a:xfrm>
          <a:prstGeom prst="rect">
            <a:avLst/>
          </a:prstGeom>
          <a:solidFill>
            <a:srgbClr val="c8a000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TextBox 10"/>
          <p:cNvSpPr/>
          <p:nvPr/>
        </p:nvSpPr>
        <p:spPr>
          <a:xfrm>
            <a:off x="1803240" y="1847160"/>
            <a:ext cx="36756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Campos principais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Rectangle 11"/>
          <p:cNvSpPr/>
          <p:nvPr/>
        </p:nvSpPr>
        <p:spPr>
          <a:xfrm>
            <a:off x="5552280" y="1810440"/>
            <a:ext cx="1945440" cy="441720"/>
          </a:xfrm>
          <a:prstGeom prst="rect">
            <a:avLst/>
          </a:prstGeom>
          <a:solidFill>
            <a:srgbClr val="c8a000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TextBox 12"/>
          <p:cNvSpPr/>
          <p:nvPr/>
        </p:nvSpPr>
        <p:spPr>
          <a:xfrm>
            <a:off x="5625360" y="1847160"/>
            <a:ext cx="17992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Restrições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Rectangle 13"/>
          <p:cNvSpPr/>
          <p:nvPr/>
        </p:nvSpPr>
        <p:spPr>
          <a:xfrm>
            <a:off x="548640" y="2252520"/>
            <a:ext cx="1181160" cy="441720"/>
          </a:xfrm>
          <a:prstGeom prst="rect">
            <a:avLst/>
          </a:prstGeom>
          <a:solidFill>
            <a:srgbClr val="262626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9" name="TextBox 14"/>
          <p:cNvSpPr/>
          <p:nvPr/>
        </p:nvSpPr>
        <p:spPr>
          <a:xfrm>
            <a:off x="621720" y="2288880"/>
            <a:ext cx="10346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vencedor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Rectangle 15"/>
          <p:cNvSpPr/>
          <p:nvPr/>
        </p:nvSpPr>
        <p:spPr>
          <a:xfrm>
            <a:off x="1730160" y="2252520"/>
            <a:ext cx="3821760" cy="441720"/>
          </a:xfrm>
          <a:prstGeom prst="rect">
            <a:avLst/>
          </a:prstGeom>
          <a:solidFill>
            <a:srgbClr val="262626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" name="TextBox 16"/>
          <p:cNvSpPr/>
          <p:nvPr/>
        </p:nvSpPr>
        <p:spPr>
          <a:xfrm>
            <a:off x="1803240" y="2288880"/>
            <a:ext cx="36756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id · nome · ano_nasc · data_nasc · etnia · religiao · orient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Rectangle 17"/>
          <p:cNvSpPr/>
          <p:nvPr/>
        </p:nvSpPr>
        <p:spPr>
          <a:xfrm>
            <a:off x="5552280" y="2252520"/>
            <a:ext cx="1945440" cy="441720"/>
          </a:xfrm>
          <a:prstGeom prst="rect">
            <a:avLst/>
          </a:prstGeom>
          <a:solidFill>
            <a:srgbClr val="262626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3" name="TextBox 18"/>
          <p:cNvSpPr/>
          <p:nvPr/>
        </p:nvSpPr>
        <p:spPr>
          <a:xfrm>
            <a:off x="5625360" y="2288880"/>
            <a:ext cx="17992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etnia NOT NULL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Rectangle 19"/>
          <p:cNvSpPr/>
          <p:nvPr/>
        </p:nvSpPr>
        <p:spPr>
          <a:xfrm>
            <a:off x="548640" y="2694600"/>
            <a:ext cx="1181160" cy="441720"/>
          </a:xfrm>
          <a:prstGeom prst="rect">
            <a:avLst/>
          </a:prstGeom>
          <a:solidFill>
            <a:srgbClr val="303030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5" name="TextBox 20"/>
          <p:cNvSpPr/>
          <p:nvPr/>
        </p:nvSpPr>
        <p:spPr>
          <a:xfrm>
            <a:off x="621720" y="2730960"/>
            <a:ext cx="10346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filme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Rectangle 21"/>
          <p:cNvSpPr/>
          <p:nvPr/>
        </p:nvSpPr>
        <p:spPr>
          <a:xfrm>
            <a:off x="1730160" y="2694600"/>
            <a:ext cx="3821760" cy="441720"/>
          </a:xfrm>
          <a:prstGeom prst="rect">
            <a:avLst/>
          </a:prstGeom>
          <a:solidFill>
            <a:srgbClr val="303030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TextBox 22"/>
          <p:cNvSpPr/>
          <p:nvPr/>
        </p:nvSpPr>
        <p:spPr>
          <a:xfrm>
            <a:off x="1803240" y="2730960"/>
            <a:ext cx="36756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id · titulo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Rectangle 23"/>
          <p:cNvSpPr/>
          <p:nvPr/>
        </p:nvSpPr>
        <p:spPr>
          <a:xfrm>
            <a:off x="5552280" y="2694600"/>
            <a:ext cx="1945440" cy="441720"/>
          </a:xfrm>
          <a:prstGeom prst="rect">
            <a:avLst/>
          </a:prstGeom>
          <a:solidFill>
            <a:srgbClr val="303030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9" name="TextBox 24"/>
          <p:cNvSpPr/>
          <p:nvPr/>
        </p:nvSpPr>
        <p:spPr>
          <a:xfrm>
            <a:off x="5625360" y="2730960"/>
            <a:ext cx="17992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titulo UNIQUE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Rectangle 25"/>
          <p:cNvSpPr/>
          <p:nvPr/>
        </p:nvSpPr>
        <p:spPr>
          <a:xfrm>
            <a:off x="548640" y="3136320"/>
            <a:ext cx="1181160" cy="441720"/>
          </a:xfrm>
          <a:prstGeom prst="rect">
            <a:avLst/>
          </a:prstGeom>
          <a:solidFill>
            <a:srgbClr val="262626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1" name="TextBox 26"/>
          <p:cNvSpPr/>
          <p:nvPr/>
        </p:nvSpPr>
        <p:spPr>
          <a:xfrm>
            <a:off x="621720" y="3173040"/>
            <a:ext cx="10346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categoria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Rectangle 27"/>
          <p:cNvSpPr/>
          <p:nvPr/>
        </p:nvSpPr>
        <p:spPr>
          <a:xfrm>
            <a:off x="1730160" y="3136320"/>
            <a:ext cx="3821760" cy="441720"/>
          </a:xfrm>
          <a:prstGeom prst="rect">
            <a:avLst/>
          </a:prstGeom>
          <a:solidFill>
            <a:srgbClr val="262626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3" name="TextBox 28"/>
          <p:cNvSpPr/>
          <p:nvPr/>
        </p:nvSpPr>
        <p:spPr>
          <a:xfrm>
            <a:off x="1803240" y="3173040"/>
            <a:ext cx="36756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id · nome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Rectangle 29"/>
          <p:cNvSpPr/>
          <p:nvPr/>
        </p:nvSpPr>
        <p:spPr>
          <a:xfrm>
            <a:off x="5552280" y="3136320"/>
            <a:ext cx="1945440" cy="441720"/>
          </a:xfrm>
          <a:prstGeom prst="rect">
            <a:avLst/>
          </a:prstGeom>
          <a:solidFill>
            <a:srgbClr val="262626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5" name="TextBox 30"/>
          <p:cNvSpPr/>
          <p:nvPr/>
        </p:nvSpPr>
        <p:spPr>
          <a:xfrm>
            <a:off x="5625360" y="3173040"/>
            <a:ext cx="17992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nome UNIQUE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Rectangle 31"/>
          <p:cNvSpPr/>
          <p:nvPr/>
        </p:nvSpPr>
        <p:spPr>
          <a:xfrm>
            <a:off x="548640" y="3578400"/>
            <a:ext cx="1181160" cy="441720"/>
          </a:xfrm>
          <a:prstGeom prst="rect">
            <a:avLst/>
          </a:prstGeom>
          <a:solidFill>
            <a:srgbClr val="303030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7" name="TextBox 32"/>
          <p:cNvSpPr/>
          <p:nvPr/>
        </p:nvSpPr>
        <p:spPr>
          <a:xfrm>
            <a:off x="621720" y="3614760"/>
            <a:ext cx="10346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edicao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Rectangle 33"/>
          <p:cNvSpPr/>
          <p:nvPr/>
        </p:nvSpPr>
        <p:spPr>
          <a:xfrm>
            <a:off x="1730160" y="3578400"/>
            <a:ext cx="3821760" cy="441720"/>
          </a:xfrm>
          <a:prstGeom prst="rect">
            <a:avLst/>
          </a:prstGeom>
          <a:solidFill>
            <a:srgbClr val="303030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" name="TextBox 34"/>
          <p:cNvSpPr/>
          <p:nvPr/>
        </p:nvSpPr>
        <p:spPr>
          <a:xfrm>
            <a:off x="1803240" y="3614760"/>
            <a:ext cx="36756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id · ano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Rectangle 35"/>
          <p:cNvSpPr/>
          <p:nvPr/>
        </p:nvSpPr>
        <p:spPr>
          <a:xfrm>
            <a:off x="5552280" y="3578400"/>
            <a:ext cx="1945440" cy="441720"/>
          </a:xfrm>
          <a:prstGeom prst="rect">
            <a:avLst/>
          </a:prstGeom>
          <a:solidFill>
            <a:srgbClr val="303030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" name="TextBox 36"/>
          <p:cNvSpPr/>
          <p:nvPr/>
        </p:nvSpPr>
        <p:spPr>
          <a:xfrm>
            <a:off x="5625360" y="3614760"/>
            <a:ext cx="17992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ano &gt;= 1927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Rectangle 37"/>
          <p:cNvSpPr/>
          <p:nvPr/>
        </p:nvSpPr>
        <p:spPr>
          <a:xfrm>
            <a:off x="548640" y="4020480"/>
            <a:ext cx="1181160" cy="441720"/>
          </a:xfrm>
          <a:prstGeom prst="rect">
            <a:avLst/>
          </a:prstGeom>
          <a:solidFill>
            <a:srgbClr val="262626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" name="TextBox 38"/>
          <p:cNvSpPr/>
          <p:nvPr/>
        </p:nvSpPr>
        <p:spPr>
          <a:xfrm>
            <a:off x="621720" y="4056840"/>
            <a:ext cx="10346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premio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Rectangle 39"/>
          <p:cNvSpPr/>
          <p:nvPr/>
        </p:nvSpPr>
        <p:spPr>
          <a:xfrm>
            <a:off x="1730160" y="4020480"/>
            <a:ext cx="3821760" cy="441720"/>
          </a:xfrm>
          <a:prstGeom prst="rect">
            <a:avLst/>
          </a:prstGeom>
          <a:solidFill>
            <a:srgbClr val="262626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5" name="TextBox 40"/>
          <p:cNvSpPr/>
          <p:nvPr/>
        </p:nvSpPr>
        <p:spPr>
          <a:xfrm>
            <a:off x="1803240" y="4056840"/>
            <a:ext cx="36756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id · id_vencedor FK · id_filme FK · id_categoria FK · id_edicao FK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Rectangle 41"/>
          <p:cNvSpPr/>
          <p:nvPr/>
        </p:nvSpPr>
        <p:spPr>
          <a:xfrm>
            <a:off x="5552280" y="4020480"/>
            <a:ext cx="1945440" cy="441720"/>
          </a:xfrm>
          <a:prstGeom prst="rect">
            <a:avLst/>
          </a:prstGeom>
          <a:solidFill>
            <a:srgbClr val="262626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Box 42"/>
          <p:cNvSpPr/>
          <p:nvPr/>
        </p:nvSpPr>
        <p:spPr>
          <a:xfrm>
            <a:off x="5625360" y="4056840"/>
            <a:ext cx="17992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UNIQUE (v, c, e)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Rectangle 43"/>
          <p:cNvSpPr/>
          <p:nvPr/>
        </p:nvSpPr>
        <p:spPr>
          <a:xfrm>
            <a:off x="548640" y="4572000"/>
            <a:ext cx="6949080" cy="731160"/>
          </a:xfrm>
          <a:prstGeom prst="rect">
            <a:avLst/>
          </a:prstGeom>
          <a:solidFill>
            <a:srgbClr val="352a00"/>
          </a:solidFill>
          <a:ln>
            <a:solidFill>
              <a:srgbClr val="c8a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9" name="TextBox 44"/>
          <p:cNvSpPr/>
          <p:nvPr/>
        </p:nvSpPr>
        <p:spPr>
          <a:xfrm>
            <a:off x="658440" y="4617720"/>
            <a:ext cx="6729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bbbbbb"/>
                </a:solidFill>
                <a:effectLst/>
                <a:uFillTx/>
                <a:latin typeface="Calibri"/>
              </a:rPr>
              <a:t>Caso-limite 3FN — ano_nascimento e data_nascimento coexistem sem violação: 1 registro possui apenas o ano; eliminar a coluna destruiria informação real.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Rectangle 45"/>
          <p:cNvSpPr/>
          <p:nvPr/>
        </p:nvSpPr>
        <p:spPr>
          <a:xfrm>
            <a:off x="7662600" y="1170360"/>
            <a:ext cx="18720" cy="420588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Rectangle 46"/>
          <p:cNvSpPr/>
          <p:nvPr/>
        </p:nvSpPr>
        <p:spPr>
          <a:xfrm>
            <a:off x="7845480" y="1828800"/>
            <a:ext cx="4141800" cy="1170000"/>
          </a:xfrm>
          <a:prstGeom prst="rect">
            <a:avLst/>
          </a:prstGeom>
          <a:solidFill>
            <a:srgbClr val="262626"/>
          </a:solidFill>
          <a:ln>
            <a:solidFill>
              <a:srgbClr val="c8a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2" name="TextBox 47"/>
          <p:cNvSpPr/>
          <p:nvPr/>
        </p:nvSpPr>
        <p:spPr>
          <a:xfrm>
            <a:off x="7955280" y="1920240"/>
            <a:ext cx="3922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c8a000"/>
                </a:solidFill>
                <a:effectLst/>
                <a:uFillTx/>
                <a:latin typeface="Calibri"/>
              </a:rPr>
              <a:t>1FN ✔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Box 48"/>
          <p:cNvSpPr/>
          <p:nvPr/>
        </p:nvSpPr>
        <p:spPr>
          <a:xfrm>
            <a:off x="7955280" y="2286000"/>
            <a:ext cx="3922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bbbbbb"/>
                </a:solidFill>
                <a:effectLst/>
                <a:uFillTx/>
                <a:latin typeface="Calibri"/>
              </a:rPr>
              <a:t>Valores atômicos — sem listas ou grupos repetidos em nenhum campo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Rectangle 49"/>
          <p:cNvSpPr/>
          <p:nvPr/>
        </p:nvSpPr>
        <p:spPr>
          <a:xfrm>
            <a:off x="7845480" y="3127320"/>
            <a:ext cx="4141800" cy="1170000"/>
          </a:xfrm>
          <a:prstGeom prst="rect">
            <a:avLst/>
          </a:prstGeom>
          <a:solidFill>
            <a:srgbClr val="262626"/>
          </a:solidFill>
          <a:ln>
            <a:solidFill>
              <a:srgbClr val="c8a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5" name="TextBox 50"/>
          <p:cNvSpPr/>
          <p:nvPr/>
        </p:nvSpPr>
        <p:spPr>
          <a:xfrm>
            <a:off x="7955280" y="3218760"/>
            <a:ext cx="3922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c8a000"/>
                </a:solidFill>
                <a:effectLst/>
                <a:uFillTx/>
                <a:latin typeface="Calibri"/>
              </a:rPr>
              <a:t>2FN ✔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Box 51"/>
          <p:cNvSpPr/>
          <p:nvPr/>
        </p:nvSpPr>
        <p:spPr>
          <a:xfrm>
            <a:off x="7955280" y="3584520"/>
            <a:ext cx="3922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bbbbbb"/>
                </a:solidFill>
                <a:effectLst/>
                <a:uFillTx/>
                <a:latin typeface="Calibri"/>
              </a:rPr>
              <a:t>PKs simples — dependências parciais são estruturalmente impossíveis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Rectangle 52"/>
          <p:cNvSpPr/>
          <p:nvPr/>
        </p:nvSpPr>
        <p:spPr>
          <a:xfrm>
            <a:off x="7845480" y="4425840"/>
            <a:ext cx="4141800" cy="1170000"/>
          </a:xfrm>
          <a:prstGeom prst="rect">
            <a:avLst/>
          </a:prstGeom>
          <a:solidFill>
            <a:srgbClr val="262626"/>
          </a:solidFill>
          <a:ln>
            <a:solidFill>
              <a:srgbClr val="c8a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8" name="TextBox 53"/>
          <p:cNvSpPr/>
          <p:nvPr/>
        </p:nvSpPr>
        <p:spPr>
          <a:xfrm>
            <a:off x="7955280" y="4517280"/>
            <a:ext cx="3922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c8a000"/>
                </a:solidFill>
                <a:effectLst/>
                <a:uFillTx/>
                <a:latin typeface="Calibri"/>
              </a:rPr>
              <a:t>3FN ✔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Box 54"/>
          <p:cNvSpPr/>
          <p:nvPr/>
        </p:nvSpPr>
        <p:spPr>
          <a:xfrm>
            <a:off x="7955280" y="4883040"/>
            <a:ext cx="3922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bbbbbb"/>
                </a:solidFill>
                <a:effectLst/>
                <a:uFillTx/>
                <a:latin typeface="Calibri"/>
              </a:rPr>
              <a:t>Sem dependências transitivas — cada coluna depende somente da PK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1a1a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1" name="Rectangle 2"/>
          <p:cNvSpPr/>
          <p:nvPr/>
        </p:nvSpPr>
        <p:spPr>
          <a:xfrm>
            <a:off x="0" y="0"/>
            <a:ext cx="347040" cy="685764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2" name="Rectangle 3"/>
          <p:cNvSpPr/>
          <p:nvPr/>
        </p:nvSpPr>
        <p:spPr>
          <a:xfrm>
            <a:off x="0" y="6739200"/>
            <a:ext cx="12188520" cy="11844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3" name="Rectangle 4"/>
          <p:cNvSpPr/>
          <p:nvPr/>
        </p:nvSpPr>
        <p:spPr>
          <a:xfrm>
            <a:off x="548640" y="1115640"/>
            <a:ext cx="11365560" cy="1872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4" name="TextBox 5"/>
          <p:cNvSpPr/>
          <p:nvPr/>
        </p:nvSpPr>
        <p:spPr>
          <a:xfrm>
            <a:off x="548640" y="228600"/>
            <a:ext cx="11365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c8a000"/>
                </a:solidFill>
                <a:effectLst/>
                <a:uFillTx/>
                <a:latin typeface="Calibri"/>
              </a:rPr>
              <a:t>4  Implementação Física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6"/>
          <p:cNvSpPr/>
          <p:nvPr/>
        </p:nvSpPr>
        <p:spPr>
          <a:xfrm>
            <a:off x="548640" y="1207080"/>
            <a:ext cx="11365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i="1" u="none" strike="noStrike">
                <a:solidFill>
                  <a:srgbClr val="bbbbbb"/>
                </a:solidFill>
                <a:effectLst/>
                <a:uFillTx/>
                <a:latin typeface="Calibri"/>
              </a:rPr>
              <a:t>PostgreSQL 16 via Docker com constraints que garantem integridade de domínio, referencial e de negócio desde o momento da inserção.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Rectangle 7"/>
          <p:cNvSpPr/>
          <p:nvPr/>
        </p:nvSpPr>
        <p:spPr>
          <a:xfrm>
            <a:off x="548640" y="1810440"/>
            <a:ext cx="3715200" cy="776880"/>
          </a:xfrm>
          <a:prstGeom prst="rect">
            <a:avLst/>
          </a:prstGeom>
          <a:solidFill>
            <a:srgbClr val="352a00"/>
          </a:solidFill>
          <a:ln>
            <a:solidFill>
              <a:srgbClr val="c8a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7" name="TextBox 8"/>
          <p:cNvSpPr/>
          <p:nvPr/>
        </p:nvSpPr>
        <p:spPr>
          <a:xfrm>
            <a:off x="548640" y="1874520"/>
            <a:ext cx="371520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c8a000"/>
                </a:solidFill>
                <a:effectLst/>
                <a:uFillTx/>
                <a:latin typeface="Calibri"/>
              </a:rPr>
              <a:t>PostgreSQL 16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9"/>
          <p:cNvSpPr/>
          <p:nvPr/>
        </p:nvSpPr>
        <p:spPr>
          <a:xfrm>
            <a:off x="548640" y="2214720"/>
            <a:ext cx="3715200" cy="37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bbbbbb"/>
                </a:solidFill>
                <a:effectLst/>
                <a:uFillTx/>
                <a:latin typeface="Calibri"/>
              </a:rPr>
              <a:t>SGBD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Rectangle 10"/>
          <p:cNvSpPr/>
          <p:nvPr/>
        </p:nvSpPr>
        <p:spPr>
          <a:xfrm>
            <a:off x="4374000" y="1810440"/>
            <a:ext cx="3715200" cy="776880"/>
          </a:xfrm>
          <a:prstGeom prst="rect">
            <a:avLst/>
          </a:prstGeom>
          <a:solidFill>
            <a:srgbClr val="352a00"/>
          </a:solidFill>
          <a:ln>
            <a:solidFill>
              <a:srgbClr val="c8a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0" name="TextBox 11"/>
          <p:cNvSpPr/>
          <p:nvPr/>
        </p:nvSpPr>
        <p:spPr>
          <a:xfrm>
            <a:off x="4374000" y="1874520"/>
            <a:ext cx="371520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c8a000"/>
                </a:solidFill>
                <a:effectLst/>
                <a:uFillTx/>
                <a:latin typeface="Calibri"/>
              </a:rPr>
              <a:t>oscar-db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Box 12"/>
          <p:cNvSpPr/>
          <p:nvPr/>
        </p:nvSpPr>
        <p:spPr>
          <a:xfrm>
            <a:off x="4374000" y="2214720"/>
            <a:ext cx="3715200" cy="37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bbbbbb"/>
                </a:solidFill>
                <a:effectLst/>
                <a:uFillTx/>
                <a:latin typeface="Calibri"/>
              </a:rPr>
              <a:t>container Docker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Rectangle 13"/>
          <p:cNvSpPr/>
          <p:nvPr/>
        </p:nvSpPr>
        <p:spPr>
          <a:xfrm>
            <a:off x="8199000" y="1810440"/>
            <a:ext cx="3715200" cy="776880"/>
          </a:xfrm>
          <a:prstGeom prst="rect">
            <a:avLst/>
          </a:prstGeom>
          <a:solidFill>
            <a:srgbClr val="352a00"/>
          </a:solidFill>
          <a:ln>
            <a:solidFill>
              <a:srgbClr val="c8a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3" name="TextBox 14"/>
          <p:cNvSpPr/>
          <p:nvPr/>
        </p:nvSpPr>
        <p:spPr>
          <a:xfrm>
            <a:off x="8199000" y="1874520"/>
            <a:ext cx="371520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c8a000"/>
                </a:solidFill>
                <a:effectLst/>
                <a:uFillTx/>
                <a:latin typeface="Calibri"/>
              </a:rPr>
              <a:t>oscar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15"/>
          <p:cNvSpPr/>
          <p:nvPr/>
        </p:nvSpPr>
        <p:spPr>
          <a:xfrm>
            <a:off x="8199000" y="2214720"/>
            <a:ext cx="3715200" cy="37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bbbbbb"/>
                </a:solidFill>
                <a:effectLst/>
                <a:uFillTx/>
                <a:latin typeface="Calibri"/>
              </a:rPr>
              <a:t>nome do banco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Rectangle 16"/>
          <p:cNvSpPr/>
          <p:nvPr/>
        </p:nvSpPr>
        <p:spPr>
          <a:xfrm>
            <a:off x="548640" y="2724840"/>
            <a:ext cx="2727360" cy="357840"/>
          </a:xfrm>
          <a:prstGeom prst="rect">
            <a:avLst/>
          </a:prstGeom>
          <a:solidFill>
            <a:srgbClr val="c8a000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6" name="TextBox 17"/>
          <p:cNvSpPr/>
          <p:nvPr/>
        </p:nvSpPr>
        <p:spPr>
          <a:xfrm>
            <a:off x="621720" y="2761560"/>
            <a:ext cx="258120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Constraint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Rectangle 18"/>
          <p:cNvSpPr/>
          <p:nvPr/>
        </p:nvSpPr>
        <p:spPr>
          <a:xfrm>
            <a:off x="3276360" y="2724840"/>
            <a:ext cx="5227920" cy="357840"/>
          </a:xfrm>
          <a:prstGeom prst="rect">
            <a:avLst/>
          </a:prstGeom>
          <a:solidFill>
            <a:srgbClr val="c8a000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8" name="TextBox 19"/>
          <p:cNvSpPr/>
          <p:nvPr/>
        </p:nvSpPr>
        <p:spPr>
          <a:xfrm>
            <a:off x="3349800" y="2761560"/>
            <a:ext cx="508176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Regra implementada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Rectangle 20"/>
          <p:cNvSpPr/>
          <p:nvPr/>
        </p:nvSpPr>
        <p:spPr>
          <a:xfrm>
            <a:off x="8505000" y="2724840"/>
            <a:ext cx="3409560" cy="357840"/>
          </a:xfrm>
          <a:prstGeom prst="rect">
            <a:avLst/>
          </a:prstGeom>
          <a:solidFill>
            <a:srgbClr val="c8a000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0" name="TextBox 21"/>
          <p:cNvSpPr/>
          <p:nvPr/>
        </p:nvSpPr>
        <p:spPr>
          <a:xfrm>
            <a:off x="8578080" y="2761560"/>
            <a:ext cx="326304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Motivação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Rectangle 22"/>
          <p:cNvSpPr/>
          <p:nvPr/>
        </p:nvSpPr>
        <p:spPr>
          <a:xfrm>
            <a:off x="548640" y="3083040"/>
            <a:ext cx="2727360" cy="357840"/>
          </a:xfrm>
          <a:prstGeom prst="rect">
            <a:avLst/>
          </a:prstGeom>
          <a:solidFill>
            <a:srgbClr val="262626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2" name="TextBox 23"/>
          <p:cNvSpPr/>
          <p:nvPr/>
        </p:nvSpPr>
        <p:spPr>
          <a:xfrm>
            <a:off x="621720" y="3119760"/>
            <a:ext cx="258120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etnia NOT NULL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Rectangle 24"/>
          <p:cNvSpPr/>
          <p:nvPr/>
        </p:nvSpPr>
        <p:spPr>
          <a:xfrm>
            <a:off x="3276360" y="3083040"/>
            <a:ext cx="5227920" cy="357840"/>
          </a:xfrm>
          <a:prstGeom prst="rect">
            <a:avLst/>
          </a:prstGeom>
          <a:solidFill>
            <a:srgbClr val="262626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4" name="TextBox 25"/>
          <p:cNvSpPr/>
          <p:nvPr/>
        </p:nvSpPr>
        <p:spPr>
          <a:xfrm>
            <a:off x="3349800" y="3119760"/>
            <a:ext cx="508176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Campo demográfico obrigatório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Rectangle 26"/>
          <p:cNvSpPr/>
          <p:nvPr/>
        </p:nvSpPr>
        <p:spPr>
          <a:xfrm>
            <a:off x="8505000" y="3083040"/>
            <a:ext cx="3409560" cy="357840"/>
          </a:xfrm>
          <a:prstGeom prst="rect">
            <a:avLst/>
          </a:prstGeom>
          <a:solidFill>
            <a:srgbClr val="262626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6" name="TextBox 27"/>
          <p:cNvSpPr/>
          <p:nvPr/>
        </p:nvSpPr>
        <p:spPr>
          <a:xfrm>
            <a:off x="8578080" y="3119760"/>
            <a:ext cx="326304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Dado central da análise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Rectangle 28"/>
          <p:cNvSpPr/>
          <p:nvPr/>
        </p:nvSpPr>
        <p:spPr>
          <a:xfrm>
            <a:off x="548640" y="3441240"/>
            <a:ext cx="2727360" cy="357840"/>
          </a:xfrm>
          <a:prstGeom prst="rect">
            <a:avLst/>
          </a:prstGeom>
          <a:solidFill>
            <a:srgbClr val="303030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8" name="TextBox 29"/>
          <p:cNvSpPr/>
          <p:nvPr/>
        </p:nvSpPr>
        <p:spPr>
          <a:xfrm>
            <a:off x="621720" y="3477600"/>
            <a:ext cx="258120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ano &gt;= 1927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Rectangle 30"/>
          <p:cNvSpPr/>
          <p:nvPr/>
        </p:nvSpPr>
        <p:spPr>
          <a:xfrm>
            <a:off x="3276360" y="3441240"/>
            <a:ext cx="5227920" cy="357840"/>
          </a:xfrm>
          <a:prstGeom prst="rect">
            <a:avLst/>
          </a:prstGeom>
          <a:solidFill>
            <a:srgbClr val="303030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0" name="TextBox 31"/>
          <p:cNvSpPr/>
          <p:nvPr/>
        </p:nvSpPr>
        <p:spPr>
          <a:xfrm>
            <a:off x="3349800" y="3477600"/>
            <a:ext cx="508176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Oscar não existia antes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Rectangle 32"/>
          <p:cNvSpPr/>
          <p:nvPr/>
        </p:nvSpPr>
        <p:spPr>
          <a:xfrm>
            <a:off x="8505000" y="3441240"/>
            <a:ext cx="3409560" cy="357840"/>
          </a:xfrm>
          <a:prstGeom prst="rect">
            <a:avLst/>
          </a:prstGeom>
          <a:solidFill>
            <a:srgbClr val="303030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2" name="TextBox 33"/>
          <p:cNvSpPr/>
          <p:nvPr/>
        </p:nvSpPr>
        <p:spPr>
          <a:xfrm>
            <a:off x="8578080" y="3477600"/>
            <a:ext cx="326304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Integridade de domínio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Rectangle 34"/>
          <p:cNvSpPr/>
          <p:nvPr/>
        </p:nvSpPr>
        <p:spPr>
          <a:xfrm>
            <a:off x="548640" y="3799440"/>
            <a:ext cx="2727360" cy="357840"/>
          </a:xfrm>
          <a:prstGeom prst="rect">
            <a:avLst/>
          </a:prstGeom>
          <a:solidFill>
            <a:srgbClr val="262626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4" name="TextBox 35"/>
          <p:cNvSpPr/>
          <p:nvPr/>
        </p:nvSpPr>
        <p:spPr>
          <a:xfrm>
            <a:off x="621720" y="3835800"/>
            <a:ext cx="258120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titulo UNIQUE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Rectangle 36"/>
          <p:cNvSpPr/>
          <p:nvPr/>
        </p:nvSpPr>
        <p:spPr>
          <a:xfrm>
            <a:off x="3276360" y="3799440"/>
            <a:ext cx="5227920" cy="357840"/>
          </a:xfrm>
          <a:prstGeom prst="rect">
            <a:avLst/>
          </a:prstGeom>
          <a:solidFill>
            <a:srgbClr val="262626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6" name="TextBox 37"/>
          <p:cNvSpPr/>
          <p:nvPr/>
        </p:nvSpPr>
        <p:spPr>
          <a:xfrm>
            <a:off x="3349800" y="3835800"/>
            <a:ext cx="508176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Cada filme é único no catálogo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Rectangle 38"/>
          <p:cNvSpPr/>
          <p:nvPr/>
        </p:nvSpPr>
        <p:spPr>
          <a:xfrm>
            <a:off x="8505000" y="3799440"/>
            <a:ext cx="3409560" cy="357840"/>
          </a:xfrm>
          <a:prstGeom prst="rect">
            <a:avLst/>
          </a:prstGeom>
          <a:solidFill>
            <a:srgbClr val="262626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8" name="TextBox 39"/>
          <p:cNvSpPr/>
          <p:nvPr/>
        </p:nvSpPr>
        <p:spPr>
          <a:xfrm>
            <a:off x="8578080" y="3835800"/>
            <a:ext cx="326304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Evitar duplicatas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Rectangle 40"/>
          <p:cNvSpPr/>
          <p:nvPr/>
        </p:nvSpPr>
        <p:spPr>
          <a:xfrm>
            <a:off x="548640" y="4157640"/>
            <a:ext cx="2727360" cy="357840"/>
          </a:xfrm>
          <a:prstGeom prst="rect">
            <a:avLst/>
          </a:prstGeom>
          <a:solidFill>
            <a:srgbClr val="303030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0" name="TextBox 41"/>
          <p:cNvSpPr/>
          <p:nvPr/>
        </p:nvSpPr>
        <p:spPr>
          <a:xfrm>
            <a:off x="621720" y="4194000"/>
            <a:ext cx="258120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FK ON DELETE RESTRICT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Rectangle 42"/>
          <p:cNvSpPr/>
          <p:nvPr/>
        </p:nvSpPr>
        <p:spPr>
          <a:xfrm>
            <a:off x="3276360" y="4157640"/>
            <a:ext cx="5227920" cy="357840"/>
          </a:xfrm>
          <a:prstGeom prst="rect">
            <a:avLst/>
          </a:prstGeom>
          <a:solidFill>
            <a:srgbClr val="303030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2" name="TextBox 43"/>
          <p:cNvSpPr/>
          <p:nvPr/>
        </p:nvSpPr>
        <p:spPr>
          <a:xfrm>
            <a:off x="3349800" y="4194000"/>
            <a:ext cx="508176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Impede remoção de dimensão em uso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Rectangle 44"/>
          <p:cNvSpPr/>
          <p:nvPr/>
        </p:nvSpPr>
        <p:spPr>
          <a:xfrm>
            <a:off x="8505000" y="4157640"/>
            <a:ext cx="3409560" cy="357840"/>
          </a:xfrm>
          <a:prstGeom prst="rect">
            <a:avLst/>
          </a:prstGeom>
          <a:solidFill>
            <a:srgbClr val="303030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4" name="TextBox 45"/>
          <p:cNvSpPr/>
          <p:nvPr/>
        </p:nvSpPr>
        <p:spPr>
          <a:xfrm>
            <a:off x="8578080" y="4194000"/>
            <a:ext cx="326304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Integridade referencial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Rectangle 46"/>
          <p:cNvSpPr/>
          <p:nvPr/>
        </p:nvSpPr>
        <p:spPr>
          <a:xfrm>
            <a:off x="548640" y="4515480"/>
            <a:ext cx="2727360" cy="357840"/>
          </a:xfrm>
          <a:prstGeom prst="rect">
            <a:avLst/>
          </a:prstGeom>
          <a:solidFill>
            <a:srgbClr val="262626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6" name="TextBox 47"/>
          <p:cNvSpPr/>
          <p:nvPr/>
        </p:nvSpPr>
        <p:spPr>
          <a:xfrm>
            <a:off x="621720" y="4552200"/>
            <a:ext cx="258120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UNIQUE (v, c, e)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Rectangle 48"/>
          <p:cNvSpPr/>
          <p:nvPr/>
        </p:nvSpPr>
        <p:spPr>
          <a:xfrm>
            <a:off x="3276360" y="4515480"/>
            <a:ext cx="5227920" cy="357840"/>
          </a:xfrm>
          <a:prstGeom prst="rect">
            <a:avLst/>
          </a:prstGeom>
          <a:solidFill>
            <a:srgbClr val="262626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8" name="TextBox 49"/>
          <p:cNvSpPr/>
          <p:nvPr/>
        </p:nvSpPr>
        <p:spPr>
          <a:xfrm>
            <a:off x="3349800" y="4552200"/>
            <a:ext cx="508176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 pessoa não ganha a mesma categoria 2× na mesma edição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Rectangle 50"/>
          <p:cNvSpPr/>
          <p:nvPr/>
        </p:nvSpPr>
        <p:spPr>
          <a:xfrm>
            <a:off x="8505000" y="4515480"/>
            <a:ext cx="3409560" cy="357840"/>
          </a:xfrm>
          <a:prstGeom prst="rect">
            <a:avLst/>
          </a:prstGeom>
          <a:solidFill>
            <a:srgbClr val="262626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0" name="TextBox 51"/>
          <p:cNvSpPr/>
          <p:nvPr/>
        </p:nvSpPr>
        <p:spPr>
          <a:xfrm>
            <a:off x="8578080" y="4552200"/>
            <a:ext cx="326304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Regra de negócio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Box 52"/>
          <p:cNvSpPr/>
          <p:nvPr/>
        </p:nvSpPr>
        <p:spPr>
          <a:xfrm>
            <a:off x="548640" y="4956120"/>
            <a:ext cx="11365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c8a000"/>
                </a:solidFill>
                <a:effectLst/>
                <a:uFillTx/>
                <a:latin typeface="Calibri"/>
              </a:rPr>
              <a:t>Índices em premio para acelerar JOINs analíticos: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Rectangle 53"/>
          <p:cNvSpPr/>
          <p:nvPr/>
        </p:nvSpPr>
        <p:spPr>
          <a:xfrm>
            <a:off x="548640" y="5321880"/>
            <a:ext cx="2772720" cy="383760"/>
          </a:xfrm>
          <a:prstGeom prst="rect">
            <a:avLst/>
          </a:prstGeom>
          <a:solidFill>
            <a:srgbClr val="262626"/>
          </a:solidFill>
          <a:ln>
            <a:solidFill>
              <a:srgbClr val="c8a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3" name="TextBox 54"/>
          <p:cNvSpPr/>
          <p:nvPr/>
        </p:nvSpPr>
        <p:spPr>
          <a:xfrm>
            <a:off x="594360" y="5358240"/>
            <a:ext cx="26812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bbbbbb"/>
                </a:solidFill>
                <a:effectLst/>
                <a:uFillTx/>
                <a:latin typeface="Calibri"/>
              </a:rPr>
              <a:t>idx_premio_vencedor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Rectangle 55"/>
          <p:cNvSpPr/>
          <p:nvPr/>
        </p:nvSpPr>
        <p:spPr>
          <a:xfrm>
            <a:off x="3413160" y="5321880"/>
            <a:ext cx="2772720" cy="383760"/>
          </a:xfrm>
          <a:prstGeom prst="rect">
            <a:avLst/>
          </a:prstGeom>
          <a:solidFill>
            <a:srgbClr val="262626"/>
          </a:solidFill>
          <a:ln>
            <a:solidFill>
              <a:srgbClr val="c8a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5" name="TextBox 56"/>
          <p:cNvSpPr/>
          <p:nvPr/>
        </p:nvSpPr>
        <p:spPr>
          <a:xfrm>
            <a:off x="3458880" y="5358240"/>
            <a:ext cx="26812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bbbbbb"/>
                </a:solidFill>
                <a:effectLst/>
                <a:uFillTx/>
                <a:latin typeface="Calibri"/>
              </a:rPr>
              <a:t>idx_premio_filme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Rectangle 57"/>
          <p:cNvSpPr/>
          <p:nvPr/>
        </p:nvSpPr>
        <p:spPr>
          <a:xfrm>
            <a:off x="6277320" y="5321880"/>
            <a:ext cx="2772720" cy="383760"/>
          </a:xfrm>
          <a:prstGeom prst="rect">
            <a:avLst/>
          </a:prstGeom>
          <a:solidFill>
            <a:srgbClr val="262626"/>
          </a:solidFill>
          <a:ln>
            <a:solidFill>
              <a:srgbClr val="c8a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7" name="TextBox 58"/>
          <p:cNvSpPr/>
          <p:nvPr/>
        </p:nvSpPr>
        <p:spPr>
          <a:xfrm>
            <a:off x="6323040" y="5358240"/>
            <a:ext cx="26812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bbbbbb"/>
                </a:solidFill>
                <a:effectLst/>
                <a:uFillTx/>
                <a:latin typeface="Calibri"/>
              </a:rPr>
              <a:t>idx_premio_categoria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Rectangle 59"/>
          <p:cNvSpPr/>
          <p:nvPr/>
        </p:nvSpPr>
        <p:spPr>
          <a:xfrm>
            <a:off x="9141840" y="5321880"/>
            <a:ext cx="2772720" cy="383760"/>
          </a:xfrm>
          <a:prstGeom prst="rect">
            <a:avLst/>
          </a:prstGeom>
          <a:solidFill>
            <a:srgbClr val="262626"/>
          </a:solidFill>
          <a:ln>
            <a:solidFill>
              <a:srgbClr val="c8a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9" name="TextBox 60"/>
          <p:cNvSpPr/>
          <p:nvPr/>
        </p:nvSpPr>
        <p:spPr>
          <a:xfrm>
            <a:off x="9187560" y="5358240"/>
            <a:ext cx="26812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bbbbbb"/>
                </a:solidFill>
                <a:effectLst/>
                <a:uFillTx/>
                <a:latin typeface="Calibri"/>
              </a:rPr>
              <a:t>idx_premio_edicao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1a1a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1" name="Rectangle 2"/>
          <p:cNvSpPr/>
          <p:nvPr/>
        </p:nvSpPr>
        <p:spPr>
          <a:xfrm>
            <a:off x="0" y="0"/>
            <a:ext cx="347040" cy="685764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2" name="Rectangle 3"/>
          <p:cNvSpPr/>
          <p:nvPr/>
        </p:nvSpPr>
        <p:spPr>
          <a:xfrm>
            <a:off x="0" y="6739200"/>
            <a:ext cx="12188520" cy="11844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3" name="Rectangle 4"/>
          <p:cNvSpPr/>
          <p:nvPr/>
        </p:nvSpPr>
        <p:spPr>
          <a:xfrm>
            <a:off x="548640" y="1115640"/>
            <a:ext cx="11365560" cy="1872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4" name="TextBox 5"/>
          <p:cNvSpPr/>
          <p:nvPr/>
        </p:nvSpPr>
        <p:spPr>
          <a:xfrm>
            <a:off x="548640" y="228600"/>
            <a:ext cx="11365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c8a000"/>
                </a:solidFill>
                <a:effectLst/>
                <a:uFillTx/>
                <a:latin typeface="Calibri"/>
              </a:rPr>
              <a:t>5  Pipeline de Carga e Validação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Box 6"/>
          <p:cNvSpPr/>
          <p:nvPr/>
        </p:nvSpPr>
        <p:spPr>
          <a:xfrm>
            <a:off x="548640" y="1207080"/>
            <a:ext cx="11365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i="1" u="none" strike="noStrike">
                <a:solidFill>
                  <a:srgbClr val="bbbbbb"/>
                </a:solidFill>
                <a:effectLst/>
                <a:uFillTx/>
                <a:latin typeface="Calibri"/>
              </a:rPr>
              <a:t>pandas lê e limpa o CSV — psycopg2 insere em batch — cada tabela é commitada antes da próxima para garantir a integridade das chaves estrangeiras.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Rectangle 7"/>
          <p:cNvSpPr/>
          <p:nvPr/>
        </p:nvSpPr>
        <p:spPr>
          <a:xfrm>
            <a:off x="548640" y="1874520"/>
            <a:ext cx="2199600" cy="2514240"/>
          </a:xfrm>
          <a:prstGeom prst="rect">
            <a:avLst/>
          </a:prstGeom>
          <a:solidFill>
            <a:srgbClr val="262626"/>
          </a:solidFill>
          <a:ln>
            <a:solidFill>
              <a:srgbClr val="c8a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7" name="TextBox 8"/>
          <p:cNvSpPr/>
          <p:nvPr/>
        </p:nvSpPr>
        <p:spPr>
          <a:xfrm>
            <a:off x="548640" y="1929240"/>
            <a:ext cx="2199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c8a000"/>
                </a:solidFill>
                <a:effectLst/>
                <a:uFillTx/>
                <a:latin typeface="Calibri"/>
              </a:rPr>
              <a:t>1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Rectangle 9"/>
          <p:cNvSpPr/>
          <p:nvPr/>
        </p:nvSpPr>
        <p:spPr>
          <a:xfrm>
            <a:off x="658440" y="2258640"/>
            <a:ext cx="1980360" cy="1224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9" name="TextBox 10"/>
          <p:cNvSpPr/>
          <p:nvPr/>
        </p:nvSpPr>
        <p:spPr>
          <a:xfrm>
            <a:off x="603360" y="2304360"/>
            <a:ext cx="2089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edicao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Box 11"/>
          <p:cNvSpPr/>
          <p:nvPr/>
        </p:nvSpPr>
        <p:spPr>
          <a:xfrm>
            <a:off x="603360" y="2807280"/>
            <a:ext cx="2089800" cy="152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bbbbbb"/>
                </a:solidFill>
                <a:effectLst/>
                <a:uFillTx/>
                <a:latin typeface="Calibri"/>
              </a:rPr>
              <a:t>87 registros  anos únicos de cerimônia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Rectangle 12"/>
          <p:cNvSpPr/>
          <p:nvPr/>
        </p:nvSpPr>
        <p:spPr>
          <a:xfrm>
            <a:off x="2840040" y="1874520"/>
            <a:ext cx="2199600" cy="2514240"/>
          </a:xfrm>
          <a:prstGeom prst="rect">
            <a:avLst/>
          </a:prstGeom>
          <a:solidFill>
            <a:srgbClr val="262626"/>
          </a:solidFill>
          <a:ln>
            <a:solidFill>
              <a:srgbClr val="c8a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2" name="TextBox 13"/>
          <p:cNvSpPr/>
          <p:nvPr/>
        </p:nvSpPr>
        <p:spPr>
          <a:xfrm>
            <a:off x="2840040" y="1929240"/>
            <a:ext cx="2199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c8a000"/>
                </a:solidFill>
                <a:effectLst/>
                <a:uFillTx/>
                <a:latin typeface="Calibri"/>
              </a:rPr>
              <a:t>2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Rectangle 14"/>
          <p:cNvSpPr/>
          <p:nvPr/>
        </p:nvSpPr>
        <p:spPr>
          <a:xfrm>
            <a:off x="2949840" y="2258640"/>
            <a:ext cx="1980360" cy="1224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4" name="TextBox 15"/>
          <p:cNvSpPr/>
          <p:nvPr/>
        </p:nvSpPr>
        <p:spPr>
          <a:xfrm>
            <a:off x="2895120" y="2304360"/>
            <a:ext cx="2089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categoria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Box 16"/>
          <p:cNvSpPr/>
          <p:nvPr/>
        </p:nvSpPr>
        <p:spPr>
          <a:xfrm>
            <a:off x="2895120" y="2807280"/>
            <a:ext cx="2089800" cy="152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bbbbbb"/>
                </a:solidFill>
                <a:effectLst/>
                <a:uFillTx/>
                <a:latin typeface="Calibri"/>
              </a:rPr>
              <a:t>5 registros  categorias fixas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Rectangle 17"/>
          <p:cNvSpPr/>
          <p:nvPr/>
        </p:nvSpPr>
        <p:spPr>
          <a:xfrm>
            <a:off x="5131440" y="1874520"/>
            <a:ext cx="2199600" cy="2514240"/>
          </a:xfrm>
          <a:prstGeom prst="rect">
            <a:avLst/>
          </a:prstGeom>
          <a:solidFill>
            <a:srgbClr val="262626"/>
          </a:solidFill>
          <a:ln>
            <a:solidFill>
              <a:srgbClr val="c8a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7" name="TextBox 18"/>
          <p:cNvSpPr/>
          <p:nvPr/>
        </p:nvSpPr>
        <p:spPr>
          <a:xfrm>
            <a:off x="5131440" y="1929240"/>
            <a:ext cx="2199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c8a000"/>
                </a:solidFill>
                <a:effectLst/>
                <a:uFillTx/>
                <a:latin typeface="Calibri"/>
              </a:rPr>
              <a:t>3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Rectangle 19"/>
          <p:cNvSpPr/>
          <p:nvPr/>
        </p:nvSpPr>
        <p:spPr>
          <a:xfrm>
            <a:off x="5241240" y="2258640"/>
            <a:ext cx="1980360" cy="1224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9" name="TextBox 20"/>
          <p:cNvSpPr/>
          <p:nvPr/>
        </p:nvSpPr>
        <p:spPr>
          <a:xfrm>
            <a:off x="5186520" y="2304360"/>
            <a:ext cx="2089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filme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Box 21"/>
          <p:cNvSpPr/>
          <p:nvPr/>
        </p:nvSpPr>
        <p:spPr>
          <a:xfrm>
            <a:off x="5186520" y="2807280"/>
            <a:ext cx="2089800" cy="152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bbbbbb"/>
                </a:solidFill>
                <a:effectLst/>
                <a:uFillTx/>
                <a:latin typeface="Calibri"/>
              </a:rPr>
              <a:t>335 registros  títulos únicos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Rectangle 22"/>
          <p:cNvSpPr/>
          <p:nvPr/>
        </p:nvSpPr>
        <p:spPr>
          <a:xfrm>
            <a:off x="7423200" y="1874520"/>
            <a:ext cx="2199600" cy="2514240"/>
          </a:xfrm>
          <a:prstGeom prst="rect">
            <a:avLst/>
          </a:prstGeom>
          <a:solidFill>
            <a:srgbClr val="262626"/>
          </a:solidFill>
          <a:ln>
            <a:solidFill>
              <a:srgbClr val="c8a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2" name="TextBox 23"/>
          <p:cNvSpPr/>
          <p:nvPr/>
        </p:nvSpPr>
        <p:spPr>
          <a:xfrm>
            <a:off x="7423200" y="1929240"/>
            <a:ext cx="2199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c8a000"/>
                </a:solidFill>
                <a:effectLst/>
                <a:uFillTx/>
                <a:latin typeface="Calibri"/>
              </a:rPr>
              <a:t>4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Rectangle 24"/>
          <p:cNvSpPr/>
          <p:nvPr/>
        </p:nvSpPr>
        <p:spPr>
          <a:xfrm>
            <a:off x="7533000" y="2258640"/>
            <a:ext cx="1980360" cy="1224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4" name="TextBox 25"/>
          <p:cNvSpPr/>
          <p:nvPr/>
        </p:nvSpPr>
        <p:spPr>
          <a:xfrm>
            <a:off x="7477920" y="2304360"/>
            <a:ext cx="2089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vencedor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Box 26"/>
          <p:cNvSpPr/>
          <p:nvPr/>
        </p:nvSpPr>
        <p:spPr>
          <a:xfrm>
            <a:off x="7477920" y="2807280"/>
            <a:ext cx="2089800" cy="152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bbbbbb"/>
                </a:solidFill>
                <a:effectLst/>
                <a:uFillTx/>
                <a:latin typeface="Calibri"/>
              </a:rPr>
              <a:t>348 registros  deduplicados por nome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Rectangle 27"/>
          <p:cNvSpPr/>
          <p:nvPr/>
        </p:nvSpPr>
        <p:spPr>
          <a:xfrm>
            <a:off x="9714600" y="1874520"/>
            <a:ext cx="2199600" cy="2514240"/>
          </a:xfrm>
          <a:prstGeom prst="rect">
            <a:avLst/>
          </a:prstGeom>
          <a:solidFill>
            <a:srgbClr val="262626"/>
          </a:solidFill>
          <a:ln>
            <a:solidFill>
              <a:srgbClr val="c8a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7" name="TextBox 28"/>
          <p:cNvSpPr/>
          <p:nvPr/>
        </p:nvSpPr>
        <p:spPr>
          <a:xfrm>
            <a:off x="9714600" y="1929240"/>
            <a:ext cx="2199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c8a000"/>
                </a:solidFill>
                <a:effectLst/>
                <a:uFillTx/>
                <a:latin typeface="Calibri"/>
              </a:rPr>
              <a:t>5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Rectangle 29"/>
          <p:cNvSpPr/>
          <p:nvPr/>
        </p:nvSpPr>
        <p:spPr>
          <a:xfrm>
            <a:off x="9824400" y="2258640"/>
            <a:ext cx="1980360" cy="1224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9" name="TextBox 30"/>
          <p:cNvSpPr/>
          <p:nvPr/>
        </p:nvSpPr>
        <p:spPr>
          <a:xfrm>
            <a:off x="9769320" y="2304360"/>
            <a:ext cx="2089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premio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Box 31"/>
          <p:cNvSpPr/>
          <p:nvPr/>
        </p:nvSpPr>
        <p:spPr>
          <a:xfrm>
            <a:off x="9769320" y="2807280"/>
            <a:ext cx="2089800" cy="152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bbbbbb"/>
                </a:solidFill>
                <a:effectLst/>
                <a:uFillTx/>
                <a:latin typeface="Calibri"/>
              </a:rPr>
              <a:t>415 registros  4× FK resolvidas por dicionário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Rectangle 32"/>
          <p:cNvSpPr/>
          <p:nvPr/>
        </p:nvSpPr>
        <p:spPr>
          <a:xfrm>
            <a:off x="548640" y="4572000"/>
            <a:ext cx="11365560" cy="1078560"/>
          </a:xfrm>
          <a:prstGeom prst="rect">
            <a:avLst/>
          </a:prstGeom>
          <a:solidFill>
            <a:srgbClr val="262626"/>
          </a:solidFill>
          <a:ln>
            <a:solidFill>
              <a:srgbClr val="c8a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2" name="TextBox 33"/>
          <p:cNvSpPr/>
          <p:nvPr/>
        </p:nvSpPr>
        <p:spPr>
          <a:xfrm>
            <a:off x="685800" y="4626720"/>
            <a:ext cx="110912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c8a000"/>
                </a:solidFill>
                <a:effectLst/>
                <a:uFillTx/>
                <a:latin typeface="Calibri"/>
              </a:rPr>
              <a:t>Validação pós-carga — 8 checks SQL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Box 34"/>
          <p:cNvSpPr/>
          <p:nvPr/>
        </p:nvSpPr>
        <p:spPr>
          <a:xfrm>
            <a:off x="685800" y="4956120"/>
            <a:ext cx="11091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200" b="0" u="none" strike="noStrike">
                <a:solidFill>
                  <a:srgbClr val="bbbbbb"/>
                </a:solidFill>
                <a:effectLst/>
                <a:uFillTx/>
                <a:latin typeface="Calibri"/>
              </a:rPr>
              <a:t>✔  Zero registros órfãos em FKs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200" b="0" u="none" strike="noStrike">
                <a:solidFill>
                  <a:srgbClr val="bbbbbb"/>
                </a:solidFill>
                <a:effectLst/>
                <a:uFillTx/>
                <a:latin typeface="Calibri"/>
              </a:rPr>
              <a:t>✔  Sem duplicatas na constraint UNIQUE(vencedor, categoria, edição)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200" b="0" u="none" strike="noStrike">
                <a:solidFill>
                  <a:srgbClr val="bbbbbb"/>
                </a:solidFill>
                <a:effectLst/>
                <a:uFillTx/>
                <a:latin typeface="Calibri"/>
              </a:rPr>
              <a:t>✔  30 edições com menos de 5 prêmios — estrutural (primeiras décadas do Oscar)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1a1a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5" name="Rectangle 2"/>
          <p:cNvSpPr/>
          <p:nvPr/>
        </p:nvSpPr>
        <p:spPr>
          <a:xfrm>
            <a:off x="0" y="0"/>
            <a:ext cx="347040" cy="685764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6" name="Rectangle 3"/>
          <p:cNvSpPr/>
          <p:nvPr/>
        </p:nvSpPr>
        <p:spPr>
          <a:xfrm>
            <a:off x="0" y="6739200"/>
            <a:ext cx="12188520" cy="11844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7" name="Rectangle 4"/>
          <p:cNvSpPr/>
          <p:nvPr/>
        </p:nvSpPr>
        <p:spPr>
          <a:xfrm>
            <a:off x="548640" y="1115640"/>
            <a:ext cx="11365560" cy="1872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8" name="TextBox 5"/>
          <p:cNvSpPr/>
          <p:nvPr/>
        </p:nvSpPr>
        <p:spPr>
          <a:xfrm>
            <a:off x="548640" y="228600"/>
            <a:ext cx="11365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c8a000"/>
                </a:solidFill>
                <a:effectLst/>
                <a:uFillTx/>
                <a:latin typeface="Calibri"/>
              </a:rPr>
              <a:t>6  Análise Exploratória — 5 Perguntas Investigativas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Box 6"/>
          <p:cNvSpPr/>
          <p:nvPr/>
        </p:nvSpPr>
        <p:spPr>
          <a:xfrm>
            <a:off x="548640" y="1207080"/>
            <a:ext cx="11365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i="1" u="none" strike="noStrike">
                <a:solidFill>
                  <a:srgbClr val="bbbbbb"/>
                </a:solidFill>
                <a:effectLst/>
                <a:uFillTx/>
                <a:latin typeface="Calibri"/>
              </a:rPr>
              <a:t>Cada pergunta foi escolhida para cobrir uma técnica SQL diferente e revelar um padrão histórico real nos dados.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Rectangle 7"/>
          <p:cNvSpPr/>
          <p:nvPr/>
        </p:nvSpPr>
        <p:spPr>
          <a:xfrm>
            <a:off x="548640" y="1847160"/>
            <a:ext cx="681480" cy="677880"/>
          </a:xfrm>
          <a:prstGeom prst="rect">
            <a:avLst/>
          </a:prstGeom>
          <a:solidFill>
            <a:srgbClr val="c8a000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1" name="TextBox 8"/>
          <p:cNvSpPr/>
          <p:nvPr/>
        </p:nvSpPr>
        <p:spPr>
          <a:xfrm>
            <a:off x="621720" y="1883520"/>
            <a:ext cx="535320" cy="60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Rectangle 9"/>
          <p:cNvSpPr/>
          <p:nvPr/>
        </p:nvSpPr>
        <p:spPr>
          <a:xfrm>
            <a:off x="1230480" y="1847160"/>
            <a:ext cx="5455440" cy="677880"/>
          </a:xfrm>
          <a:prstGeom prst="rect">
            <a:avLst/>
          </a:prstGeom>
          <a:solidFill>
            <a:srgbClr val="c8a000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3" name="TextBox 10"/>
          <p:cNvSpPr/>
          <p:nvPr/>
        </p:nvSpPr>
        <p:spPr>
          <a:xfrm>
            <a:off x="1303920" y="1883520"/>
            <a:ext cx="5308920" cy="60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Pergunta investigativa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Rectangle 11"/>
          <p:cNvSpPr/>
          <p:nvPr/>
        </p:nvSpPr>
        <p:spPr>
          <a:xfrm>
            <a:off x="6686280" y="1847160"/>
            <a:ext cx="5227920" cy="677880"/>
          </a:xfrm>
          <a:prstGeom prst="rect">
            <a:avLst/>
          </a:prstGeom>
          <a:solidFill>
            <a:srgbClr val="c8a000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5" name="TextBox 12"/>
          <p:cNvSpPr/>
          <p:nvPr/>
        </p:nvSpPr>
        <p:spPr>
          <a:xfrm>
            <a:off x="6759360" y="1883520"/>
            <a:ext cx="5081760" cy="60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Técnica SQL principal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Rectangle 13"/>
          <p:cNvSpPr/>
          <p:nvPr/>
        </p:nvSpPr>
        <p:spPr>
          <a:xfrm>
            <a:off x="548640" y="2525400"/>
            <a:ext cx="681480" cy="677880"/>
          </a:xfrm>
          <a:prstGeom prst="rect">
            <a:avLst/>
          </a:prstGeom>
          <a:solidFill>
            <a:srgbClr val="262626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7" name="TextBox 14"/>
          <p:cNvSpPr/>
          <p:nvPr/>
        </p:nvSpPr>
        <p:spPr>
          <a:xfrm>
            <a:off x="621720" y="2561760"/>
            <a:ext cx="535320" cy="60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P1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Rectangle 15"/>
          <p:cNvSpPr/>
          <p:nvPr/>
        </p:nvSpPr>
        <p:spPr>
          <a:xfrm>
            <a:off x="1230480" y="2525400"/>
            <a:ext cx="5455440" cy="677880"/>
          </a:xfrm>
          <a:prstGeom prst="rect">
            <a:avLst/>
          </a:prstGeom>
          <a:solidFill>
            <a:srgbClr val="262626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9" name="TextBox 16"/>
          <p:cNvSpPr/>
          <p:nvPr/>
        </p:nvSpPr>
        <p:spPr>
          <a:xfrm>
            <a:off x="1303920" y="2561760"/>
            <a:ext cx="5308920" cy="60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Filmes com múltiplas vitórias na mesma edição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Rectangle 17"/>
          <p:cNvSpPr/>
          <p:nvPr/>
        </p:nvSpPr>
        <p:spPr>
          <a:xfrm>
            <a:off x="6686280" y="2525400"/>
            <a:ext cx="5227920" cy="677880"/>
          </a:xfrm>
          <a:prstGeom prst="rect">
            <a:avLst/>
          </a:prstGeom>
          <a:solidFill>
            <a:srgbClr val="262626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1" name="TextBox 18"/>
          <p:cNvSpPr/>
          <p:nvPr/>
        </p:nvSpPr>
        <p:spPr>
          <a:xfrm>
            <a:off x="6759360" y="2561760"/>
            <a:ext cx="5081760" cy="60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JOIN + GROUP BY + HAVING + STRING_AGG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Rectangle 19"/>
          <p:cNvSpPr/>
          <p:nvPr/>
        </p:nvSpPr>
        <p:spPr>
          <a:xfrm>
            <a:off x="548640" y="3203280"/>
            <a:ext cx="681480" cy="677880"/>
          </a:xfrm>
          <a:prstGeom prst="rect">
            <a:avLst/>
          </a:prstGeom>
          <a:solidFill>
            <a:srgbClr val="303030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3" name="TextBox 20"/>
          <p:cNvSpPr/>
          <p:nvPr/>
        </p:nvSpPr>
        <p:spPr>
          <a:xfrm>
            <a:off x="621720" y="3240000"/>
            <a:ext cx="535320" cy="60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P2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Rectangle 21"/>
          <p:cNvSpPr/>
          <p:nvPr/>
        </p:nvSpPr>
        <p:spPr>
          <a:xfrm>
            <a:off x="1230480" y="3203280"/>
            <a:ext cx="5455440" cy="677880"/>
          </a:xfrm>
          <a:prstGeom prst="rect">
            <a:avLst/>
          </a:prstGeom>
          <a:solidFill>
            <a:srgbClr val="303030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5" name="TextBox 22"/>
          <p:cNvSpPr/>
          <p:nvPr/>
        </p:nvSpPr>
        <p:spPr>
          <a:xfrm>
            <a:off x="1303920" y="3240000"/>
            <a:ext cx="5308920" cy="60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Evolução da diversidade étnica por década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Rectangle 23"/>
          <p:cNvSpPr/>
          <p:nvPr/>
        </p:nvSpPr>
        <p:spPr>
          <a:xfrm>
            <a:off x="6686280" y="3203280"/>
            <a:ext cx="5227920" cy="677880"/>
          </a:xfrm>
          <a:prstGeom prst="rect">
            <a:avLst/>
          </a:prstGeom>
          <a:solidFill>
            <a:srgbClr val="303030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7" name="TextBox 24"/>
          <p:cNvSpPr/>
          <p:nvPr/>
        </p:nvSpPr>
        <p:spPr>
          <a:xfrm>
            <a:off x="6759360" y="3240000"/>
            <a:ext cx="5081760" cy="60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GROUP BY + FILTER + percentual em SQL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Rectangle 25"/>
          <p:cNvSpPr/>
          <p:nvPr/>
        </p:nvSpPr>
        <p:spPr>
          <a:xfrm>
            <a:off x="548640" y="3881520"/>
            <a:ext cx="681480" cy="677880"/>
          </a:xfrm>
          <a:prstGeom prst="rect">
            <a:avLst/>
          </a:prstGeom>
          <a:solidFill>
            <a:srgbClr val="262626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9" name="TextBox 26"/>
          <p:cNvSpPr/>
          <p:nvPr/>
        </p:nvSpPr>
        <p:spPr>
          <a:xfrm>
            <a:off x="621720" y="3918240"/>
            <a:ext cx="535320" cy="60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P3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Rectangle 27"/>
          <p:cNvSpPr/>
          <p:nvPr/>
        </p:nvSpPr>
        <p:spPr>
          <a:xfrm>
            <a:off x="1230480" y="3881520"/>
            <a:ext cx="5455440" cy="677880"/>
          </a:xfrm>
          <a:prstGeom prst="rect">
            <a:avLst/>
          </a:prstGeom>
          <a:solidFill>
            <a:srgbClr val="262626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1" name="TextBox 28"/>
          <p:cNvSpPr/>
          <p:nvPr/>
        </p:nvSpPr>
        <p:spPr>
          <a:xfrm>
            <a:off x="1303920" y="3918240"/>
            <a:ext cx="5308920" cy="60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Idade dos vencedores por categoria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Rectangle 29"/>
          <p:cNvSpPr/>
          <p:nvPr/>
        </p:nvSpPr>
        <p:spPr>
          <a:xfrm>
            <a:off x="6686280" y="3881520"/>
            <a:ext cx="5227920" cy="677880"/>
          </a:xfrm>
          <a:prstGeom prst="rect">
            <a:avLst/>
          </a:prstGeom>
          <a:solidFill>
            <a:srgbClr val="262626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3" name="TextBox 30"/>
          <p:cNvSpPr/>
          <p:nvPr/>
        </p:nvSpPr>
        <p:spPr>
          <a:xfrm>
            <a:off x="6759360" y="3918240"/>
            <a:ext cx="5081760" cy="60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AVG / MIN / MAX + UNION ALL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Rectangle 31"/>
          <p:cNvSpPr/>
          <p:nvPr/>
        </p:nvSpPr>
        <p:spPr>
          <a:xfrm>
            <a:off x="548640" y="4559760"/>
            <a:ext cx="681480" cy="677880"/>
          </a:xfrm>
          <a:prstGeom prst="rect">
            <a:avLst/>
          </a:prstGeom>
          <a:solidFill>
            <a:srgbClr val="303030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5" name="TextBox 32"/>
          <p:cNvSpPr/>
          <p:nvPr/>
        </p:nvSpPr>
        <p:spPr>
          <a:xfrm>
            <a:off x="621720" y="4596480"/>
            <a:ext cx="535320" cy="60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P4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Rectangle 33"/>
          <p:cNvSpPr/>
          <p:nvPr/>
        </p:nvSpPr>
        <p:spPr>
          <a:xfrm>
            <a:off x="1230480" y="4559760"/>
            <a:ext cx="5455440" cy="677880"/>
          </a:xfrm>
          <a:prstGeom prst="rect">
            <a:avLst/>
          </a:prstGeom>
          <a:solidFill>
            <a:srgbClr val="303030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7" name="TextBox 34"/>
          <p:cNvSpPr/>
          <p:nvPr/>
        </p:nvSpPr>
        <p:spPr>
          <a:xfrm>
            <a:off x="1303920" y="4596480"/>
            <a:ext cx="5308920" cy="60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Maior intervalo entre vitórias consecutivas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Rectangle 35"/>
          <p:cNvSpPr/>
          <p:nvPr/>
        </p:nvSpPr>
        <p:spPr>
          <a:xfrm>
            <a:off x="6686280" y="4559760"/>
            <a:ext cx="5227920" cy="677880"/>
          </a:xfrm>
          <a:prstGeom prst="rect">
            <a:avLst/>
          </a:prstGeom>
          <a:solidFill>
            <a:srgbClr val="303030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9" name="TextBox 36"/>
          <p:cNvSpPr/>
          <p:nvPr/>
        </p:nvSpPr>
        <p:spPr>
          <a:xfrm>
            <a:off x="6759360" y="4596480"/>
            <a:ext cx="5081760" cy="60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CTE + window function LAG()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Rectangle 37"/>
          <p:cNvSpPr/>
          <p:nvPr/>
        </p:nvSpPr>
        <p:spPr>
          <a:xfrm>
            <a:off x="548640" y="5238000"/>
            <a:ext cx="681480" cy="677880"/>
          </a:xfrm>
          <a:prstGeom prst="rect">
            <a:avLst/>
          </a:prstGeom>
          <a:solidFill>
            <a:srgbClr val="262626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1" name="TextBox 38"/>
          <p:cNvSpPr/>
          <p:nvPr/>
        </p:nvSpPr>
        <p:spPr>
          <a:xfrm>
            <a:off x="621720" y="5274720"/>
            <a:ext cx="535320" cy="60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P5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Rectangle 39"/>
          <p:cNvSpPr/>
          <p:nvPr/>
        </p:nvSpPr>
        <p:spPr>
          <a:xfrm>
            <a:off x="1230480" y="5238000"/>
            <a:ext cx="5455440" cy="677880"/>
          </a:xfrm>
          <a:prstGeom prst="rect">
            <a:avLst/>
          </a:prstGeom>
          <a:solidFill>
            <a:srgbClr val="262626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3" name="TextBox 40"/>
          <p:cNvSpPr/>
          <p:nvPr/>
        </p:nvSpPr>
        <p:spPr>
          <a:xfrm>
            <a:off x="1303920" y="5274720"/>
            <a:ext cx="5308920" cy="60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Primeiro vencedor não-branco por categoria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Rectangle 41"/>
          <p:cNvSpPr/>
          <p:nvPr/>
        </p:nvSpPr>
        <p:spPr>
          <a:xfrm>
            <a:off x="6686280" y="5238000"/>
            <a:ext cx="5227920" cy="677880"/>
          </a:xfrm>
          <a:prstGeom prst="rect">
            <a:avLst/>
          </a:prstGeom>
          <a:solidFill>
            <a:srgbClr val="262626"/>
          </a:solidFill>
          <a:ln w="6350">
            <a:solidFill>
              <a:srgbClr val="3e3e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5" name="TextBox 42"/>
          <p:cNvSpPr/>
          <p:nvPr/>
        </p:nvSpPr>
        <p:spPr>
          <a:xfrm>
            <a:off x="6759360" y="5274720"/>
            <a:ext cx="5081760" cy="60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CTE + ROW_NUMBER() OVER (PARTITION BY)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1a1a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7" name="Rectangle 2"/>
          <p:cNvSpPr/>
          <p:nvPr/>
        </p:nvSpPr>
        <p:spPr>
          <a:xfrm>
            <a:off x="0" y="0"/>
            <a:ext cx="347040" cy="685764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8" name="Rectangle 3"/>
          <p:cNvSpPr/>
          <p:nvPr/>
        </p:nvSpPr>
        <p:spPr>
          <a:xfrm>
            <a:off x="0" y="6739200"/>
            <a:ext cx="12188520" cy="11844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9" name="Rectangle 4"/>
          <p:cNvSpPr/>
          <p:nvPr/>
        </p:nvSpPr>
        <p:spPr>
          <a:xfrm>
            <a:off x="548640" y="1115640"/>
            <a:ext cx="11365560" cy="1872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0" name="TextBox 5"/>
          <p:cNvSpPr/>
          <p:nvPr/>
        </p:nvSpPr>
        <p:spPr>
          <a:xfrm>
            <a:off x="548640" y="228600"/>
            <a:ext cx="11365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c8a000"/>
                </a:solidFill>
                <a:effectLst/>
                <a:uFillTx/>
                <a:latin typeface="Calibri"/>
              </a:rPr>
              <a:t>P1 — Filmes com múltiplas vitórias na mesma edição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Rectangle 6"/>
          <p:cNvSpPr/>
          <p:nvPr/>
        </p:nvSpPr>
        <p:spPr>
          <a:xfrm>
            <a:off x="502920" y="1170360"/>
            <a:ext cx="4845960" cy="5092920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2" name="TextBox 7"/>
          <p:cNvSpPr/>
          <p:nvPr/>
        </p:nvSpPr>
        <p:spPr>
          <a:xfrm>
            <a:off x="548640" y="1225440"/>
            <a:ext cx="4754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bbbbbb"/>
                </a:solidFill>
                <a:effectLst/>
                <a:uFillTx/>
                <a:latin typeface="Calibri"/>
              </a:rPr>
              <a:t>Alguns filmes dominaram a noite inteira do Oscar, vencendo mais de uma categoria na mesma cerimônia — revelando o prestígio absoluto de certas obras.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Box 8"/>
          <p:cNvSpPr/>
          <p:nvPr/>
        </p:nvSpPr>
        <p:spPr>
          <a:xfrm>
            <a:off x="548640" y="1801440"/>
            <a:ext cx="4754520" cy="420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Top 3 — 3 categorias cada: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It Happened One Night (1935)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Gone with the Wind (1940)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Going My Way (1945)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60 filmes no total venceram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2+ categorias na mesma edição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ao longo dos 87 anos.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Técnica SQL: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GROUP BY filme + edição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HAVING COUNT(*) &gt; 1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STRING_AGG lista as categorias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vencidas na mesma noite.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Rectangle 9"/>
          <p:cNvSpPr/>
          <p:nvPr/>
        </p:nvSpPr>
        <p:spPr>
          <a:xfrm>
            <a:off x="5440680" y="1170360"/>
            <a:ext cx="18720" cy="509292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65" name="Picture 10" descr="grafico_p1_filmes_multivencedores.png"/>
          <p:cNvPicPr/>
          <p:nvPr/>
        </p:nvPicPr>
        <p:blipFill>
          <a:blip r:embed="rId1"/>
          <a:stretch/>
        </p:blipFill>
        <p:spPr>
          <a:xfrm>
            <a:off x="5605200" y="1170360"/>
            <a:ext cx="6354720" cy="5092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1a1a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7" name="Rectangle 2"/>
          <p:cNvSpPr/>
          <p:nvPr/>
        </p:nvSpPr>
        <p:spPr>
          <a:xfrm>
            <a:off x="0" y="0"/>
            <a:ext cx="347040" cy="685764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8" name="Rectangle 3"/>
          <p:cNvSpPr/>
          <p:nvPr/>
        </p:nvSpPr>
        <p:spPr>
          <a:xfrm>
            <a:off x="0" y="6739200"/>
            <a:ext cx="12188520" cy="11844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9" name="Rectangle 4"/>
          <p:cNvSpPr/>
          <p:nvPr/>
        </p:nvSpPr>
        <p:spPr>
          <a:xfrm>
            <a:off x="548640" y="1115640"/>
            <a:ext cx="11365560" cy="1872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0" name="TextBox 5"/>
          <p:cNvSpPr/>
          <p:nvPr/>
        </p:nvSpPr>
        <p:spPr>
          <a:xfrm>
            <a:off x="548640" y="228600"/>
            <a:ext cx="11365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c8a000"/>
                </a:solidFill>
                <a:effectLst/>
                <a:uFillTx/>
                <a:latin typeface="Calibri"/>
              </a:rPr>
              <a:t>P2 — Diversidade étnica por década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Rectangle 6"/>
          <p:cNvSpPr/>
          <p:nvPr/>
        </p:nvSpPr>
        <p:spPr>
          <a:xfrm>
            <a:off x="502920" y="1170360"/>
            <a:ext cx="4845960" cy="5092920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2" name="TextBox 7"/>
          <p:cNvSpPr/>
          <p:nvPr/>
        </p:nvSpPr>
        <p:spPr>
          <a:xfrm>
            <a:off x="548640" y="1225440"/>
            <a:ext cx="4754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bbbbbb"/>
                </a:solidFill>
                <a:effectLst/>
                <a:uFillTx/>
                <a:latin typeface="Calibri"/>
              </a:rPr>
              <a:t>Esta é a pergunta central do projeto. Os dados mostram com precisão quando — e em que ritmo — a Academia começou a reconhecer artistas não-brancos.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Box 8"/>
          <p:cNvSpPr/>
          <p:nvPr/>
        </p:nvSpPr>
        <p:spPr>
          <a:xfrm>
            <a:off x="548640" y="1801440"/>
            <a:ext cx="4754520" cy="420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Evolução da representatividade: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1927–1969:  ~0% não-brancos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1970–1989:  primeiros sinais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2000–2014:  ~19%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Para comparar: negros e hispânicos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somam +30% da pop. americana —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 Oscar ainda estava muito abaixo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disso ao fim do período analisado.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Técnica: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GROUP BY com cálculo de década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+ COUNT FILTER + divisão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percentual diretamente em SQL.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Rectangle 9"/>
          <p:cNvSpPr/>
          <p:nvPr/>
        </p:nvSpPr>
        <p:spPr>
          <a:xfrm>
            <a:off x="5440680" y="1170360"/>
            <a:ext cx="18720" cy="509292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75" name="Picture 10" descr="grafico_p2_diversidade_decada.png"/>
          <p:cNvPicPr/>
          <p:nvPr/>
        </p:nvPicPr>
        <p:blipFill>
          <a:blip r:embed="rId1"/>
          <a:stretch/>
        </p:blipFill>
        <p:spPr>
          <a:xfrm>
            <a:off x="5605200" y="1170360"/>
            <a:ext cx="6354720" cy="5092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6" name="Rectangle 11"/>
          <p:cNvSpPr/>
          <p:nvPr/>
        </p:nvSpPr>
        <p:spPr>
          <a:xfrm>
            <a:off x="548640" y="5989320"/>
            <a:ext cx="11365560" cy="56664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7" name="TextBox 12"/>
          <p:cNvSpPr/>
          <p:nvPr/>
        </p:nvSpPr>
        <p:spPr>
          <a:xfrm>
            <a:off x="640080" y="6007680"/>
            <a:ext cx="111826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Achado central — o gráfico confirma com dados o que o debate #OscarsSoWhite já apontava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1a1a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9" name="Rectangle 2"/>
          <p:cNvSpPr/>
          <p:nvPr/>
        </p:nvSpPr>
        <p:spPr>
          <a:xfrm>
            <a:off x="0" y="0"/>
            <a:ext cx="347040" cy="685764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0" name="Rectangle 3"/>
          <p:cNvSpPr/>
          <p:nvPr/>
        </p:nvSpPr>
        <p:spPr>
          <a:xfrm>
            <a:off x="0" y="6739200"/>
            <a:ext cx="12188520" cy="11844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1" name="Rectangle 4"/>
          <p:cNvSpPr/>
          <p:nvPr/>
        </p:nvSpPr>
        <p:spPr>
          <a:xfrm>
            <a:off x="548640" y="1115640"/>
            <a:ext cx="11365560" cy="1872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2" name="TextBox 5"/>
          <p:cNvSpPr/>
          <p:nvPr/>
        </p:nvSpPr>
        <p:spPr>
          <a:xfrm>
            <a:off x="548640" y="228600"/>
            <a:ext cx="11365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c8a000"/>
                </a:solidFill>
                <a:effectLst/>
                <a:uFillTx/>
                <a:latin typeface="Calibri"/>
              </a:rPr>
              <a:t>P3 — Idade dos vencedores por categoria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Rectangle 6"/>
          <p:cNvSpPr/>
          <p:nvPr/>
        </p:nvSpPr>
        <p:spPr>
          <a:xfrm>
            <a:off x="502920" y="1170360"/>
            <a:ext cx="4845960" cy="5092920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4" name="TextBox 7"/>
          <p:cNvSpPr/>
          <p:nvPr/>
        </p:nvSpPr>
        <p:spPr>
          <a:xfrm>
            <a:off x="548640" y="1225440"/>
            <a:ext cx="4754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bbbbbb"/>
                </a:solidFill>
                <a:effectLst/>
                <a:uFillTx/>
                <a:latin typeface="Calibri"/>
              </a:rPr>
              <a:t>A idade no momento da premiação varia bastante entre categorias, revelando perfis de carreira distintos por função no cinema.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Box 8"/>
          <p:cNvSpPr/>
          <p:nvPr/>
        </p:nvSpPr>
        <p:spPr>
          <a:xfrm>
            <a:off x="548640" y="1801440"/>
            <a:ext cx="4754520" cy="420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Casos extremos do dataset: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Mais jovem: Tatum O'Neal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  11 anos — Supp. Actress (1974)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Mais velho: Christopher Plummer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  83 anos — Supp. Actor (2012)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Médias por categoria: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Best Actress       ~37 anos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Best Actor         ~43 anos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Best Director      ~48 anos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Best Supp. Actor   ~51 anos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Técnica: AVG / MIN / MAX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agrupado por categoria.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Rectangle 9"/>
          <p:cNvSpPr/>
          <p:nvPr/>
        </p:nvSpPr>
        <p:spPr>
          <a:xfrm>
            <a:off x="5440680" y="1170360"/>
            <a:ext cx="18720" cy="509292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87" name="Picture 10" descr="grafico_p3_idade_categoria.png"/>
          <p:cNvPicPr/>
          <p:nvPr/>
        </p:nvPicPr>
        <p:blipFill>
          <a:blip r:embed="rId1"/>
          <a:stretch/>
        </p:blipFill>
        <p:spPr>
          <a:xfrm>
            <a:off x="5605200" y="1170360"/>
            <a:ext cx="6354720" cy="5092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1a1a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9" name="Rectangle 2"/>
          <p:cNvSpPr/>
          <p:nvPr/>
        </p:nvSpPr>
        <p:spPr>
          <a:xfrm>
            <a:off x="0" y="0"/>
            <a:ext cx="347040" cy="685764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0" name="Rectangle 3"/>
          <p:cNvSpPr/>
          <p:nvPr/>
        </p:nvSpPr>
        <p:spPr>
          <a:xfrm>
            <a:off x="0" y="6739200"/>
            <a:ext cx="12188520" cy="11844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1" name="Rectangle 4"/>
          <p:cNvSpPr/>
          <p:nvPr/>
        </p:nvSpPr>
        <p:spPr>
          <a:xfrm>
            <a:off x="548640" y="1115640"/>
            <a:ext cx="11365560" cy="1872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2" name="TextBox 5"/>
          <p:cNvSpPr/>
          <p:nvPr/>
        </p:nvSpPr>
        <p:spPr>
          <a:xfrm>
            <a:off x="548640" y="228600"/>
            <a:ext cx="11365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c8a000"/>
                </a:solidFill>
                <a:effectLst/>
                <a:uFillTx/>
                <a:latin typeface="Calibri"/>
              </a:rPr>
              <a:t>P4 — Maior intervalo entre vitórias consecutivas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Rectangle 6"/>
          <p:cNvSpPr/>
          <p:nvPr/>
        </p:nvSpPr>
        <p:spPr>
          <a:xfrm>
            <a:off x="502920" y="1170360"/>
            <a:ext cx="4845960" cy="5092920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4" name="TextBox 7"/>
          <p:cNvSpPr/>
          <p:nvPr/>
        </p:nvSpPr>
        <p:spPr>
          <a:xfrm>
            <a:off x="548640" y="1225440"/>
            <a:ext cx="4754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bbbbbb"/>
                </a:solidFill>
                <a:effectLst/>
                <a:uFillTx/>
                <a:latin typeface="Calibri"/>
              </a:rPr>
              <a:t>Entre quem ganhou mais de um Oscar, alguns artistas esperaram décadas pelo retorno ao palco — evidência de carreiras longas e resilientes.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Box 8"/>
          <p:cNvSpPr/>
          <p:nvPr/>
        </p:nvSpPr>
        <p:spPr>
          <a:xfrm>
            <a:off x="548640" y="1801440"/>
            <a:ext cx="4754520" cy="420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Maiores intervalos registrados: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Helen Hayes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  1932 → 1971  (39 anos de espera)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Katharine Hepburn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  1934 → 1968  (34 anos)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Esses números revelam que o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reconhecimento pode ser tardio —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mas também que certas carreiras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atravessam gerações.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Técnica: LAG() compara cada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vitória com a anterior do mesmo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artista (PARTITION BY vencedor).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Rectangle 9"/>
          <p:cNvSpPr/>
          <p:nvPr/>
        </p:nvSpPr>
        <p:spPr>
          <a:xfrm>
            <a:off x="5440680" y="1170360"/>
            <a:ext cx="18720" cy="509292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97" name="Picture 10" descr="grafico_p4_intervalo_vitorias.png"/>
          <p:cNvPicPr/>
          <p:nvPr/>
        </p:nvPicPr>
        <p:blipFill>
          <a:blip r:embed="rId1"/>
          <a:stretch/>
        </p:blipFill>
        <p:spPr>
          <a:xfrm>
            <a:off x="5605200" y="1170360"/>
            <a:ext cx="6354720" cy="5092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1a1a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9" name="Rectangle 2"/>
          <p:cNvSpPr/>
          <p:nvPr/>
        </p:nvSpPr>
        <p:spPr>
          <a:xfrm>
            <a:off x="0" y="0"/>
            <a:ext cx="347040" cy="685764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0" name="Rectangle 3"/>
          <p:cNvSpPr/>
          <p:nvPr/>
        </p:nvSpPr>
        <p:spPr>
          <a:xfrm>
            <a:off x="0" y="6739200"/>
            <a:ext cx="12188520" cy="11844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1" name="Rectangle 4"/>
          <p:cNvSpPr/>
          <p:nvPr/>
        </p:nvSpPr>
        <p:spPr>
          <a:xfrm>
            <a:off x="548640" y="1115640"/>
            <a:ext cx="11365560" cy="1872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2" name="TextBox 5"/>
          <p:cNvSpPr/>
          <p:nvPr/>
        </p:nvSpPr>
        <p:spPr>
          <a:xfrm>
            <a:off x="548640" y="228600"/>
            <a:ext cx="11365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c8a000"/>
                </a:solidFill>
                <a:effectLst/>
                <a:uFillTx/>
                <a:latin typeface="Calibri"/>
              </a:rPr>
              <a:t>P5 — Primeiro vencedor não-branco por categoria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Rectangle 6"/>
          <p:cNvSpPr/>
          <p:nvPr/>
        </p:nvSpPr>
        <p:spPr>
          <a:xfrm>
            <a:off x="502920" y="1170360"/>
            <a:ext cx="4845960" cy="5092920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4" name="TextBox 7"/>
          <p:cNvSpPr/>
          <p:nvPr/>
        </p:nvSpPr>
        <p:spPr>
          <a:xfrm>
            <a:off x="548640" y="1225440"/>
            <a:ext cx="4754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bbbbbb"/>
                </a:solidFill>
                <a:effectLst/>
                <a:uFillTx/>
                <a:latin typeface="Calibri"/>
              </a:rPr>
              <a:t>Esta consulta marca momentos históricos concretos: o ano exato em que cada categoria foi vencida pela primeira vez por um artista não-branco.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Box 8"/>
          <p:cNvSpPr/>
          <p:nvPr/>
        </p:nvSpPr>
        <p:spPr>
          <a:xfrm>
            <a:off x="548640" y="1801440"/>
            <a:ext cx="4754520" cy="420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Primeiras vitórias não-brancas: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Supp. Actress — Hattie McDaniel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  Black · 1940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Best Actor — Jose Ferrer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  Hispanic · 1951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Supp. Actor — Anthony Quinn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  Hispanic · 1953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Best Actress — Halle Berry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  Multiracial · 2002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Best Director — Ang Lee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  Asian · 2006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Técnica: CTE + ROW_NUMBER()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OVER (PARTITION BY categoria)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para isolar o primeiro de cada.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Rectangle 9"/>
          <p:cNvSpPr/>
          <p:nvPr/>
        </p:nvSpPr>
        <p:spPr>
          <a:xfrm>
            <a:off x="5440680" y="1170360"/>
            <a:ext cx="18720" cy="509292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07" name="Picture 10" descr="grafico_p5_primeira_vitoria_nao_branca.png"/>
          <p:cNvPicPr/>
          <p:nvPr/>
        </p:nvPicPr>
        <p:blipFill>
          <a:blip r:embed="rId1"/>
          <a:stretch/>
        </p:blipFill>
        <p:spPr>
          <a:xfrm>
            <a:off x="5605200" y="1170360"/>
            <a:ext cx="6354720" cy="5092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8" name="Rectangle 11"/>
          <p:cNvSpPr/>
          <p:nvPr/>
        </p:nvSpPr>
        <p:spPr>
          <a:xfrm>
            <a:off x="548640" y="5989320"/>
            <a:ext cx="11365560" cy="56664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9" name="TextBox 12"/>
          <p:cNvSpPr/>
          <p:nvPr/>
        </p:nvSpPr>
        <p:spPr>
          <a:xfrm>
            <a:off x="640080" y="6007680"/>
            <a:ext cx="111826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Best Director esperou 79 anos para ter um vencedor não-branco — quase o dobro da vida humana média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1a1a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1" name="Rectangle 2"/>
          <p:cNvSpPr/>
          <p:nvPr/>
        </p:nvSpPr>
        <p:spPr>
          <a:xfrm>
            <a:off x="0" y="0"/>
            <a:ext cx="347040" cy="685764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2" name="Rectangle 3"/>
          <p:cNvSpPr/>
          <p:nvPr/>
        </p:nvSpPr>
        <p:spPr>
          <a:xfrm>
            <a:off x="0" y="6739200"/>
            <a:ext cx="12188520" cy="11844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3" name="Rectangle 4"/>
          <p:cNvSpPr/>
          <p:nvPr/>
        </p:nvSpPr>
        <p:spPr>
          <a:xfrm>
            <a:off x="548640" y="1115640"/>
            <a:ext cx="11365560" cy="1872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4" name="TextBox 5"/>
          <p:cNvSpPr/>
          <p:nvPr/>
        </p:nvSpPr>
        <p:spPr>
          <a:xfrm>
            <a:off x="548640" y="228600"/>
            <a:ext cx="11365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c8a000"/>
                </a:solidFill>
                <a:effectLst/>
                <a:uFillTx/>
                <a:latin typeface="Calibri"/>
              </a:rPr>
              <a:t>8  Conclusão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Box 6"/>
          <p:cNvSpPr/>
          <p:nvPr/>
        </p:nvSpPr>
        <p:spPr>
          <a:xfrm>
            <a:off x="548640" y="1207080"/>
            <a:ext cx="11365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i="1" u="none" strike="noStrike">
                <a:solidFill>
                  <a:srgbClr val="bbbbbb"/>
                </a:solidFill>
                <a:effectLst/>
                <a:uFillTx/>
                <a:latin typeface="Calibri"/>
              </a:rPr>
              <a:t>O projeto entregou o ciclo completo de um banco de dados relacional, unindo rigor técnico com uma análise que tem algo real a dizer sobre representatividade.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Rectangle 7"/>
          <p:cNvSpPr/>
          <p:nvPr/>
        </p:nvSpPr>
        <p:spPr>
          <a:xfrm>
            <a:off x="548640" y="1828800"/>
            <a:ext cx="5614200" cy="2285640"/>
          </a:xfrm>
          <a:prstGeom prst="rect">
            <a:avLst/>
          </a:prstGeom>
          <a:solidFill>
            <a:srgbClr val="262626"/>
          </a:solidFill>
          <a:ln>
            <a:solidFill>
              <a:srgbClr val="c8a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7" name="TextBox 8"/>
          <p:cNvSpPr/>
          <p:nvPr/>
        </p:nvSpPr>
        <p:spPr>
          <a:xfrm>
            <a:off x="685800" y="1901880"/>
            <a:ext cx="53398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c8a000"/>
                </a:solidFill>
                <a:effectLst/>
                <a:uFillTx/>
                <a:latin typeface="Calibri"/>
              </a:rPr>
              <a:t>Ciclo técnico completo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Box 9"/>
          <p:cNvSpPr/>
          <p:nvPr/>
        </p:nvSpPr>
        <p:spPr>
          <a:xfrm>
            <a:off x="685800" y="2267640"/>
            <a:ext cx="5339880" cy="178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99"/>
              </a:spcBef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ER → Relacional → 3FN → DDL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99"/>
              </a:spcBef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Pipeline com tratamento de NULLs e deduplicação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99"/>
              </a:spcBef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Validação com 8 checks SQL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99"/>
              </a:spcBef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5 consultas com técnicas avançadas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99"/>
              </a:spcBef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5 gráficos gerados diretamente do banco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Rectangle 10"/>
          <p:cNvSpPr/>
          <p:nvPr/>
        </p:nvSpPr>
        <p:spPr>
          <a:xfrm>
            <a:off x="6300360" y="1828800"/>
            <a:ext cx="5614200" cy="2285640"/>
          </a:xfrm>
          <a:prstGeom prst="rect">
            <a:avLst/>
          </a:prstGeom>
          <a:solidFill>
            <a:srgbClr val="262626"/>
          </a:solidFill>
          <a:ln>
            <a:solidFill>
              <a:srgbClr val="c8a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0" name="TextBox 11"/>
          <p:cNvSpPr/>
          <p:nvPr/>
        </p:nvSpPr>
        <p:spPr>
          <a:xfrm>
            <a:off x="6437520" y="1901880"/>
            <a:ext cx="53398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c8a000"/>
                </a:solidFill>
                <a:effectLst/>
                <a:uFillTx/>
                <a:latin typeface="Calibri"/>
              </a:rPr>
              <a:t>Achados mais impactantes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Box 12"/>
          <p:cNvSpPr/>
          <p:nvPr/>
        </p:nvSpPr>
        <p:spPr>
          <a:xfrm>
            <a:off x="6437520" y="2267640"/>
            <a:ext cx="5339880" cy="178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99"/>
              </a:spcBef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79 anos para o 1° diretor não-branco (Ang Lee, 2006)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99"/>
              </a:spcBef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Em 2014 apenas ~19% dos premiados eram não-brancos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99"/>
              </a:spcBef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Helen Hayes: 39 anos entre a 1ª e a 2ª vitória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99"/>
              </a:spcBef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60 filmes dominaram 2+ categorias na mesma cerimônia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Rectangle 13"/>
          <p:cNvSpPr/>
          <p:nvPr/>
        </p:nvSpPr>
        <p:spPr>
          <a:xfrm>
            <a:off x="548640" y="4251960"/>
            <a:ext cx="11365560" cy="1508400"/>
          </a:xfrm>
          <a:prstGeom prst="rect">
            <a:avLst/>
          </a:prstGeom>
          <a:solidFill>
            <a:srgbClr val="352a00"/>
          </a:solidFill>
          <a:ln>
            <a:solidFill>
              <a:srgbClr val="c8a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3" name="TextBox 14"/>
          <p:cNvSpPr/>
          <p:nvPr/>
        </p:nvSpPr>
        <p:spPr>
          <a:xfrm>
            <a:off x="685800" y="4316040"/>
            <a:ext cx="11091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c8a000"/>
                </a:solidFill>
                <a:effectLst/>
                <a:uFillTx/>
                <a:latin typeface="Calibri"/>
              </a:rPr>
              <a:t>Decisões de design que fizeram diferença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Box 15"/>
          <p:cNvSpPr/>
          <p:nvPr/>
        </p:nvSpPr>
        <p:spPr>
          <a:xfrm>
            <a:off x="685800" y="4663440"/>
            <a:ext cx="1109124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99"/>
              </a:spcBef>
            </a:pPr>
            <a:r>
              <a:rPr lang="en-US" sz="1200" b="0" u="none" strike="noStrike">
                <a:solidFill>
                  <a:srgbClr val="bbbbbb"/>
                </a:solidFill>
                <a:effectLst/>
                <a:uFillTx/>
                <a:latin typeface="Calibri"/>
              </a:rPr>
              <a:t>→  PREMIO como entidade associativa captura a granularidade exata do dataset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99"/>
              </a:spcBef>
            </a:pPr>
            <a:r>
              <a:rPr lang="en-US" sz="1200" b="0" u="none" strike="noStrike">
                <a:solidFill>
                  <a:srgbClr val="bbbbbb"/>
                </a:solidFill>
                <a:effectLst/>
                <a:uFillTx/>
                <a:latin typeface="Calibri"/>
              </a:rPr>
              <a:t>→  UNIQUE (vencedor, categoria, edição) — o banco impede dados impossíveis por construção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99"/>
              </a:spcBef>
            </a:pPr>
            <a:r>
              <a:rPr lang="en-US" sz="1200" b="0" u="none" strike="noStrike">
                <a:solidFill>
                  <a:srgbClr val="bbbbbb"/>
                </a:solidFill>
                <a:effectLst/>
                <a:uFillTx/>
                <a:latin typeface="Calibri"/>
              </a:rPr>
              <a:t>→  "Na" tratado como NULL desde a carga  ·  ano_nascimento preservado sem violar 3FN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Rectangle 16"/>
          <p:cNvSpPr/>
          <p:nvPr/>
        </p:nvSpPr>
        <p:spPr>
          <a:xfrm>
            <a:off x="548640" y="5989320"/>
            <a:ext cx="11365560" cy="56664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6" name="TextBox 17"/>
          <p:cNvSpPr/>
          <p:nvPr/>
        </p:nvSpPr>
        <p:spPr>
          <a:xfrm>
            <a:off x="640080" y="6007680"/>
            <a:ext cx="111826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415 linhas de CSV  →  5 tabelas  →  5 gráficos  →  1 história sobre representatividade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1a1a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8" name="Rectangle 2"/>
          <p:cNvSpPr/>
          <p:nvPr/>
        </p:nvSpPr>
        <p:spPr>
          <a:xfrm>
            <a:off x="0" y="0"/>
            <a:ext cx="347040" cy="685764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9" name="Rectangle 3"/>
          <p:cNvSpPr/>
          <p:nvPr/>
        </p:nvSpPr>
        <p:spPr>
          <a:xfrm>
            <a:off x="0" y="6739200"/>
            <a:ext cx="12188520" cy="11844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0" name="TextBox 4"/>
          <p:cNvSpPr/>
          <p:nvPr/>
        </p:nvSpPr>
        <p:spPr>
          <a:xfrm>
            <a:off x="548640" y="228600"/>
            <a:ext cx="11365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c8a000"/>
                </a:solidFill>
                <a:effectLst/>
                <a:uFillTx/>
                <a:latin typeface="Calibri"/>
              </a:rPr>
              <a:t>Vídeo 1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Rectangle 5"/>
          <p:cNvSpPr/>
          <p:nvPr/>
        </p:nvSpPr>
        <p:spPr>
          <a:xfrm>
            <a:off x="548640" y="1115640"/>
            <a:ext cx="11365560" cy="1872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2" name="Rectangle 6"/>
          <p:cNvSpPr/>
          <p:nvPr/>
        </p:nvSpPr>
        <p:spPr>
          <a:xfrm>
            <a:off x="548640" y="1280160"/>
            <a:ext cx="11365560" cy="5074560"/>
          </a:xfrm>
          <a:prstGeom prst="rect">
            <a:avLst/>
          </a:prstGeom>
          <a:solidFill>
            <a:srgbClr val="2a2a2a"/>
          </a:solidFill>
          <a:ln w="19050">
            <a:solidFill>
              <a:srgbClr val="c8a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3" name="TextBox 7"/>
          <p:cNvSpPr/>
          <p:nvPr/>
        </p:nvSpPr>
        <p:spPr>
          <a:xfrm>
            <a:off x="548640" y="2743200"/>
            <a:ext cx="113655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5200" b="0" u="none" strike="noStrike">
                <a:solidFill>
                  <a:srgbClr val="c8a000"/>
                </a:solidFill>
                <a:effectLst/>
                <a:uFillTx/>
                <a:latin typeface="Calibri"/>
              </a:rPr>
              <a:t>▶</a:t>
            </a:r>
            <a:endParaRPr lang="pt-BR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Box 8"/>
          <p:cNvSpPr/>
          <p:nvPr/>
        </p:nvSpPr>
        <p:spPr>
          <a:xfrm>
            <a:off x="548640" y="4023360"/>
            <a:ext cx="11365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888888"/>
                </a:solidFill>
                <a:effectLst/>
                <a:uFillTx/>
                <a:latin typeface="Calibri"/>
              </a:rPr>
              <a:t>Insira o vídeo aqui  —  Inserir → Vídeo → Este Dispositivo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1a1a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6" name="Rectangle 2"/>
          <p:cNvSpPr/>
          <p:nvPr/>
        </p:nvSpPr>
        <p:spPr>
          <a:xfrm>
            <a:off x="0" y="0"/>
            <a:ext cx="347040" cy="685764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7" name="Rectangle 3"/>
          <p:cNvSpPr/>
          <p:nvPr/>
        </p:nvSpPr>
        <p:spPr>
          <a:xfrm>
            <a:off x="0" y="6739200"/>
            <a:ext cx="12188520" cy="11844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8" name="TextBox 4"/>
          <p:cNvSpPr/>
          <p:nvPr/>
        </p:nvSpPr>
        <p:spPr>
          <a:xfrm>
            <a:off x="548640" y="228600"/>
            <a:ext cx="11365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c8a000"/>
                </a:solidFill>
                <a:effectLst/>
                <a:uFillTx/>
                <a:latin typeface="Calibri"/>
              </a:rPr>
              <a:t>Vídeo 2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Rectangle 5"/>
          <p:cNvSpPr/>
          <p:nvPr/>
        </p:nvSpPr>
        <p:spPr>
          <a:xfrm>
            <a:off x="548640" y="1115640"/>
            <a:ext cx="11365560" cy="1872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0" name="Rectangle 6"/>
          <p:cNvSpPr/>
          <p:nvPr/>
        </p:nvSpPr>
        <p:spPr>
          <a:xfrm>
            <a:off x="548640" y="1280160"/>
            <a:ext cx="11365560" cy="5074560"/>
          </a:xfrm>
          <a:prstGeom prst="rect">
            <a:avLst/>
          </a:prstGeom>
          <a:solidFill>
            <a:srgbClr val="2a2a2a"/>
          </a:solidFill>
          <a:ln w="19050">
            <a:solidFill>
              <a:srgbClr val="c8a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1" name="TextBox 7"/>
          <p:cNvSpPr/>
          <p:nvPr/>
        </p:nvSpPr>
        <p:spPr>
          <a:xfrm>
            <a:off x="548640" y="2743200"/>
            <a:ext cx="113655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5200" b="0" u="none" strike="noStrike">
                <a:solidFill>
                  <a:srgbClr val="c8a000"/>
                </a:solidFill>
                <a:effectLst/>
                <a:uFillTx/>
                <a:latin typeface="Calibri"/>
              </a:rPr>
              <a:t>▶</a:t>
            </a:r>
            <a:endParaRPr lang="pt-BR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Box 8"/>
          <p:cNvSpPr/>
          <p:nvPr/>
        </p:nvSpPr>
        <p:spPr>
          <a:xfrm>
            <a:off x="548640" y="4023360"/>
            <a:ext cx="11365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888888"/>
                </a:solidFill>
                <a:effectLst/>
                <a:uFillTx/>
                <a:latin typeface="Calibri"/>
              </a:rPr>
              <a:t>Insira o vídeo aqui  —  Inserir → Vídeo → Este Dispositivo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1a1a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4" name="Rectangle 2"/>
          <p:cNvSpPr/>
          <p:nvPr/>
        </p:nvSpPr>
        <p:spPr>
          <a:xfrm>
            <a:off x="0" y="0"/>
            <a:ext cx="347040" cy="685764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5" name="Rectangle 3"/>
          <p:cNvSpPr/>
          <p:nvPr/>
        </p:nvSpPr>
        <p:spPr>
          <a:xfrm>
            <a:off x="0" y="6739200"/>
            <a:ext cx="12188520" cy="11844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6" name="TextBox 4"/>
          <p:cNvSpPr/>
          <p:nvPr/>
        </p:nvSpPr>
        <p:spPr>
          <a:xfrm>
            <a:off x="548640" y="228600"/>
            <a:ext cx="11365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c8a000"/>
                </a:solidFill>
                <a:effectLst/>
                <a:uFillTx/>
                <a:latin typeface="Calibri"/>
              </a:rPr>
              <a:t>Vídeo 3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Rectangle 5"/>
          <p:cNvSpPr/>
          <p:nvPr/>
        </p:nvSpPr>
        <p:spPr>
          <a:xfrm>
            <a:off x="548640" y="1115640"/>
            <a:ext cx="11365560" cy="1872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8" name="Rectangle 6"/>
          <p:cNvSpPr/>
          <p:nvPr/>
        </p:nvSpPr>
        <p:spPr>
          <a:xfrm>
            <a:off x="548640" y="1280160"/>
            <a:ext cx="11365560" cy="5074560"/>
          </a:xfrm>
          <a:prstGeom prst="rect">
            <a:avLst/>
          </a:prstGeom>
          <a:solidFill>
            <a:srgbClr val="2a2a2a"/>
          </a:solidFill>
          <a:ln w="19050">
            <a:solidFill>
              <a:srgbClr val="c8a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9" name="TextBox 7"/>
          <p:cNvSpPr/>
          <p:nvPr/>
        </p:nvSpPr>
        <p:spPr>
          <a:xfrm>
            <a:off x="548640" y="2743200"/>
            <a:ext cx="113655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5200" b="0" u="none" strike="noStrike">
                <a:solidFill>
                  <a:srgbClr val="c8a000"/>
                </a:solidFill>
                <a:effectLst/>
                <a:uFillTx/>
                <a:latin typeface="Calibri"/>
              </a:rPr>
              <a:t>▶</a:t>
            </a:r>
            <a:endParaRPr lang="pt-BR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Box 8"/>
          <p:cNvSpPr/>
          <p:nvPr/>
        </p:nvSpPr>
        <p:spPr>
          <a:xfrm>
            <a:off x="548640" y="4023360"/>
            <a:ext cx="11365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888888"/>
                </a:solidFill>
                <a:effectLst/>
                <a:uFillTx/>
                <a:latin typeface="Calibri"/>
              </a:rPr>
              <a:t>Insira o vídeo aqui  —  Inserir → Vídeo → Este Dispositivo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1a1a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2" name="Rectangle 2"/>
          <p:cNvSpPr/>
          <p:nvPr/>
        </p:nvSpPr>
        <p:spPr>
          <a:xfrm>
            <a:off x="0" y="0"/>
            <a:ext cx="347040" cy="685764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3" name="Rectangle 3"/>
          <p:cNvSpPr/>
          <p:nvPr/>
        </p:nvSpPr>
        <p:spPr>
          <a:xfrm>
            <a:off x="0" y="6739200"/>
            <a:ext cx="12188520" cy="11844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4" name="TextBox 4"/>
          <p:cNvSpPr/>
          <p:nvPr/>
        </p:nvSpPr>
        <p:spPr>
          <a:xfrm>
            <a:off x="548640" y="228600"/>
            <a:ext cx="11365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c8a000"/>
                </a:solidFill>
                <a:effectLst/>
                <a:uFillTx/>
                <a:latin typeface="Calibri"/>
              </a:rPr>
              <a:t>Vídeo 4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Rectangle 5"/>
          <p:cNvSpPr/>
          <p:nvPr/>
        </p:nvSpPr>
        <p:spPr>
          <a:xfrm>
            <a:off x="548640" y="1115640"/>
            <a:ext cx="11365560" cy="1872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6" name="Rectangle 6"/>
          <p:cNvSpPr/>
          <p:nvPr/>
        </p:nvSpPr>
        <p:spPr>
          <a:xfrm>
            <a:off x="548640" y="1280160"/>
            <a:ext cx="11365560" cy="5074560"/>
          </a:xfrm>
          <a:prstGeom prst="rect">
            <a:avLst/>
          </a:prstGeom>
          <a:solidFill>
            <a:srgbClr val="2a2a2a"/>
          </a:solidFill>
          <a:ln w="19050">
            <a:solidFill>
              <a:srgbClr val="c8a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7" name="TextBox 7"/>
          <p:cNvSpPr/>
          <p:nvPr/>
        </p:nvSpPr>
        <p:spPr>
          <a:xfrm>
            <a:off x="548640" y="2743200"/>
            <a:ext cx="113655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5200" b="0" u="none" strike="noStrike">
                <a:solidFill>
                  <a:srgbClr val="c8a000"/>
                </a:solidFill>
                <a:effectLst/>
                <a:uFillTx/>
                <a:latin typeface="Calibri"/>
              </a:rPr>
              <a:t>▶</a:t>
            </a:r>
            <a:endParaRPr lang="pt-BR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Box 8"/>
          <p:cNvSpPr/>
          <p:nvPr/>
        </p:nvSpPr>
        <p:spPr>
          <a:xfrm>
            <a:off x="548640" y="4023360"/>
            <a:ext cx="11365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888888"/>
                </a:solidFill>
                <a:effectLst/>
                <a:uFillTx/>
                <a:latin typeface="Calibri"/>
              </a:rPr>
              <a:t>Insira o vídeo aqui  —  Inserir → Vídeo → Este Dispositivo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1a1a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0" name="Rectangle 2"/>
          <p:cNvSpPr/>
          <p:nvPr/>
        </p:nvSpPr>
        <p:spPr>
          <a:xfrm>
            <a:off x="0" y="0"/>
            <a:ext cx="347040" cy="685764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1" name="Rectangle 3"/>
          <p:cNvSpPr/>
          <p:nvPr/>
        </p:nvSpPr>
        <p:spPr>
          <a:xfrm>
            <a:off x="0" y="6739200"/>
            <a:ext cx="12188520" cy="118440"/>
          </a:xfrm>
          <a:prstGeom prst="rect">
            <a:avLst/>
          </a:prstGeom>
          <a:solidFill>
            <a:srgbClr val="c8a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2" name="TextBox 4"/>
          <p:cNvSpPr/>
          <p:nvPr/>
        </p:nvSpPr>
        <p:spPr>
          <a:xfrm>
            <a:off x="548640" y="1920240"/>
            <a:ext cx="1136556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c8a000"/>
                </a:solidFill>
                <a:effectLst/>
                <a:uFillTx/>
                <a:latin typeface="Calibri"/>
              </a:rPr>
              <a:t>Obrigado!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Box 5"/>
          <p:cNvSpPr/>
          <p:nvPr/>
        </p:nvSpPr>
        <p:spPr>
          <a:xfrm>
            <a:off x="548640" y="4114800"/>
            <a:ext cx="113655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Dúvidas?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Oscar AMPAS  ·  DCC/UFMG  ·  2026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LibreOffice/25.8.7.3$Windows_X86_64 LibreOffice_project/30742500f2d3eb4366ac312fa33d3dcabdb3eba5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pt-BR</dc:language>
  <cp:lastModifiedBy/>
  <dcterms:modified xsi:type="dcterms:W3CDTF">2026-06-25T23:35:46Z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